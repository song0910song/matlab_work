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0" r:id="rId3"/>
    <p:sldMasterId id="2147483657" r:id="rId4"/>
  </p:sldMasterIdLst>
  <p:notesMasterIdLst>
    <p:notesMasterId r:id="rId6"/>
  </p:notesMasterIdLst>
  <p:handoutMasterIdLst>
    <p:handoutMasterId r:id="rId50"/>
  </p:handoutMasterIdLst>
  <p:sldIdLst>
    <p:sldId id="1094" r:id="rId5"/>
    <p:sldId id="1493" r:id="rId7"/>
    <p:sldId id="1494" r:id="rId8"/>
    <p:sldId id="1495" r:id="rId9"/>
    <p:sldId id="1423" r:id="rId10"/>
    <p:sldId id="1458" r:id="rId11"/>
    <p:sldId id="1461" r:id="rId12"/>
    <p:sldId id="1462" r:id="rId13"/>
    <p:sldId id="1463" r:id="rId14"/>
    <p:sldId id="1459" r:id="rId15"/>
    <p:sldId id="1464" r:id="rId16"/>
    <p:sldId id="1465" r:id="rId17"/>
    <p:sldId id="1468" r:id="rId18"/>
    <p:sldId id="1469" r:id="rId19"/>
    <p:sldId id="1470" r:id="rId20"/>
    <p:sldId id="1471" r:id="rId21"/>
    <p:sldId id="1472" r:id="rId22"/>
    <p:sldId id="1496" r:id="rId23"/>
    <p:sldId id="1475" r:id="rId24"/>
    <p:sldId id="1477" r:id="rId25"/>
    <p:sldId id="1473" r:id="rId26"/>
    <p:sldId id="1476" r:id="rId27"/>
    <p:sldId id="1478" r:id="rId28"/>
    <p:sldId id="1479" r:id="rId29"/>
    <p:sldId id="1480" r:id="rId30"/>
    <p:sldId id="1481" r:id="rId31"/>
    <p:sldId id="1482" r:id="rId32"/>
    <p:sldId id="1497" r:id="rId33"/>
    <p:sldId id="1486" r:id="rId34"/>
    <p:sldId id="1485" r:id="rId35"/>
    <p:sldId id="1487" r:id="rId36"/>
    <p:sldId id="1498" r:id="rId37"/>
    <p:sldId id="1408" r:id="rId38"/>
    <p:sldId id="1490" r:id="rId39"/>
    <p:sldId id="1425" r:id="rId40"/>
    <p:sldId id="1424" r:id="rId41"/>
    <p:sldId id="1489" r:id="rId42"/>
    <p:sldId id="1483" r:id="rId43"/>
    <p:sldId id="1491" r:id="rId44"/>
    <p:sldId id="1415" r:id="rId45"/>
    <p:sldId id="1456" r:id="rId46"/>
    <p:sldId id="1422" r:id="rId47"/>
    <p:sldId id="1396" r:id="rId48"/>
    <p:sldId id="1492" r:id="rId4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EFEFFB"/>
    <a:srgbClr val="ECECFA"/>
    <a:srgbClr val="00589A"/>
    <a:srgbClr val="FFF7DD"/>
    <a:srgbClr val="FFF0C1"/>
    <a:srgbClr val="F321F3"/>
    <a:srgbClr val="D30BD3"/>
    <a:srgbClr val="FF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4" autoAdjust="0"/>
    <p:restoredTop sz="95433" autoAdjust="0"/>
  </p:normalViewPr>
  <p:slideViewPr>
    <p:cSldViewPr showGuides="1">
      <p:cViewPr varScale="1">
        <p:scale>
          <a:sx n="109" d="100"/>
          <a:sy n="109" d="100"/>
        </p:scale>
        <p:origin x="1740" y="120"/>
      </p:cViewPr>
      <p:guideLst>
        <p:guide orient="horz" pos="2160"/>
        <p:guide pos="2917"/>
      </p:guideLst>
    </p:cSldViewPr>
  </p:slideViewPr>
  <p:outlineViewPr>
    <p:cViewPr>
      <p:scale>
        <a:sx n="33" d="100"/>
        <a:sy n="33" d="100"/>
      </p:scale>
      <p:origin x="0" y="406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50"/>
    </p:cViewPr>
  </p:sorterViewPr>
  <p:notesViewPr>
    <p:cSldViewPr>
      <p:cViewPr varScale="1">
        <p:scale>
          <a:sx n="77" d="100"/>
          <a:sy n="77" d="100"/>
        </p:scale>
        <p:origin x="-1632" y="-84"/>
      </p:cViewPr>
      <p:guideLst>
        <p:guide orient="horz" pos="2880"/>
        <p:guide pos="218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42DC083-C6D0-4CF2-8A80-F93D40207D85}" type="datetimeFigureOut">
              <a:rPr lang="zh-CN" altLang="en-US"/>
            </a:fld>
            <a:endParaRPr lang="en-US" altLang="zh-CN" dirty="0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FA96866-F2E0-4C1A-86A9-B0D104E2DA47}" type="slidenum">
              <a:rPr lang="zh-CN" altLang="en-US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1060A5C-44E4-4430-A07F-92E6DBA90A0D}" type="datetimeFigureOut">
              <a:rPr lang="en-US"/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9EED36A-46FB-4238-8ABE-4ED9883C99A7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ED36A-46FB-4238-8ABE-4ED9883C99A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4624"/>
            <a:ext cx="6192838" cy="7207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351838" cy="5400675"/>
          </a:xfrm>
        </p:spPr>
        <p:txBody>
          <a:bodyPr/>
          <a:lstStyle>
            <a:lvl1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defRPr/>
            </a:lvl1pPr>
            <a:lvl2pPr eaLnBrk="1" hangingPunct="1">
              <a:spcBef>
                <a:spcPts val="600"/>
              </a:spcBef>
              <a:spcAft>
                <a:spcPts val="600"/>
              </a:spcAft>
              <a:defRPr>
                <a:latin typeface="+mn-lt"/>
                <a:ea typeface="宋体" panose="02010600030101010101" pitchFamily="2" charset="-122"/>
              </a:defRPr>
            </a:lvl2pPr>
            <a:lvl3pPr eaLnBrk="1" hangingPunct="1">
              <a:defRPr>
                <a:latin typeface="+mn-lt"/>
                <a:ea typeface="楷体" panose="02010609060101010101" pitchFamily="49" charset="-122"/>
              </a:defRPr>
            </a:lvl3pPr>
            <a:lvl4pPr eaLnBrk="1" hangingPunct="1">
              <a:defRPr>
                <a:latin typeface="+mn-lt"/>
                <a:ea typeface="楷体" panose="02010609060101010101" pitchFamily="49" charset="-122"/>
              </a:defRPr>
            </a:lvl4pPr>
            <a:lvl5pPr eaLnBrk="1" hangingPunct="1">
              <a:defRPr>
                <a:latin typeface="+mn-lt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6192838" cy="7207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351838" cy="5400675"/>
          </a:xfrm>
        </p:spPr>
        <p:txBody>
          <a:bodyPr/>
          <a:lstStyle>
            <a:lvl1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latin typeface="+mn-lt"/>
                <a:ea typeface="宋体" panose="02010600030101010101" pitchFamily="2" charset="-122"/>
              </a:defRPr>
            </a:lvl2pPr>
            <a:lvl3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22238"/>
            <a:ext cx="7315200" cy="5704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386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219200"/>
            <a:ext cx="4038600" cy="5105400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4624"/>
            <a:ext cx="7315200" cy="72008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82296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3848100"/>
            <a:ext cx="82296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22238"/>
            <a:ext cx="7315200" cy="57045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386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219200"/>
            <a:ext cx="4038600" cy="5105400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51520" y="122238"/>
            <a:ext cx="7315200" cy="57045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4624"/>
            <a:ext cx="6192838" cy="7207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351838" cy="5400675"/>
          </a:xfrm>
        </p:spPr>
        <p:txBody>
          <a:bodyPr/>
          <a:lstStyle>
            <a:lvl1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defRPr/>
            </a:lvl1pPr>
            <a:lvl2pPr eaLnBrk="1" hangingPunct="1">
              <a:spcBef>
                <a:spcPts val="600"/>
              </a:spcBef>
              <a:spcAft>
                <a:spcPts val="600"/>
              </a:spcAft>
              <a:defRPr>
                <a:latin typeface="+mn-lt"/>
                <a:ea typeface="宋体" panose="02010600030101010101" pitchFamily="2" charset="-122"/>
              </a:defRPr>
            </a:lvl2pPr>
            <a:lvl3pPr eaLnBrk="1" hangingPunct="1"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eaLnBrk="1" hangingPunct="1"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eaLnBrk="1" hangingPunct="1"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6192838" cy="7207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351838" cy="5400675"/>
          </a:xfrm>
        </p:spPr>
        <p:txBody>
          <a:bodyPr/>
          <a:lstStyle>
            <a:lvl1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latin typeface="+mn-lt"/>
                <a:ea typeface="宋体" panose="02010600030101010101" pitchFamily="2" charset="-122"/>
              </a:defRPr>
            </a:lvl2pPr>
            <a:lvl3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22238"/>
            <a:ext cx="7315200" cy="5704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386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219200"/>
            <a:ext cx="4038600" cy="5105400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4624"/>
            <a:ext cx="7315200" cy="72008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82296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3848100"/>
            <a:ext cx="82296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22238"/>
            <a:ext cx="7315200" cy="57045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0386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219200"/>
            <a:ext cx="4038600" cy="5105400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3.png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image" Target="../media/image3.png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1187624" y="2887414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90349C">
              <a:alpha val="70000"/>
            </a:srgbClr>
          </a:solidFill>
          <a:ln w="9525">
            <a:solidFill>
              <a:srgbClr val="90349C"/>
            </a:solidFill>
            <a:round/>
          </a:ln>
        </p:spPr>
        <p:txBody>
          <a:bodyPr/>
          <a:lstStyle/>
          <a:p>
            <a:pPr eaLnBrk="1" hangingPunct="1">
              <a:defRPr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528" y="3398390"/>
            <a:ext cx="2585457" cy="1154955"/>
          </a:xfrm>
          <a:prstGeom prst="rect">
            <a:avLst/>
          </a:prstGeom>
          <a:noFill/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52400"/>
            <a:ext cx="5648325" cy="6286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o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o"/>
        <a:defRPr sz="2000" b="1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rgbClr val="90349C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674" y="44996"/>
            <a:ext cx="544830" cy="647700"/>
          </a:xfrm>
          <a:prstGeom prst="rect">
            <a:avLst/>
          </a:prstGeom>
        </p:spPr>
      </p:pic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44450"/>
            <a:ext cx="6192838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28721"/>
            <a:ext cx="8351838" cy="540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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742950" lvl="1" indent="-285750" algn="l" rtl="0" eaLnBrk="1" fontAlgn="base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/>
              <a:t>第二级</a:t>
            </a:r>
            <a:endParaRPr lang="zh-CN" altLang="en-US" dirty="0"/>
          </a:p>
          <a:p>
            <a:pPr marL="1143000" lvl="2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</a:pPr>
            <a:r>
              <a:rPr lang="zh-CN" altLang="en-US" dirty="0"/>
              <a:t>第三级</a:t>
            </a:r>
            <a:endParaRPr lang="zh-CN" altLang="en-US" dirty="0"/>
          </a:p>
          <a:p>
            <a:pPr marL="1600200" lvl="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</a:pPr>
            <a:r>
              <a:rPr lang="zh-CN" altLang="en-US" dirty="0"/>
              <a:t>第四级</a:t>
            </a:r>
            <a:endParaRPr lang="zh-CN" altLang="en-US" dirty="0"/>
          </a:p>
          <a:p>
            <a:pPr marL="2057400" lvl="4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</a:pPr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453" name="Line 9"/>
          <p:cNvSpPr>
            <a:spLocks noChangeShapeType="1"/>
          </p:cNvSpPr>
          <p:nvPr/>
        </p:nvSpPr>
        <p:spPr bwMode="auto">
          <a:xfrm flipV="1">
            <a:off x="285720" y="764704"/>
            <a:ext cx="6480000" cy="0"/>
          </a:xfrm>
          <a:prstGeom prst="line">
            <a:avLst/>
          </a:prstGeom>
          <a:noFill/>
          <a:ln w="88900" cap="sq" cmpd="tri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+mn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"/>
        <a:defRPr lang="zh-CN" altLang="en-US" sz="2800" dirty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lang="zh-CN" altLang="en-US" sz="2400" dirty="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zh-CN" altLang="en-US" sz="2000" dirty="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zh-CN" altLang="en-US" sz="2000" dirty="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lang="zh-CN" altLang="en-US" sz="2000" dirty="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674" y="44996"/>
            <a:ext cx="544830" cy="647700"/>
          </a:xfrm>
          <a:prstGeom prst="rect">
            <a:avLst/>
          </a:prstGeom>
        </p:spPr>
      </p:pic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44450"/>
            <a:ext cx="6192838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28721"/>
            <a:ext cx="8351838" cy="540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453" name="Line 9"/>
          <p:cNvSpPr>
            <a:spLocks noChangeShapeType="1"/>
          </p:cNvSpPr>
          <p:nvPr/>
        </p:nvSpPr>
        <p:spPr bwMode="auto">
          <a:xfrm flipV="1">
            <a:off x="285720" y="764704"/>
            <a:ext cx="6480000" cy="0"/>
          </a:xfrm>
          <a:prstGeom prst="line">
            <a:avLst/>
          </a:prstGeom>
          <a:noFill/>
          <a:ln w="88900" cap="sq" cmpd="tri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+mn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C0000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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>
          <a:xfrm>
            <a:off x="1115616" y="2060848"/>
            <a:ext cx="7858125" cy="792088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4800" dirty="0">
                <a:latin typeface="+mn-ea"/>
                <a:ea typeface="+mn-ea"/>
              </a:rPr>
              <a:t>Ch06  MATLAB</a:t>
            </a:r>
            <a:r>
              <a:rPr lang="zh-CN" altLang="en-US" sz="4800" dirty="0">
                <a:latin typeface="+mn-ea"/>
                <a:ea typeface="+mn-ea"/>
              </a:rPr>
              <a:t>绘图</a:t>
            </a:r>
            <a:endParaRPr lang="zh-CN" altLang="en-US" sz="48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850" y="1071245"/>
            <a:ext cx="8352155" cy="5392420"/>
          </a:xfrm>
        </p:spPr>
        <p:txBody>
          <a:bodyPr/>
          <a:lstStyle/>
          <a:p>
            <a:pPr algn="l">
              <a:buSzTx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 latinLnBrk="0">
              <a:spcBef>
                <a:spcPts val="600"/>
              </a:spcBef>
              <a:spcAft>
                <a:spcPts val="300"/>
              </a:spcAft>
              <a:buClrTx/>
              <a:buSzTx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二维图形绘制</a:t>
            </a:r>
            <a:endParaRPr lang="zh-CN" altLang="en-US"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cs typeface="+mn-lt"/>
              </a:rPr>
              <a:t>基础曲线绘制、图形标注与坐标控制、子图、特殊坐标系图形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(</a:t>
            </a:r>
            <a:r>
              <a:rPr lang="zh-CN" altLang="en-US" dirty="0">
                <a:solidFill>
                  <a:schemeClr val="tx1"/>
                </a:solidFill>
                <a:cs typeface="+mn-lt"/>
              </a:rPr>
              <a:t>极坐标、对数坐标、双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y</a:t>
            </a:r>
            <a:r>
              <a:rPr lang="zh-CN" altLang="en-US" dirty="0">
                <a:solidFill>
                  <a:schemeClr val="tx1"/>
                </a:solidFill>
                <a:cs typeface="+mn-lt"/>
              </a:rPr>
              <a:t>轴坐标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)</a:t>
            </a:r>
            <a:endParaRPr lang="zh-CN" altLang="en-US" dirty="0">
              <a:solidFill>
                <a:schemeClr val="tx1"/>
              </a:solidFill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三维图形绘制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ea typeface="楷体" panose="02010609060101010101" pitchFamily="49" charset="-122"/>
                <a:cs typeface="+mn-lt"/>
              </a:rPr>
              <a:t>三维曲线、三维曲面、色彩处理、等高图</a:t>
            </a:r>
            <a:endParaRPr lang="zh-CN" altLang="en-US" dirty="0"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特殊图形绘制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ea typeface="楷体" panose="02010609060101010101" pitchFamily="49" charset="-122"/>
                <a:cs typeface="+mn-lt"/>
              </a:rPr>
              <a:t>饼图、条形图、直方图</a:t>
            </a:r>
            <a:endParaRPr lang="zh-CN" altLang="en-US" sz="2000" dirty="0"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图形窗口操作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ea typeface="楷体" panose="02010609060101010101" pitchFamily="49" charset="-122"/>
                <a:cs typeface="+mn-lt"/>
              </a:rPr>
              <a:t>图形窗口创建与管理、图形句柄与属性设置</a:t>
            </a:r>
            <a:endParaRPr lang="zh-CN" altLang="en-US" sz="2000" dirty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1460" y="44450"/>
            <a:ext cx="8234045" cy="72072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Ch06  MATLAB</a:t>
            </a:r>
            <a:r>
              <a:rPr lang="zh-CN" altLang="en-US" dirty="0">
                <a:sym typeface="+mn-ea"/>
              </a:rPr>
              <a:t>绘图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44450"/>
            <a:ext cx="8234045" cy="720725"/>
          </a:xfrm>
        </p:spPr>
        <p:txBody>
          <a:bodyPr/>
          <a:lstStyle/>
          <a:p>
            <a:r>
              <a:rPr lang="en-US" altLang="zh-CN"/>
              <a:t>Ch06  MATLAB</a:t>
            </a:r>
            <a:r>
              <a:rPr lang="zh-CN" altLang="en-US"/>
              <a:t>绘图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245"/>
            <a:ext cx="8615045" cy="5400675"/>
          </a:xfrm>
        </p:spPr>
        <p:txBody>
          <a:bodyPr/>
          <a:lstStyle/>
          <a:p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教学重点</a:t>
            </a:r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 latinLnBrk="0">
              <a:spcAft>
                <a:spcPts val="600"/>
              </a:spcAft>
              <a:buClrTx/>
              <a:buSzTx/>
            </a:pPr>
            <a:r>
              <a:rPr lang="zh-CN" altLang="en-US" sz="2000">
                <a:cs typeface="+mn-ea"/>
              </a:rPr>
              <a:t>掌握二维曲线与三维曲线</a:t>
            </a:r>
            <a:r>
              <a:rPr lang="en-US" altLang="zh-CN" sz="2000">
                <a:cs typeface="+mn-ea"/>
              </a:rPr>
              <a:t>/</a:t>
            </a:r>
            <a:r>
              <a:rPr lang="zh-CN" altLang="en-US" sz="2000">
                <a:cs typeface="+mn-ea"/>
              </a:rPr>
              <a:t>曲面的核心绘制流程</a:t>
            </a:r>
            <a:endParaRPr lang="zh-CN" altLang="en-US" sz="2000">
              <a:cs typeface="+mn-ea"/>
            </a:endParaRPr>
          </a:p>
          <a:p>
            <a:pPr lvl="1" algn="l" latinLnBrk="0">
              <a:spcAft>
                <a:spcPts val="600"/>
              </a:spcAft>
              <a:buClrTx/>
              <a:buSzTx/>
            </a:pPr>
            <a:r>
              <a:rPr lang="zh-CN" altLang="en-US" sz="2000">
                <a:cs typeface="+mn-ea"/>
              </a:rPr>
              <a:t>学会图形标注</a:t>
            </a:r>
            <a:r>
              <a:rPr lang="en-US" altLang="zh-CN" sz="2000">
                <a:cs typeface="+mn-ea"/>
              </a:rPr>
              <a:t> (</a:t>
            </a:r>
            <a:r>
              <a:rPr lang="zh-CN" altLang="en-US" sz="2000">
                <a:cs typeface="+mn-ea"/>
              </a:rPr>
              <a:t>标题</a:t>
            </a:r>
            <a:r>
              <a:rPr lang="en-US" altLang="zh-CN" sz="2000">
                <a:cs typeface="+mn-ea"/>
              </a:rPr>
              <a:t>/</a:t>
            </a:r>
            <a:r>
              <a:rPr lang="zh-CN" altLang="en-US" sz="2000">
                <a:cs typeface="+mn-ea"/>
              </a:rPr>
              <a:t>坐标轴</a:t>
            </a:r>
            <a:r>
              <a:rPr lang="en-US" altLang="zh-CN" sz="2000">
                <a:cs typeface="+mn-ea"/>
              </a:rPr>
              <a:t>/</a:t>
            </a:r>
            <a:r>
              <a:rPr lang="zh-CN" altLang="en-US" sz="2000">
                <a:cs typeface="+mn-ea"/>
              </a:rPr>
              <a:t>图例</a:t>
            </a:r>
            <a:r>
              <a:rPr lang="en-US" altLang="zh-CN" sz="2000">
                <a:cs typeface="+mn-ea"/>
              </a:rPr>
              <a:t>)</a:t>
            </a:r>
            <a:r>
              <a:rPr lang="zh-CN" altLang="en-US" sz="2000">
                <a:cs typeface="+mn-ea"/>
              </a:rPr>
              <a:t>、坐标调整及色彩配置的基本方法</a:t>
            </a:r>
            <a:endParaRPr lang="zh-CN" altLang="en-US" sz="2000">
              <a:cs typeface="+mn-ea"/>
            </a:endParaRPr>
          </a:p>
          <a:p>
            <a:pPr lvl="1" algn="l" latinLnBrk="0">
              <a:spcAft>
                <a:spcPts val="600"/>
              </a:spcAft>
              <a:buClrTx/>
              <a:buSzTx/>
            </a:pPr>
            <a:r>
              <a:rPr lang="zh-CN" altLang="en-US" sz="2000">
                <a:cs typeface="+mn-ea"/>
              </a:rPr>
              <a:t>理解图形句柄的概念，能通过句柄或工具调整图形属性</a:t>
            </a:r>
            <a:endParaRPr lang="zh-CN" altLang="en-US" sz="2000">
              <a:cs typeface="+mn-ea"/>
            </a:endParaRPr>
          </a:p>
          <a:p>
            <a:pPr lvl="1" algn="l" latinLnBrk="0">
              <a:spcAft>
                <a:spcPts val="600"/>
              </a:spcAft>
              <a:buClrTx/>
              <a:buSzTx/>
            </a:pPr>
            <a:endParaRPr lang="zh-CN" altLang="en-US" sz="2000">
              <a:cs typeface="+mn-ea"/>
            </a:endParaRPr>
          </a:p>
          <a:p>
            <a:pPr lvl="0" algn="l">
              <a:buSzTx/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教学难点</a:t>
            </a:r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 latinLnBrk="0">
              <a:spcAft>
                <a:spcPts val="600"/>
              </a:spcAft>
              <a:buClrTx/>
              <a:buSzTx/>
            </a:pPr>
            <a:r>
              <a:rPr lang="zh-CN" altLang="en-US" sz="2000">
                <a:cs typeface="+mn-ea"/>
              </a:rPr>
              <a:t>三维曲面绘制中网格数据的生成逻辑、曲面着色的色彩配置</a:t>
            </a:r>
            <a:endParaRPr lang="zh-CN" altLang="en-US" sz="2000">
              <a:cs typeface="+mn-ea"/>
            </a:endParaRPr>
          </a:p>
          <a:p>
            <a:pPr lvl="1" algn="l" latinLnBrk="0">
              <a:spcAft>
                <a:spcPts val="600"/>
              </a:spcAft>
              <a:buClrTx/>
              <a:buSzTx/>
            </a:pPr>
            <a:r>
              <a:rPr lang="zh-CN" altLang="en-US" sz="2000">
                <a:cs typeface="+mn-ea"/>
              </a:rPr>
              <a:t>图形句柄的层级关系</a:t>
            </a:r>
            <a:r>
              <a:rPr lang="en-US" altLang="zh-CN" sz="2000">
                <a:cs typeface="+mn-ea"/>
              </a:rPr>
              <a:t> (</a:t>
            </a:r>
            <a:r>
              <a:rPr lang="zh-CN" altLang="en-US" sz="2000">
                <a:cs typeface="+mn-ea"/>
              </a:rPr>
              <a:t>图窗</a:t>
            </a:r>
            <a:r>
              <a:rPr lang="en-US" altLang="zh-CN" sz="2000">
                <a:cs typeface="+mn-ea"/>
              </a:rPr>
              <a:t> - </a:t>
            </a:r>
            <a:r>
              <a:rPr lang="zh-CN" altLang="en-US" sz="2000">
                <a:cs typeface="+mn-ea"/>
              </a:rPr>
              <a:t>坐标轴</a:t>
            </a:r>
            <a:r>
              <a:rPr lang="en-US" altLang="zh-CN" sz="2000">
                <a:cs typeface="+mn-ea"/>
              </a:rPr>
              <a:t> - </a:t>
            </a:r>
            <a:r>
              <a:rPr lang="zh-CN" altLang="en-US" sz="2000">
                <a:cs typeface="+mn-ea"/>
              </a:rPr>
              <a:t>绘图对象</a:t>
            </a:r>
            <a:r>
              <a:rPr lang="en-US" altLang="zh-CN" sz="2000">
                <a:cs typeface="+mn-ea"/>
              </a:rPr>
              <a:t>)</a:t>
            </a:r>
            <a:endParaRPr lang="zh-CN" altLang="en-US" sz="2000">
              <a:cs typeface="+mn-ea"/>
            </a:endParaRPr>
          </a:p>
          <a:p>
            <a:pPr lvl="1" algn="l" latinLnBrk="0">
              <a:spcAft>
                <a:spcPts val="600"/>
              </a:spcAft>
              <a:buClrTx/>
              <a:buSzTx/>
            </a:pPr>
            <a:r>
              <a:rPr lang="zh-CN" altLang="en-US" sz="2000">
                <a:cs typeface="+mn-ea"/>
              </a:rPr>
              <a:t>不同坐标系</a:t>
            </a:r>
            <a:r>
              <a:rPr lang="en-US" altLang="zh-CN" sz="2000">
                <a:cs typeface="+mn-ea"/>
              </a:rPr>
              <a:t> (</a:t>
            </a:r>
            <a:r>
              <a:rPr lang="zh-CN" altLang="en-US" sz="2000">
                <a:cs typeface="+mn-ea"/>
              </a:rPr>
              <a:t>极坐标</a:t>
            </a:r>
            <a:r>
              <a:rPr lang="en-US" altLang="zh-CN" sz="2000">
                <a:cs typeface="+mn-ea"/>
              </a:rPr>
              <a:t>/</a:t>
            </a:r>
            <a:r>
              <a:rPr lang="zh-CN" altLang="en-US" sz="2000">
                <a:cs typeface="+mn-ea"/>
              </a:rPr>
              <a:t>对数坐标</a:t>
            </a:r>
            <a:r>
              <a:rPr lang="en-US" altLang="zh-CN" sz="2000">
                <a:cs typeface="+mn-ea"/>
              </a:rPr>
              <a:t>) </a:t>
            </a:r>
            <a:r>
              <a:rPr lang="zh-CN" altLang="en-US" sz="2000">
                <a:cs typeface="+mn-ea"/>
              </a:rPr>
              <a:t>与特殊图形函数的参数匹配</a:t>
            </a:r>
            <a:endParaRPr lang="zh-CN" altLang="en-US" sz="2000"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850" y="1071245"/>
            <a:ext cx="8352155" cy="5392420"/>
          </a:xfrm>
        </p:spPr>
        <p:txBody>
          <a:bodyPr/>
          <a:lstStyle/>
          <a:p>
            <a:pPr algn="l">
              <a:buSzTx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 latinLnBrk="0">
              <a:spcBef>
                <a:spcPts val="600"/>
              </a:spcBef>
              <a:spcAft>
                <a:spcPts val="300"/>
              </a:spcAft>
              <a:buClrTx/>
              <a:buSzTx/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二维图形绘制</a:t>
            </a:r>
            <a:endParaRPr lang="zh-CN" altLang="en-US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cs typeface="+mn-lt"/>
              </a:rPr>
              <a:t>基础曲线绘制、图形标注与坐标控制、子图、特殊坐标系图形</a:t>
            </a:r>
            <a:r>
              <a:rPr lang="en-US" altLang="zh-CN" dirty="0">
                <a:solidFill>
                  <a:srgbClr val="0000FF"/>
                </a:solidFill>
                <a:cs typeface="+mn-lt"/>
              </a:rPr>
              <a:t>(</a:t>
            </a:r>
            <a:r>
              <a:rPr lang="zh-CN" altLang="en-US" dirty="0">
                <a:solidFill>
                  <a:srgbClr val="0000FF"/>
                </a:solidFill>
                <a:cs typeface="+mn-lt"/>
              </a:rPr>
              <a:t>极坐标、对数坐标、双</a:t>
            </a:r>
            <a:r>
              <a:rPr lang="en-US" altLang="zh-CN" dirty="0">
                <a:solidFill>
                  <a:srgbClr val="0000FF"/>
                </a:solidFill>
                <a:cs typeface="+mn-lt"/>
              </a:rPr>
              <a:t>y</a:t>
            </a:r>
            <a:r>
              <a:rPr lang="zh-CN" altLang="en-US" dirty="0">
                <a:solidFill>
                  <a:srgbClr val="0000FF"/>
                </a:solidFill>
                <a:cs typeface="+mn-lt"/>
              </a:rPr>
              <a:t>轴坐标</a:t>
            </a:r>
            <a:r>
              <a:rPr lang="en-US" altLang="zh-CN" dirty="0">
                <a:solidFill>
                  <a:srgbClr val="0000FF"/>
                </a:solidFill>
                <a:cs typeface="+mn-lt"/>
              </a:rPr>
              <a:t>)</a:t>
            </a:r>
            <a:endParaRPr lang="zh-CN" altLang="en-US" dirty="0">
              <a:solidFill>
                <a:srgbClr val="0000FF"/>
              </a:solidFill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三维图形绘制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ea typeface="楷体" panose="02010609060101010101" pitchFamily="49" charset="-122"/>
                <a:cs typeface="+mn-lt"/>
              </a:rPr>
              <a:t>三维曲线、三维曲面、色彩处理、等高图</a:t>
            </a:r>
            <a:endParaRPr lang="zh-CN" altLang="en-US" dirty="0"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特殊图形绘制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ea typeface="楷体" panose="02010609060101010101" pitchFamily="49" charset="-122"/>
                <a:cs typeface="+mn-lt"/>
              </a:rPr>
              <a:t>饼图、条形图、直方图</a:t>
            </a:r>
            <a:endParaRPr lang="zh-CN" altLang="en-US" sz="2000" dirty="0"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图形窗口操作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ea typeface="楷体" panose="02010609060101010101" pitchFamily="49" charset="-122"/>
                <a:cs typeface="+mn-lt"/>
              </a:rPr>
              <a:t>图形窗口创建与管理、图形句柄与属性设置</a:t>
            </a:r>
            <a:endParaRPr lang="zh-CN" altLang="en-US" sz="2000" dirty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1460" y="44450"/>
            <a:ext cx="8234045" cy="72072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Ch06  MATLAB</a:t>
            </a:r>
            <a:r>
              <a:rPr lang="zh-CN" altLang="en-US" dirty="0">
                <a:sym typeface="+mn-ea"/>
              </a:rPr>
              <a:t>绘图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绘图一般步骤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MATLAB</a:t>
            </a:r>
            <a:r>
              <a:rPr lang="zh-CN" altLang="en-US" dirty="0"/>
              <a:t>中，绘制一个图形文件，一般的绘图流程有以下几个步骤：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(1) </a:t>
            </a:r>
            <a:r>
              <a:rPr lang="zh-CN" altLang="en-US" dirty="0">
                <a:solidFill>
                  <a:srgbClr val="FF0000"/>
                </a:solidFill>
              </a:rPr>
              <a:t>准备绘图所需数据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必须</a:t>
            </a:r>
            <a:r>
              <a:rPr lang="zh-CN" altLang="en-US" dirty="0"/>
              <a:t>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(2) </a:t>
            </a:r>
            <a:r>
              <a:rPr lang="zh-CN" altLang="en-US" dirty="0"/>
              <a:t>设置绘图区的位置（非必须）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(3) </a:t>
            </a:r>
            <a:r>
              <a:rPr lang="zh-CN" altLang="en-US" dirty="0">
                <a:solidFill>
                  <a:srgbClr val="FF0000"/>
                </a:solidFill>
              </a:rPr>
              <a:t>绘出图形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必须</a:t>
            </a:r>
            <a:r>
              <a:rPr lang="zh-CN" altLang="en-US" dirty="0"/>
              <a:t>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(4) </a:t>
            </a:r>
            <a:r>
              <a:rPr lang="zh-CN" altLang="en-US" dirty="0"/>
              <a:t>对图形进行属性设置及标注（非必须）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(5) </a:t>
            </a:r>
            <a:r>
              <a:rPr lang="zh-CN" altLang="en-US" dirty="0"/>
              <a:t>保存和导出图形（非必须）</a:t>
            </a:r>
            <a:endParaRPr lang="zh-CN" altLang="en-US" dirty="0"/>
          </a:p>
        </p:txBody>
      </p:sp>
      <p:sp>
        <p:nvSpPr>
          <p:cNvPr id="6" name="对话气泡: 圆角矩形 5"/>
          <p:cNvSpPr/>
          <p:nvPr/>
        </p:nvSpPr>
        <p:spPr bwMode="auto">
          <a:xfrm>
            <a:off x="5940152" y="2132856"/>
            <a:ext cx="1872208" cy="1123712"/>
          </a:xfrm>
          <a:prstGeom prst="wedgeRoundRectCallout">
            <a:avLst>
              <a:gd name="adj1" fmla="val -172758"/>
              <a:gd name="adj2" fmla="val 5466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5400" cmpd="thickThin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绘图函数指定默认图形位置和图形属性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3024014" cy="523220"/>
          </a:xfrm>
        </p:spPr>
        <p:txBody>
          <a:bodyPr/>
          <a:lstStyle/>
          <a:p>
            <a:r>
              <a:rPr lang="zh-CN" altLang="en-US" dirty="0"/>
              <a:t>二维曲线（</a:t>
            </a:r>
            <a:r>
              <a:rPr lang="en-US" altLang="zh-CN" dirty="0">
                <a:solidFill>
                  <a:srgbClr val="FF0000"/>
                </a:solidFill>
              </a:rPr>
              <a:t>plot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二维曲线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7584" y="1772816"/>
            <a:ext cx="6408712" cy="16561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plot(x, y)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长度相同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的向量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对应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直角坐标系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中数据点的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横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纵坐标值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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plot(y)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为向量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对应纵坐标值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，横坐标值取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中的元素索引号</a:t>
            </a:r>
            <a:endParaRPr lang="en-US" altLang="zh-CN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42900" lvl="0" indent="-342900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"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60160" y="4173031"/>
            <a:ext cx="2952000" cy="2208297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x = [4, 3,  2,  3,  4];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 = [6, 7, 10, 9, 10];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solidFill>
                  <a:srgbClr val="0000FF"/>
                </a:solidFill>
                <a:latin typeface="+mn-lt"/>
              </a:rPr>
              <a:t>plot(x, y)</a:t>
            </a:r>
            <a:endParaRPr lang="es-ES" altLang="zh-CN" sz="2400" dirty="0">
              <a:solidFill>
                <a:srgbClr val="0000FF"/>
              </a:solidFill>
              <a:latin typeface="+mn-lt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figure(2) </a:t>
            </a:r>
            <a:r>
              <a:rPr lang="en-US" altLang="zh-CN" sz="2000" dirty="0">
                <a:solidFill>
                  <a:srgbClr val="C00000"/>
                </a:solidFill>
                <a:latin typeface="+mn-lt"/>
              </a:rPr>
              <a:t>%</a:t>
            </a:r>
            <a:r>
              <a:rPr lang="zh-CN" altLang="en-US" sz="2000" dirty="0">
                <a:solidFill>
                  <a:srgbClr val="C00000"/>
                </a:solidFill>
                <a:latin typeface="+mn-lt"/>
              </a:rPr>
              <a:t>创建新</a:t>
            </a:r>
            <a:r>
              <a:rPr lang="en-US" altLang="zh-CN" sz="2000" dirty="0">
                <a:solidFill>
                  <a:srgbClr val="C00000"/>
                </a:solidFill>
                <a:latin typeface="+mn-lt"/>
              </a:rPr>
              <a:t>figure</a:t>
            </a:r>
            <a:endParaRPr lang="en-US" altLang="zh-CN" sz="2400" dirty="0">
              <a:solidFill>
                <a:srgbClr val="C00000"/>
              </a:solidFill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plot(y)</a:t>
            </a:r>
            <a:endParaRPr lang="zh-CN" altLang="en-US" sz="24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35752" y="3501008"/>
            <a:ext cx="60724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向量中相邻索引值的数据点进行连线 </a:t>
            </a:r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默认图形属性</a:t>
            </a:r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zh-CN" altLang="en-US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15" y="4106876"/>
            <a:ext cx="2123810" cy="248571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814" y="4102114"/>
            <a:ext cx="2723809" cy="2495238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 bwMode="auto">
          <a:xfrm>
            <a:off x="4067944" y="6165304"/>
            <a:ext cx="266429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/>
          <p:cNvCxnSpPr>
            <a:stCxn id="6" idx="1"/>
          </p:cNvCxnSpPr>
          <p:nvPr/>
        </p:nvCxnSpPr>
        <p:spPr bwMode="auto">
          <a:xfrm flipH="1">
            <a:off x="2339752" y="5277180"/>
            <a:ext cx="756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矩形 21"/>
          <p:cNvSpPr/>
          <p:nvPr/>
        </p:nvSpPr>
        <p:spPr>
          <a:xfrm>
            <a:off x="7308304" y="1517467"/>
            <a:ext cx="1152128" cy="1938992"/>
          </a:xfrm>
          <a:prstGeom prst="rect">
            <a:avLst/>
          </a:prstGeom>
          <a:ln w="31750" cmpd="thickThin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同一个 坐标轴</a:t>
            </a:r>
            <a:endParaRPr lang="en-US" altLang="zh-CN" sz="2400" dirty="0"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绘制</a:t>
            </a:r>
            <a:endParaRPr lang="en-US" altLang="zh-CN" sz="2400" dirty="0"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单条</a:t>
            </a:r>
            <a:endParaRPr lang="en-US" altLang="zh-CN" sz="240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曲线</a:t>
            </a:r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二维曲线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7584" y="1772816"/>
            <a:ext cx="6408712" cy="8640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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plot(x1,y1,...,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xn,yn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：一组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向量对应一条曲线</a:t>
            </a:r>
            <a:endParaRPr lang="en-US" altLang="zh-CN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42900" lvl="0" indent="-342900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"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9552" y="2679204"/>
            <a:ext cx="6120680" cy="4134172"/>
            <a:chOff x="827584" y="2679204"/>
            <a:chExt cx="6120680" cy="4134172"/>
          </a:xfrm>
        </p:grpSpPr>
        <p:sp>
          <p:nvSpPr>
            <p:cNvPr id="6" name="矩形 5"/>
            <p:cNvSpPr/>
            <p:nvPr/>
          </p:nvSpPr>
          <p:spPr>
            <a:xfrm>
              <a:off x="842864" y="2679204"/>
              <a:ext cx="3009056" cy="2092881"/>
            </a:xfrm>
            <a:prstGeom prst="rect">
              <a:avLst/>
            </a:prstGeom>
            <a:solidFill>
              <a:srgbClr val="ECECFA"/>
            </a:solidFill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300"/>
                </a:spcBef>
              </a:pPr>
              <a:r>
                <a:rPr lang="es-ES" altLang="zh-CN" sz="2400" dirty="0">
                  <a:solidFill>
                    <a:srgbClr val="FF0000"/>
                  </a:solidFill>
                  <a:latin typeface="+mn-lt"/>
                </a:rPr>
                <a:t>close all </a:t>
              </a:r>
              <a:r>
                <a:rPr lang="es-ES" altLang="zh-CN" sz="2000" dirty="0">
                  <a:solidFill>
                    <a:srgbClr val="C00000"/>
                  </a:solidFill>
                  <a:latin typeface="+mn-lt"/>
                </a:rPr>
                <a:t>%</a:t>
              </a:r>
              <a:r>
                <a:rPr lang="zh-CN" altLang="en-US" sz="2000" dirty="0">
                  <a:solidFill>
                    <a:srgbClr val="C00000"/>
                  </a:solidFill>
                  <a:latin typeface="+mn-lt"/>
                </a:rPr>
                <a:t>关闭所有图窗</a:t>
              </a:r>
              <a:endParaRPr lang="es-ES" altLang="zh-CN" sz="2400" dirty="0">
                <a:solidFill>
                  <a:srgbClr val="C00000"/>
                </a:solidFill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s-ES" altLang="zh-CN" sz="2400" dirty="0">
                  <a:latin typeface="+mn-lt"/>
                </a:rPr>
                <a:t>x   = 0:pi/100:2*pi;</a:t>
              </a:r>
              <a:endParaRPr lang="es-ES" altLang="zh-CN" sz="2400" dirty="0"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s-ES" altLang="zh-CN" sz="2400" dirty="0">
                  <a:latin typeface="+mn-lt"/>
                </a:rPr>
                <a:t>y1 = cos(x*4);</a:t>
              </a:r>
              <a:endParaRPr lang="es-ES" altLang="zh-CN" sz="2400" dirty="0"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s-ES" altLang="zh-CN" sz="2400" dirty="0">
                  <a:latin typeface="+mn-lt"/>
                </a:rPr>
                <a:t>y2 = sin(x);</a:t>
              </a:r>
              <a:endParaRPr lang="es-ES" altLang="zh-CN" sz="2400" dirty="0"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s-ES" altLang="zh-CN" sz="2400" dirty="0">
                  <a:latin typeface="+mn-lt"/>
                </a:rPr>
                <a:t>y3 = 4*y2;</a:t>
              </a:r>
              <a:endParaRPr lang="es-ES" altLang="zh-CN" sz="2400" dirty="0">
                <a:latin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827584" y="4720495"/>
              <a:ext cx="6120680" cy="2092881"/>
            </a:xfrm>
            <a:prstGeom prst="rect">
              <a:avLst/>
            </a:prstGeom>
            <a:solidFill>
              <a:srgbClr val="ECECFA"/>
            </a:solidFill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3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+mn-lt"/>
                </a:rPr>
                <a:t>plot(x, y1)</a:t>
              </a:r>
              <a:endParaRPr lang="en-US" altLang="zh-CN" sz="2400" dirty="0">
                <a:solidFill>
                  <a:srgbClr val="0000FF"/>
                </a:solidFill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hold on; </a:t>
              </a:r>
              <a:r>
                <a:rPr lang="en-US" altLang="zh-CN" sz="2000" dirty="0">
                  <a:solidFill>
                    <a:srgbClr val="C00000"/>
                  </a:solidFill>
                  <a:latin typeface="+mn-lt"/>
                </a:rPr>
                <a:t>%</a:t>
              </a:r>
              <a:r>
                <a:rPr lang="zh-CN" altLang="en-US" sz="2000" dirty="0">
                  <a:solidFill>
                    <a:srgbClr val="C00000"/>
                  </a:solidFill>
                  <a:latin typeface="+mn-lt"/>
                </a:rPr>
                <a:t>图形保持</a:t>
              </a:r>
              <a:endParaRPr lang="en-US" altLang="zh-CN" sz="2000" dirty="0">
                <a:solidFill>
                  <a:srgbClr val="C00000"/>
                </a:solidFill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+mn-lt"/>
                </a:rPr>
                <a:t>plot(x, y2)</a:t>
              </a:r>
              <a:endParaRPr lang="en-US" altLang="zh-CN" sz="2400" dirty="0">
                <a:solidFill>
                  <a:srgbClr val="0000FF"/>
                </a:solidFill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+mn-lt"/>
                </a:rPr>
                <a:t>plot(x, y3)</a:t>
              </a:r>
              <a:endParaRPr lang="en-US" altLang="zh-CN" sz="2400" dirty="0">
                <a:solidFill>
                  <a:srgbClr val="0000FF"/>
                </a:solidFill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hold off; </a:t>
              </a:r>
              <a:r>
                <a:rPr lang="en-US" altLang="zh-CN" sz="2000" dirty="0">
                  <a:solidFill>
                    <a:srgbClr val="C00000"/>
                  </a:solidFill>
                  <a:latin typeface="+mn-lt"/>
                </a:rPr>
                <a:t>%</a:t>
              </a:r>
              <a:r>
                <a:rPr lang="zh-CN" altLang="en-US" sz="2000" dirty="0">
                  <a:solidFill>
                    <a:srgbClr val="C00000"/>
                  </a:solidFill>
                  <a:latin typeface="+mn-lt"/>
                </a:rPr>
                <a:t>图形不再保持，后续绘图将覆盖原有图形</a:t>
              </a:r>
              <a:endParaRPr lang="zh-CN" altLang="en-US" sz="2000" dirty="0">
                <a:solidFill>
                  <a:srgbClr val="C00000"/>
                </a:solidFill>
                <a:latin typeface="+mn-lt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3851920" y="2781970"/>
            <a:ext cx="3024336" cy="869469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/>
              </a:rPr>
              <a:t>figure(2)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/>
              </a:rPr>
              <a:t>%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/>
              </a:rPr>
              <a:t>创建新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/>
              </a:rPr>
              <a:t>figure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s-ES" altLang="zh-CN" sz="2400" dirty="0">
                <a:solidFill>
                  <a:srgbClr val="0000FF"/>
                </a:solidFill>
                <a:latin typeface="Times New Roman" panose="02020603050405020304"/>
              </a:rPr>
              <a:t>plot(x, y1, x, y2, x, y3)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47939" y="3789040"/>
            <a:ext cx="5689293" cy="1967143"/>
            <a:chOff x="3347939" y="4005064"/>
            <a:chExt cx="5689293" cy="1967143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47939" y="4005064"/>
              <a:ext cx="2776667" cy="1959048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8184" y="4005064"/>
              <a:ext cx="2809048" cy="1967143"/>
            </a:xfrm>
            <a:prstGeom prst="rect">
              <a:avLst/>
            </a:prstGeom>
          </p:spPr>
        </p:pic>
        <p:grpSp>
          <p:nvGrpSpPr>
            <p:cNvPr id="19" name="组合 18"/>
            <p:cNvGrpSpPr/>
            <p:nvPr/>
          </p:nvGrpSpPr>
          <p:grpSpPr>
            <a:xfrm>
              <a:off x="5849192" y="4916293"/>
              <a:ext cx="700833" cy="526937"/>
              <a:chOff x="5849192" y="4916293"/>
              <a:chExt cx="700833" cy="526937"/>
            </a:xfrm>
          </p:grpSpPr>
          <p:sp>
            <p:nvSpPr>
              <p:cNvPr id="18" name="箭头: 上下 17"/>
              <p:cNvSpPr/>
              <p:nvPr/>
            </p:nvSpPr>
            <p:spPr bwMode="auto">
              <a:xfrm rot="16200000">
                <a:off x="6113628" y="5123250"/>
                <a:ext cx="171960" cy="468000"/>
              </a:xfrm>
              <a:prstGeom prst="upDown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849192" y="4916293"/>
                <a:ext cx="70083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000" b="1" dirty="0">
                    <a:ln w="6350">
                      <a:solidFill>
                        <a:srgbClr val="F321F3"/>
                      </a:solidFill>
                      <a:prstDash val="solid"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等价</a:t>
                </a:r>
                <a:endParaRPr lang="en-US" altLang="zh-CN" sz="2000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1" name="矩形 20"/>
          <p:cNvSpPr/>
          <p:nvPr/>
        </p:nvSpPr>
        <p:spPr>
          <a:xfrm>
            <a:off x="7308304" y="1124744"/>
            <a:ext cx="1152128" cy="1938992"/>
          </a:xfrm>
          <a:prstGeom prst="rect">
            <a:avLst/>
          </a:prstGeom>
          <a:ln w="31750" cmpd="thickThin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同一个 坐标轴</a:t>
            </a:r>
            <a:endParaRPr lang="en-US" altLang="zh-CN" sz="2400" dirty="0"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绘制</a:t>
            </a:r>
            <a:endParaRPr lang="en-US" altLang="zh-CN" sz="2400" dirty="0"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多条</a:t>
            </a:r>
            <a:endParaRPr lang="en-US" altLang="zh-CN" sz="240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曲线</a:t>
            </a:r>
            <a:endParaRPr lang="zh-CN" altLang="en-US" sz="2400" dirty="0"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71502" y="5877272"/>
            <a:ext cx="2425731" cy="461665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1200"/>
              </a:spcBef>
            </a:pP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/>
              </a:rPr>
              <a:t>clf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/>
              </a:rPr>
              <a:t> 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/>
              </a:rPr>
              <a:t>%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/>
              </a:rPr>
              <a:t>清空当前图窗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/>
            </a:endParaRPr>
          </a:p>
        </p:txBody>
      </p:sp>
      <p:sp>
        <p:nvSpPr>
          <p:cNvPr id="15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3024014" cy="523220"/>
          </a:xfrm>
        </p:spPr>
        <p:txBody>
          <a:bodyPr/>
          <a:lstStyle/>
          <a:p>
            <a:r>
              <a:rPr lang="zh-CN" altLang="en-US" dirty="0"/>
              <a:t>二维曲线（</a:t>
            </a:r>
            <a:r>
              <a:rPr lang="en-US" altLang="zh-CN" dirty="0">
                <a:solidFill>
                  <a:srgbClr val="FF0000"/>
                </a:solidFill>
              </a:rPr>
              <a:t>plot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二维曲线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7584" y="1772815"/>
            <a:ext cx="6660000" cy="15841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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plot(x, Z)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为向量，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为矩阵（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矩阵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每一列元素个数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行数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与向量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元素个数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相等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时，则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按列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绘图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列数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为曲线</a:t>
            </a:r>
            <a:r>
              <a:rPr lang="zh-CN" altLang="en-US" sz="2400" dirty="0">
                <a:solidFill>
                  <a:srgbClr val="C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条数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；否则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按行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绘图；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方阵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则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按列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绘图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3659683"/>
            <a:ext cx="2543130" cy="2577629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x   = 0:pi/100:2*pi;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y1 = cos(x*4);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y2 = sin(x);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y3 = 4*y2;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Z = [y1; y2; y3];</a:t>
            </a:r>
            <a:endParaRPr lang="en-US" altLang="zh-CN" sz="2400" dirty="0">
              <a:solidFill>
                <a:srgbClr val="0000FF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Z1 = Z'; </a:t>
            </a:r>
            <a:r>
              <a:rPr lang="en-US" altLang="zh-CN" sz="2000" dirty="0">
                <a:latin typeface="+mn-lt"/>
              </a:rPr>
              <a:t>%</a:t>
            </a:r>
            <a:r>
              <a:rPr lang="zh-CN" altLang="en-US" sz="2000" dirty="0">
                <a:latin typeface="+mn-lt"/>
              </a:rPr>
              <a:t>转置</a:t>
            </a:r>
            <a:endParaRPr lang="es-ES" altLang="zh-CN" sz="2400" dirty="0">
              <a:latin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31840" y="3655365"/>
            <a:ext cx="3024336" cy="2500685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/>
              </a:rPr>
              <a:t>figure(2)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/>
              </a:rPr>
              <a:t>%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/>
              </a:rPr>
              <a:t>创建新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/>
              </a:rPr>
              <a:t>figure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s-ES" altLang="zh-CN" sz="2400" dirty="0">
                <a:solidFill>
                  <a:srgbClr val="0000FF"/>
                </a:solidFill>
                <a:latin typeface="Times New Roman" panose="02020603050405020304"/>
              </a:rPr>
              <a:t>plot(x, y1, x, y2, x, y3)</a:t>
            </a:r>
            <a:endParaRPr lang="es-ES" altLang="zh-CN" sz="2400" dirty="0">
              <a:solidFill>
                <a:srgbClr val="0000FF"/>
              </a:solidFill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/>
              </a:rPr>
              <a:t>figure(3)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</a:rPr>
              <a:t>plot(x, Z)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/>
              </a:rPr>
              <a:t>figure(4)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</a:rPr>
              <a:t>plot(x, Z1)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l="1538"/>
          <a:stretch>
            <a:fillRect/>
          </a:stretch>
        </p:blipFill>
        <p:spPr>
          <a:xfrm>
            <a:off x="6379207" y="3717032"/>
            <a:ext cx="2225241" cy="142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5209851"/>
            <a:ext cx="2226666" cy="140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34" y="5196517"/>
            <a:ext cx="2186666" cy="1413334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6516216" y="4990295"/>
            <a:ext cx="700833" cy="526937"/>
            <a:chOff x="5849192" y="4916293"/>
            <a:chExt cx="700833" cy="526937"/>
          </a:xfrm>
        </p:grpSpPr>
        <p:sp>
          <p:nvSpPr>
            <p:cNvPr id="21" name="箭头: 上下 20"/>
            <p:cNvSpPr/>
            <p:nvPr/>
          </p:nvSpPr>
          <p:spPr bwMode="auto">
            <a:xfrm rot="16200000">
              <a:off x="6113628" y="5123250"/>
              <a:ext cx="171960" cy="468000"/>
            </a:xfrm>
            <a:prstGeom prst="up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849192" y="4916293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000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等价</a:t>
              </a:r>
              <a:endPara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7642800" y="1124744"/>
            <a:ext cx="1152128" cy="1938992"/>
          </a:xfrm>
          <a:prstGeom prst="rect">
            <a:avLst/>
          </a:prstGeom>
          <a:ln w="31750" cmpd="thickThin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同一个 </a:t>
            </a:r>
            <a:r>
              <a:rPr lang="en-US" altLang="zh-CN" sz="2400" dirty="0">
                <a:latin typeface="+mn-lt"/>
                <a:ea typeface="微软雅黑" panose="020B0503020204020204" pitchFamily="34" charset="-122"/>
              </a:rPr>
              <a:t>figure</a:t>
            </a:r>
            <a:endParaRPr lang="en-US" altLang="zh-CN" sz="2400" dirty="0"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绘制</a:t>
            </a:r>
            <a:endParaRPr lang="en-US" altLang="zh-CN" sz="2400" dirty="0"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多条</a:t>
            </a:r>
            <a:endParaRPr lang="en-US" altLang="zh-CN" sz="240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曲线</a:t>
            </a:r>
            <a:endParaRPr lang="zh-CN" altLang="en-US" sz="2400" dirty="0"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36940" y="3018791"/>
            <a:ext cx="2507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曲线数据点自动匹配</a:t>
            </a:r>
            <a:endParaRPr lang="en-US" altLang="zh-CN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箭头: 右 14"/>
          <p:cNvSpPr/>
          <p:nvPr/>
        </p:nvSpPr>
        <p:spPr bwMode="auto">
          <a:xfrm>
            <a:off x="2866262" y="4900358"/>
            <a:ext cx="327969" cy="17987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3024014" cy="523220"/>
          </a:xfrm>
        </p:spPr>
        <p:txBody>
          <a:bodyPr/>
          <a:lstStyle/>
          <a:p>
            <a:r>
              <a:rPr lang="zh-CN" altLang="en-US" dirty="0"/>
              <a:t>二维曲线（</a:t>
            </a:r>
            <a:r>
              <a:rPr lang="en-US" altLang="zh-CN" dirty="0">
                <a:solidFill>
                  <a:srgbClr val="FF0000"/>
                </a:solidFill>
              </a:rPr>
              <a:t>plot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二维曲线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7584" y="1771200"/>
            <a:ext cx="6768000" cy="12961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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plot(Z)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为矩阵，按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列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绘图（对矩阵的每一列单独绘图</a:t>
            </a:r>
            <a:r>
              <a:rPr lang="en-US" altLang="zh-CN" sz="2400" dirty="0">
                <a:solidFill>
                  <a:srgbClr val="000000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列数</a:t>
            </a:r>
            <a:r>
              <a:rPr lang="zh-CN" altLang="en-US" sz="2400" dirty="0">
                <a:ea typeface="楷体" panose="02010609060101010101" pitchFamily="49" charset="-122"/>
                <a:sym typeface="Wingdings" panose="05000000000000000000" pitchFamily="2" charset="2"/>
              </a:rPr>
              <a:t>为曲线</a:t>
            </a:r>
            <a:r>
              <a:rPr lang="zh-CN" altLang="en-US" sz="2400" dirty="0">
                <a:solidFill>
                  <a:srgbClr val="C00000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条数</a:t>
            </a:r>
            <a:r>
              <a:rPr lang="en-US" altLang="zh-CN" sz="2400" dirty="0">
                <a:solidFill>
                  <a:srgbClr val="000000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，行号作为横坐标值）</a:t>
            </a:r>
            <a:endParaRPr lang="en-US" altLang="zh-CN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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plot(X, Z)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为同型矩阵，按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列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绘图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643961" y="1124744"/>
            <a:ext cx="1152128" cy="1938992"/>
          </a:xfrm>
          <a:prstGeom prst="rect">
            <a:avLst/>
          </a:prstGeom>
          <a:ln w="31750" cmpd="thickThin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同一个 </a:t>
            </a:r>
            <a:r>
              <a:rPr lang="en-US" altLang="zh-CN" sz="2400" dirty="0">
                <a:latin typeface="+mn-lt"/>
                <a:ea typeface="微软雅黑" panose="020B0503020204020204" pitchFamily="34" charset="-122"/>
              </a:rPr>
              <a:t>figure</a:t>
            </a:r>
            <a:endParaRPr lang="en-US" altLang="zh-CN" sz="2400" dirty="0"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绘制</a:t>
            </a:r>
            <a:endParaRPr lang="en-US" altLang="zh-CN" sz="2400" dirty="0"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多条</a:t>
            </a:r>
            <a:endParaRPr lang="en-US" altLang="zh-CN" sz="2400" dirty="0">
              <a:solidFill>
                <a:srgbClr val="FF0000"/>
              </a:solidFill>
              <a:latin typeface="+mn-lt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曲线</a:t>
            </a:r>
            <a:endParaRPr lang="zh-CN" altLang="en-US" sz="2400" dirty="0"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8614" y="3352343"/>
            <a:ext cx="3024336" cy="2092881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ts val="300"/>
              </a:spcBef>
            </a:pPr>
            <a:r>
              <a:rPr lang="es-ES" altLang="zh-CN" sz="2400" dirty="0">
                <a:solidFill>
                  <a:srgbClr val="FF0000"/>
                </a:solidFill>
                <a:latin typeface="Times New Roman" panose="02020603050405020304"/>
              </a:rPr>
              <a:t>close all </a:t>
            </a:r>
            <a:r>
              <a:rPr lang="es-ES" altLang="zh-CN" sz="2000" dirty="0">
                <a:solidFill>
                  <a:srgbClr val="C00000"/>
                </a:solidFill>
                <a:latin typeface="Times New Roman" panose="02020603050405020304"/>
              </a:rPr>
              <a:t>%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/>
              </a:rPr>
              <a:t>关闭所有图窗</a:t>
            </a:r>
            <a:endParaRPr lang="es-ES" altLang="zh-CN" sz="2400" dirty="0">
              <a:solidFill>
                <a:srgbClr val="C00000"/>
              </a:solidFill>
              <a:latin typeface="Times New Roman" panose="02020603050405020304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x   = 0:pi/100:2*pi;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y1 = cos(x*4);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y2 = sin(x);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y3 = 4*y2;</a:t>
            </a:r>
            <a:endParaRPr lang="es-ES" altLang="zh-CN" sz="2400" dirty="0">
              <a:latin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77087" y="3352343"/>
            <a:ext cx="2915393" cy="1685077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ts val="300"/>
              </a:spcBef>
            </a:pPr>
            <a:r>
              <a:rPr lang="en-US" altLang="zh-CN" sz="2400" dirty="0">
                <a:latin typeface="Times New Roman" panose="02020603050405020304"/>
              </a:rPr>
              <a:t>figure(1),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</a:rPr>
              <a:t>plot(Z)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n-US" altLang="zh-CN" sz="2400" dirty="0">
                <a:latin typeface="Times New Roman" panose="02020603050405020304"/>
              </a:rPr>
              <a:t>figure(2),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</a:rPr>
              <a:t>plot(Z1)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400" dirty="0">
                <a:latin typeface="Times New Roman" panose="02020603050405020304"/>
              </a:rPr>
              <a:t>figure(3),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</a:rPr>
              <a:t>plot(X, Z)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400" dirty="0">
                <a:latin typeface="Times New Roman" panose="02020603050405020304"/>
              </a:rPr>
              <a:t>figure(4),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</a:rPr>
              <a:t>plot(X1, Z1)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69596" y="3352343"/>
            <a:ext cx="2298549" cy="1800493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latin typeface="+mn-lt"/>
              </a:rPr>
              <a:t>Z = [y1; y2; y3];</a:t>
            </a:r>
            <a:endParaRPr lang="en-US" altLang="zh-CN" sz="2400" dirty="0">
              <a:latin typeface="+mn-lt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Z1 = Z'; </a:t>
            </a:r>
            <a:r>
              <a:rPr lang="en-US" altLang="zh-CN" sz="2000" dirty="0">
                <a:latin typeface="+mn-lt"/>
              </a:rPr>
              <a:t>%</a:t>
            </a:r>
            <a:r>
              <a:rPr lang="zh-CN" altLang="en-US" sz="2000" dirty="0">
                <a:latin typeface="+mn-lt"/>
              </a:rPr>
              <a:t>转置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400" dirty="0">
                <a:latin typeface="+mn-lt"/>
              </a:rPr>
              <a:t>X = [x; x; x];</a:t>
            </a:r>
            <a:endParaRPr lang="en-US" altLang="zh-CN" sz="2400" dirty="0">
              <a:latin typeface="+mn-lt"/>
            </a:endParaRPr>
          </a:p>
          <a:p>
            <a:pPr lvl="0" eaLnBrk="1" hangingPunct="1">
              <a:spcBef>
                <a:spcPts val="6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/>
              </a:rPr>
              <a:t>X1 = X';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</a:rPr>
              <a:t>%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</a:rPr>
              <a:t>转置</a:t>
            </a:r>
            <a:endParaRPr lang="es-ES" altLang="zh-CN" sz="2800" dirty="0">
              <a:latin typeface="+mn-lt"/>
            </a:endParaRPr>
          </a:p>
        </p:txBody>
      </p:sp>
      <p:sp>
        <p:nvSpPr>
          <p:cNvPr id="2" name="箭头: 右 1"/>
          <p:cNvSpPr/>
          <p:nvPr/>
        </p:nvSpPr>
        <p:spPr bwMode="auto">
          <a:xfrm>
            <a:off x="3203924" y="4225879"/>
            <a:ext cx="327969" cy="17987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箭头: 右 16"/>
          <p:cNvSpPr/>
          <p:nvPr/>
        </p:nvSpPr>
        <p:spPr bwMode="auto">
          <a:xfrm>
            <a:off x="5695208" y="4225879"/>
            <a:ext cx="327969" cy="17987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79512" y="5582737"/>
            <a:ext cx="2087026" cy="1086623"/>
            <a:chOff x="179512" y="5582737"/>
            <a:chExt cx="2087026" cy="1086623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9512" y="5589360"/>
              <a:ext cx="2087026" cy="1080000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683568" y="6217192"/>
              <a:ext cx="80182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+mn-lt"/>
                </a:rPr>
                <a:t>plot(Z)</a:t>
              </a:r>
              <a:endParaRPr lang="zh-CN" altLang="en-US" sz="16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55576" y="5582737"/>
              <a:ext cx="8018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201</a:t>
              </a:r>
              <a:r>
                <a:rPr lang="zh-CN" altLang="en-US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列</a:t>
              </a:r>
              <a:endParaRPr lang="en-US" altLang="zh-CN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380038" y="5582737"/>
            <a:ext cx="2167347" cy="1086623"/>
            <a:chOff x="2380038" y="5582737"/>
            <a:chExt cx="2167347" cy="1086623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80038" y="5589360"/>
              <a:ext cx="2167347" cy="1080000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3058620" y="6217192"/>
              <a:ext cx="90441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+mn-lt"/>
                </a:rPr>
                <a:t>plot(Z1)</a:t>
              </a:r>
              <a:endParaRPr lang="en-US" altLang="zh-CN" sz="16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3296925" y="5582737"/>
              <a:ext cx="5453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r>
                <a:rPr lang="zh-CN" altLang="en-US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列</a:t>
              </a:r>
              <a:endParaRPr lang="en-US" altLang="zh-CN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660885" y="5582737"/>
            <a:ext cx="2100414" cy="1086623"/>
            <a:chOff x="4660885" y="5582737"/>
            <a:chExt cx="2100414" cy="108662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60885" y="5589360"/>
              <a:ext cx="2100414" cy="1080000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4816253" y="6217192"/>
              <a:ext cx="105189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+mn-lt"/>
                </a:rPr>
                <a:t>plot(X, Z)</a:t>
              </a:r>
              <a:endParaRPr lang="en-US" altLang="zh-CN" sz="16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5750506" y="5582737"/>
              <a:ext cx="8018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201</a:t>
              </a:r>
              <a:r>
                <a:rPr lang="zh-CN" altLang="en-US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列</a:t>
              </a:r>
              <a:endParaRPr lang="en-US" altLang="zh-CN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874799" y="5582737"/>
            <a:ext cx="2144681" cy="1086623"/>
            <a:chOff x="6874799" y="5582737"/>
            <a:chExt cx="2144681" cy="1086623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4799" y="5589360"/>
              <a:ext cx="2144681" cy="1080000"/>
            </a:xfrm>
            <a:prstGeom prst="rect">
              <a:avLst/>
            </a:prstGeom>
          </p:spPr>
        </p:pic>
        <p:sp>
          <p:nvSpPr>
            <p:cNvPr id="20" name="矩形 19"/>
            <p:cNvSpPr/>
            <p:nvPr/>
          </p:nvSpPr>
          <p:spPr>
            <a:xfrm>
              <a:off x="6948264" y="6217192"/>
              <a:ext cx="125707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+mn-lt"/>
                </a:rPr>
                <a:t>plot(X1, Z1)</a:t>
              </a:r>
              <a:endParaRPr lang="zh-CN" altLang="en-US" sz="16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918782" y="5582737"/>
              <a:ext cx="5453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altLang="zh-CN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r>
                <a:rPr lang="zh-CN" altLang="en-US" b="1" dirty="0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列</a:t>
              </a:r>
              <a:endParaRPr lang="en-US" altLang="zh-CN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3024014" cy="523220"/>
          </a:xfrm>
        </p:spPr>
        <p:txBody>
          <a:bodyPr/>
          <a:lstStyle/>
          <a:p>
            <a:r>
              <a:rPr lang="zh-CN" altLang="en-US" dirty="0"/>
              <a:t>二维曲线（</a:t>
            </a:r>
            <a:r>
              <a:rPr lang="en-US" altLang="zh-CN" dirty="0">
                <a:solidFill>
                  <a:srgbClr val="FF0000"/>
                </a:solidFill>
              </a:rPr>
              <a:t>plot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二维曲线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1771200"/>
            <a:ext cx="6192838" cy="17298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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plot(x, y,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LineSpec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 err="1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LineSpec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为线条样式，包括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线型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标记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颜色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，指定为包含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符号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的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字符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向量或字符串</a:t>
            </a:r>
            <a:endParaRPr lang="zh-CN" altLang="en-US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 </a:t>
            </a:r>
            <a:r>
              <a:rPr lang="es-E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plot(x1, y1, LineSpec1, ..., xn, yn, LineSpecn)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08104" y="3770163"/>
            <a:ext cx="3494567" cy="2539157"/>
          </a:xfrm>
          <a:prstGeom prst="rect">
            <a:avLst/>
          </a:prstGeom>
          <a:solidFill>
            <a:srgbClr val="FFF3E7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可以按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任意顺序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显示，无需同时指定所有三个特征（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未注明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时，使用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默认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参数）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颜色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未注明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时：颜色</a:t>
            </a:r>
            <a:r>
              <a:rPr lang="zh-CN" altLang="en-US" dirty="0">
                <a:solidFill>
                  <a:srgbClr val="F321F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自动变化</a:t>
            </a:r>
            <a:endParaRPr lang="zh-CN" altLang="en-US" dirty="0">
              <a:solidFill>
                <a:srgbClr val="F321F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标记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未注明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时：</a:t>
            </a:r>
            <a:r>
              <a:rPr lang="zh-CN" altLang="en-US" dirty="0">
                <a:solidFill>
                  <a:srgbClr val="F321F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不显示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标记特征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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线型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未注明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时：若</a:t>
            </a:r>
            <a:r>
              <a:rPr lang="zh-CN" altLang="en-US" dirty="0">
                <a:solidFill>
                  <a:srgbClr val="F321F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标记有注明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，则绘制</a:t>
            </a:r>
            <a:r>
              <a:rPr lang="zh-CN" altLang="en-US" dirty="0">
                <a:solidFill>
                  <a:srgbClr val="F321F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离散点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；若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标记未注明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，则绘制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实线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l="2681" t="3753" r="3644" b="1809"/>
          <a:stretch>
            <a:fillRect/>
          </a:stretch>
        </p:blipFill>
        <p:spPr>
          <a:xfrm>
            <a:off x="323849" y="3645023"/>
            <a:ext cx="5040239" cy="2808313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3024014" cy="523220"/>
          </a:xfrm>
        </p:spPr>
        <p:txBody>
          <a:bodyPr/>
          <a:lstStyle/>
          <a:p>
            <a:r>
              <a:rPr lang="zh-CN" altLang="en-US" dirty="0"/>
              <a:t>二维曲线（</a:t>
            </a:r>
            <a:r>
              <a:rPr lang="en-US" altLang="zh-CN" dirty="0">
                <a:solidFill>
                  <a:srgbClr val="FF0000"/>
                </a:solidFill>
              </a:rPr>
              <a:t>plot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427936" y="901848"/>
            <a:ext cx="888480" cy="1200329"/>
          </a:xfrm>
          <a:prstGeom prst="rect">
            <a:avLst/>
          </a:prstGeom>
          <a:ln w="31750" cmpd="thickThin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线条样式</a:t>
            </a:r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设置</a:t>
            </a:r>
            <a:endParaRPr lang="zh-CN" altLang="en-US" sz="2400" dirty="0">
              <a:latin typeface="+mn-lt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二维曲线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3613" y="1988840"/>
            <a:ext cx="3024336" cy="2500685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ts val="300"/>
              </a:spcBef>
            </a:pPr>
            <a:r>
              <a:rPr lang="es-ES" altLang="zh-CN" sz="2400" dirty="0">
                <a:solidFill>
                  <a:srgbClr val="FF0000"/>
                </a:solidFill>
                <a:latin typeface="Times New Roman" panose="02020603050405020304"/>
              </a:rPr>
              <a:t>close all </a:t>
            </a:r>
            <a:r>
              <a:rPr lang="es-ES" altLang="zh-CN" sz="2000" dirty="0">
                <a:solidFill>
                  <a:srgbClr val="C00000"/>
                </a:solidFill>
                <a:latin typeface="Times New Roman" panose="02020603050405020304"/>
              </a:rPr>
              <a:t>%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/>
              </a:rPr>
              <a:t>关闭所有图窗</a:t>
            </a:r>
            <a:endParaRPr lang="es-ES" altLang="zh-CN" sz="2400" dirty="0">
              <a:solidFill>
                <a:srgbClr val="C00000"/>
              </a:solidFill>
              <a:latin typeface="Times New Roman" panose="02020603050405020304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x = 0 : pi / 10 : 2 * pi;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 = cos(x) * 2;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y1 = cos(x) * 3;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y2 = cos(x) * 4;</a:t>
            </a:r>
            <a:endParaRPr lang="es-ES" altLang="zh-CN" sz="24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400" dirty="0">
                <a:latin typeface="+mn-lt"/>
              </a:rPr>
              <a:t>y3 = cos(x) * 5;</a:t>
            </a:r>
            <a:endParaRPr lang="es-ES" altLang="zh-CN" sz="2400" dirty="0">
              <a:latin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613" y="4509955"/>
            <a:ext cx="5792564" cy="1685077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lvl="0" eaLnBrk="1" hangingPunct="1">
              <a:spcBef>
                <a:spcPts val="300"/>
              </a:spcBef>
            </a:pPr>
            <a:r>
              <a:rPr lang="en-US" altLang="zh-CN" sz="2400" dirty="0">
                <a:latin typeface="Times New Roman" panose="02020603050405020304"/>
              </a:rPr>
              <a:t>figure(1)</a:t>
            </a:r>
            <a:endParaRPr lang="en-US" altLang="zh-CN" sz="2400" dirty="0"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s-ES" altLang="zh-CN" sz="2400" dirty="0">
                <a:solidFill>
                  <a:srgbClr val="0000FF"/>
                </a:solidFill>
                <a:latin typeface="Times New Roman" panose="02020603050405020304"/>
              </a:rPr>
              <a:t>plot(x, y, x, y1, x, y2, x, y3) </a:t>
            </a:r>
            <a:endParaRPr lang="es-ES" altLang="zh-CN" sz="2400" dirty="0">
              <a:solidFill>
                <a:srgbClr val="0000FF"/>
              </a:solidFill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n-US" altLang="zh-CN" sz="2400" dirty="0">
                <a:latin typeface="Times New Roman" panose="02020603050405020304"/>
              </a:rPr>
              <a:t>figure(2)</a:t>
            </a:r>
            <a:endParaRPr lang="en-US" altLang="zh-CN" sz="2400" dirty="0">
              <a:latin typeface="Times New Roman" panose="02020603050405020304"/>
            </a:endParaRPr>
          </a:p>
          <a:p>
            <a:pPr lvl="0" eaLnBrk="1" hangingPunct="1">
              <a:spcBef>
                <a:spcPts val="300"/>
              </a:spcBef>
            </a:pPr>
            <a:r>
              <a:rPr lang="es-ES" altLang="zh-CN" sz="2400" dirty="0">
                <a:solidFill>
                  <a:srgbClr val="0000FF"/>
                </a:solidFill>
                <a:latin typeface="Times New Roman" panose="02020603050405020304"/>
              </a:rPr>
              <a:t>plot(x, y, '--or', x, y1, 'k:', x, y2, '+',  x, y3, 'y')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872" y="2238850"/>
            <a:ext cx="5564286" cy="2414286"/>
          </a:xfrm>
          <a:prstGeom prst="rect">
            <a:avLst/>
          </a:prstGeom>
        </p:spPr>
      </p:pic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3024014" cy="523220"/>
          </a:xfrm>
        </p:spPr>
        <p:txBody>
          <a:bodyPr/>
          <a:lstStyle/>
          <a:p>
            <a:r>
              <a:rPr lang="zh-CN" altLang="en-US" dirty="0"/>
              <a:t>二维曲线（</a:t>
            </a:r>
            <a:r>
              <a:rPr lang="en-US" altLang="zh-CN" dirty="0">
                <a:solidFill>
                  <a:srgbClr val="FF0000"/>
                </a:solidFill>
              </a:rPr>
              <a:t>plot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27936" y="901848"/>
            <a:ext cx="888480" cy="1200329"/>
          </a:xfrm>
          <a:prstGeom prst="rect">
            <a:avLst/>
          </a:prstGeom>
          <a:ln w="31750" cmpd="thickThin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+mn-lt"/>
                <a:ea typeface="微软雅黑" panose="020B0503020204020204" pitchFamily="34" charset="-122"/>
              </a:rPr>
              <a:t>线条样式</a:t>
            </a:r>
            <a:r>
              <a:rPr lang="zh-CN" altLang="en-US" sz="2400" dirty="0">
                <a:latin typeface="+mn-lt"/>
                <a:ea typeface="微软雅黑" panose="020B0503020204020204" pitchFamily="34" charset="-122"/>
              </a:rPr>
              <a:t>设置</a:t>
            </a:r>
            <a:endParaRPr lang="zh-CN" altLang="en-US" sz="2400" dirty="0">
              <a:latin typeface="+mn-lt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图形标注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8351838" cy="629262"/>
          </a:xfrm>
        </p:spPr>
        <p:txBody>
          <a:bodyPr/>
          <a:lstStyle/>
          <a:p>
            <a:r>
              <a:rPr lang="zh-CN" altLang="en-US" dirty="0"/>
              <a:t>图形标注（</a:t>
            </a:r>
            <a:r>
              <a:rPr lang="en-US" altLang="zh-CN" dirty="0">
                <a:solidFill>
                  <a:srgbClr val="FF0000"/>
                </a:solidFill>
              </a:rPr>
              <a:t>title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xlabel</a:t>
            </a:r>
            <a:r>
              <a:rPr lang="en-US" altLang="zh-CN" dirty="0"/>
              <a:t> / </a:t>
            </a:r>
            <a:r>
              <a:rPr lang="en-US" altLang="zh-CN" dirty="0" err="1">
                <a:solidFill>
                  <a:srgbClr val="FF0000"/>
                </a:solidFill>
              </a:rPr>
              <a:t>ylabel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legend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text</a:t>
            </a:r>
            <a:r>
              <a:rPr lang="en-US" altLang="zh-CN" dirty="0"/>
              <a:t> / </a:t>
            </a:r>
            <a:r>
              <a:rPr lang="en-US" altLang="zh-CN" dirty="0" err="1">
                <a:solidFill>
                  <a:srgbClr val="FF0000"/>
                </a:solidFill>
              </a:rPr>
              <a:t>gtext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1666901"/>
            <a:ext cx="7488832" cy="18341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title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('s')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：添加标题</a:t>
            </a:r>
            <a:endParaRPr lang="zh-CN" altLang="en-US" sz="20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xlabel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000" dirty="0">
                <a:ea typeface="楷体" panose="02010609060101010101" pitchFamily="49" charset="-122"/>
                <a:sym typeface="Wingdings" panose="05000000000000000000" pitchFamily="2" charset="2"/>
              </a:rPr>
              <a:t>'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s</a:t>
            </a:r>
            <a:r>
              <a:rPr lang="en-US" altLang="zh-CN" sz="2000" dirty="0">
                <a:ea typeface="楷体" panose="02010609060101010101" pitchFamily="49" charset="-122"/>
                <a:sym typeface="Wingdings" panose="05000000000000000000" pitchFamily="2" charset="2"/>
              </a:rPr>
              <a:t>'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：为 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 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轴添加标签；    </a:t>
            </a:r>
            <a:r>
              <a:rPr lang="en-US" altLang="zh-CN" sz="20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ylabel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('s')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：为 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 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轴添加标签</a:t>
            </a:r>
            <a:endParaRPr lang="zh-CN" altLang="en-US" sz="20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legend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('s1', 's2', 's3')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：添加图例（按线条出现的先后顺序添加）</a:t>
            </a:r>
            <a:endParaRPr lang="zh-CN" altLang="en-US" sz="20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text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000" dirty="0" err="1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x_coordinate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000" dirty="0" err="1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y_coordinate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, 's')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：添加文本框，指定坐标</a:t>
            </a:r>
            <a:endParaRPr lang="zh-CN" altLang="en-US" sz="20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gtext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('s')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：添加文本框，由鼠标（左右中键）或空格键确定位置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51520" y="3789040"/>
            <a:ext cx="8326982" cy="2879015"/>
            <a:chOff x="251520" y="3934361"/>
            <a:chExt cx="8326982" cy="2879015"/>
          </a:xfrm>
        </p:grpSpPr>
        <p:sp>
          <p:nvSpPr>
            <p:cNvPr id="6" name="矩形 5"/>
            <p:cNvSpPr/>
            <p:nvPr/>
          </p:nvSpPr>
          <p:spPr>
            <a:xfrm>
              <a:off x="251520" y="3934361"/>
              <a:ext cx="4752528" cy="1438855"/>
            </a:xfrm>
            <a:prstGeom prst="rect">
              <a:avLst/>
            </a:prstGeom>
            <a:solidFill>
              <a:srgbClr val="ECECFA"/>
            </a:solidFill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300"/>
                </a:spcBef>
              </a:pPr>
              <a:r>
                <a:rPr lang="en-US" altLang="zh-CN" sz="2000" dirty="0">
                  <a:latin typeface="+mn-lt"/>
                </a:rPr>
                <a:t>x = -pi : pi / 20 : pi;    y1 = cos(x);</a:t>
              </a:r>
              <a:endParaRPr lang="en-US" altLang="zh-CN" sz="2000" dirty="0"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000" dirty="0">
                  <a:latin typeface="+mn-lt"/>
                </a:rPr>
                <a:t>y2 = cos(x.^2);           y3 = cos(x.^-1);</a:t>
              </a:r>
              <a:endParaRPr lang="en-US" altLang="zh-CN" sz="2000" dirty="0"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+mn-lt"/>
                </a:rPr>
                <a:t>plot</a:t>
              </a:r>
              <a:r>
                <a:rPr lang="en-US" altLang="zh-CN" sz="2000" dirty="0">
                  <a:latin typeface="+mn-lt"/>
                </a:rPr>
                <a:t>(x, y1, x, y2, x, y3)</a:t>
              </a:r>
              <a:endParaRPr lang="en-US" altLang="zh-CN" sz="2000" dirty="0"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+mn-lt"/>
                </a:rPr>
                <a:t>title</a:t>
              </a:r>
              <a:r>
                <a:rPr lang="en-US" altLang="zh-CN" sz="2000" dirty="0">
                  <a:latin typeface="+mn-lt"/>
                </a:rPr>
                <a:t>('cos</a:t>
              </a:r>
              <a:r>
                <a:rPr lang="zh-CN" altLang="en-US" sz="2000" dirty="0">
                  <a:latin typeface="+mn-lt"/>
                </a:rPr>
                <a:t>函数</a:t>
              </a:r>
              <a:r>
                <a:rPr lang="en-US" altLang="zh-CN" sz="2000" dirty="0">
                  <a:latin typeface="+mn-lt"/>
                </a:rPr>
                <a:t>'), </a:t>
              </a:r>
              <a:r>
                <a:rPr lang="en-US" altLang="zh-CN" sz="2000" dirty="0">
                  <a:solidFill>
                    <a:srgbClr val="0000FF"/>
                  </a:solidFill>
                  <a:latin typeface="+mn-lt"/>
                </a:rPr>
                <a:t>xlabel</a:t>
              </a:r>
              <a:r>
                <a:rPr lang="en-US" altLang="zh-CN" sz="2000" dirty="0">
                  <a:latin typeface="+mn-lt"/>
                </a:rPr>
                <a:t>('</a:t>
              </a:r>
              <a:r>
                <a:rPr lang="zh-CN" altLang="en-US" sz="2000" dirty="0">
                  <a:latin typeface="+mn-lt"/>
                </a:rPr>
                <a:t>弧度</a:t>
              </a:r>
              <a:r>
                <a:rPr lang="en-US" altLang="zh-CN" sz="2000" dirty="0">
                  <a:latin typeface="+mn-lt"/>
                </a:rPr>
                <a:t>'), </a:t>
              </a:r>
              <a:r>
                <a:rPr lang="en-US" altLang="zh-CN" sz="2000" dirty="0" err="1">
                  <a:solidFill>
                    <a:srgbClr val="0000FF"/>
                  </a:solidFill>
                  <a:latin typeface="+mn-lt"/>
                </a:rPr>
                <a:t>ylabel</a:t>
              </a:r>
              <a:r>
                <a:rPr lang="en-US" altLang="zh-CN" sz="2000" dirty="0">
                  <a:latin typeface="+mn-lt"/>
                </a:rPr>
                <a:t>('</a:t>
              </a:r>
              <a:r>
                <a:rPr lang="zh-CN" altLang="en-US" sz="2000" dirty="0">
                  <a:latin typeface="+mn-lt"/>
                </a:rPr>
                <a:t>余弦</a:t>
              </a:r>
              <a:r>
                <a:rPr lang="en-US" altLang="zh-CN" sz="2000" dirty="0">
                  <a:latin typeface="+mn-lt"/>
                </a:rPr>
                <a:t>')</a:t>
              </a:r>
              <a:endParaRPr lang="zh-CN" altLang="en-US" sz="2000" dirty="0">
                <a:latin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251520" y="5374521"/>
              <a:ext cx="8326982" cy="1438855"/>
            </a:xfrm>
            <a:prstGeom prst="rect">
              <a:avLst/>
            </a:prstGeom>
            <a:solidFill>
              <a:srgbClr val="ECECFA"/>
            </a:solidFill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300"/>
                </a:spcBef>
              </a:pPr>
              <a:r>
                <a:rPr lang="en-US" altLang="zh-CN" sz="2000" dirty="0">
                  <a:latin typeface="+mn-lt"/>
                </a:rPr>
                <a:t>s1 = 'y_1 = cos(x)';  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%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创建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楷体" panose="02010609060101010101" pitchFamily="49" charset="-122"/>
                </a:rPr>
                <a:t>下标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使用下划线“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楷体" panose="02010609060101010101" pitchFamily="49" charset="-122"/>
                </a:rPr>
                <a:t>_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”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y_1</a:t>
              </a:r>
              <a:r>
                <a:rPr lang="zh-CN" altLang="en-US" sz="2000" dirty="0">
                  <a:latin typeface="+mn-lt"/>
                </a:rPr>
                <a:t>）</a:t>
              </a:r>
              <a:endParaRPr lang="zh-CN" altLang="en-US" sz="2000" dirty="0">
                <a:latin typeface="+mn-lt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000" dirty="0">
                  <a:latin typeface="+mn-lt"/>
                </a:rPr>
                <a:t>s2 = 'y_2 = cos(x^2)'; 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%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创建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楷体" panose="02010609060101010101" pitchFamily="49" charset="-122"/>
                </a:rPr>
                <a:t>上标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使用插字号“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楷体" panose="02010609060101010101" pitchFamily="49" charset="-122"/>
                </a:rPr>
                <a:t>^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”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（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x^2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）</a:t>
              </a:r>
              <a:endParaRPr lang="zh-CN" altLang="en-US" dirty="0">
                <a:latin typeface="+mn-lt"/>
                <a:ea typeface="楷体" panose="02010609060101010101" pitchFamily="49" charset="-122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000" dirty="0">
                  <a:latin typeface="+mn-lt"/>
                </a:rPr>
                <a:t>s3 = 'y_3 = cos(x^{-1})'; 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%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上标或下标包含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楷体" panose="02010609060101010101" pitchFamily="49" charset="-122"/>
                </a:rPr>
                <a:t>多个字符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时使用大括号（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x^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楷体" panose="02010609060101010101" pitchFamily="49" charset="-122"/>
                </a:rPr>
                <a:t>{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-1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楷体" panose="02010609060101010101" pitchFamily="49" charset="-122"/>
                </a:rPr>
                <a:t>}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）</a:t>
              </a:r>
              <a:endParaRPr lang="zh-CN" altLang="en-US" sz="2000" dirty="0">
                <a:latin typeface="+mn-lt"/>
                <a:ea typeface="楷体" panose="02010609060101010101" pitchFamily="49" charset="-122"/>
              </a:endParaRPr>
            </a:p>
            <a:p>
              <a:pPr eaLnBrk="1" hangingPunct="1">
                <a:spcBef>
                  <a:spcPts val="3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+mn-lt"/>
                </a:rPr>
                <a:t>legend</a:t>
              </a:r>
              <a:r>
                <a:rPr lang="en-US" altLang="zh-CN" sz="2000" dirty="0">
                  <a:latin typeface="+mn-lt"/>
                </a:rPr>
                <a:t>(s1, s2, s3); 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%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添加图例，</a:t>
              </a:r>
              <a:r>
                <a:rPr lang="en-US" altLang="zh-CN" dirty="0">
                  <a:solidFill>
                    <a:srgbClr val="0000FF"/>
                  </a:solidFill>
                  <a:latin typeface="+mn-lt"/>
                  <a:ea typeface="楷体" panose="02010609060101010101" pitchFamily="49" charset="-122"/>
                </a:rPr>
                <a:t>legend</a:t>
              </a:r>
              <a:r>
                <a:rPr lang="en-US" altLang="zh-CN" dirty="0">
                  <a:latin typeface="+mn-lt"/>
                  <a:ea typeface="楷体" panose="02010609060101010101" pitchFamily="49" charset="-122"/>
                </a:rPr>
                <a:t>('off') </a:t>
              </a:r>
              <a:r>
                <a:rPr lang="zh-CN" altLang="en-US" dirty="0">
                  <a:latin typeface="+mn-lt"/>
                  <a:ea typeface="楷体" panose="02010609060101010101" pitchFamily="49" charset="-122"/>
                </a:rPr>
                <a:t>删除图例</a:t>
              </a:r>
              <a:endParaRPr lang="zh-CN" altLang="en-US" sz="2000" dirty="0">
                <a:latin typeface="+mn-lt"/>
                <a:ea typeface="楷体" panose="02010609060101010101" pitchFamily="49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60" y="3788271"/>
            <a:ext cx="3028571" cy="19714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坐标控制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8351838" cy="485246"/>
          </a:xfrm>
        </p:spPr>
        <p:txBody>
          <a:bodyPr/>
          <a:lstStyle/>
          <a:p>
            <a:r>
              <a:rPr lang="zh-CN" altLang="en-US" dirty="0"/>
              <a:t>坐标控制（</a:t>
            </a:r>
            <a:r>
              <a:rPr lang="en-US" altLang="zh-CN" dirty="0">
                <a:solidFill>
                  <a:srgbClr val="FF0000"/>
                </a:solidFill>
              </a:rPr>
              <a:t>axis </a:t>
            </a:r>
            <a:r>
              <a:rPr lang="en-US" altLang="zh-CN" dirty="0"/>
              <a:t>/ </a:t>
            </a:r>
            <a:r>
              <a:rPr lang="en-US" altLang="zh-CN" dirty="0">
                <a:solidFill>
                  <a:srgbClr val="FF0000"/>
                </a:solidFill>
              </a:rPr>
              <a:t>xlim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ylim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grid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box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1666900"/>
            <a:ext cx="7848104" cy="32742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axis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：设置坐标轴范围和纵横比</a:t>
            </a:r>
            <a:endParaRPr lang="en-US" altLang="zh-CN" sz="20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60045"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axis( [</a:t>
            </a:r>
            <a:r>
              <a:rPr lang="en-US" altLang="zh-CN" dirty="0" err="1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xmin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dirty="0" err="1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xmax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, ymin, </a:t>
            </a:r>
            <a:r>
              <a:rPr lang="en-US" altLang="zh-CN" dirty="0" err="1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ymax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] )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dirty="0" err="1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xmin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en-US" altLang="zh-CN" dirty="0" err="1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xmax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轴的最小值和最大值；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ymin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en-US" altLang="zh-CN" dirty="0" err="1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ymax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轴的最小值和最大值；</a:t>
            </a:r>
            <a:endParaRPr lang="en-US" altLang="zh-CN" dirty="0">
              <a:latin typeface="+mn-lt"/>
              <a:ea typeface="仿宋" panose="02010609060101010101" pitchFamily="49" charset="-122"/>
              <a:sym typeface="Wingdings" panose="05000000000000000000" pitchFamily="2" charset="2"/>
            </a:endParaRPr>
          </a:p>
          <a:p>
            <a:pPr marL="360045"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对于自动计算的最小值或最小值范围，分别使用 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-inf 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或 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inf 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来表示</a:t>
            </a:r>
            <a:endParaRPr lang="en-US" altLang="zh-CN" dirty="0">
              <a:latin typeface="+mn-lt"/>
              <a:ea typeface="仿宋" panose="02010609060101010101" pitchFamily="49" charset="-122"/>
              <a:sym typeface="Wingdings" panose="05000000000000000000" pitchFamily="2" charset="2"/>
            </a:endParaRPr>
          </a:p>
          <a:p>
            <a:pPr marL="360045"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zh-CN" altLang="en-US" dirty="0">
                <a:ea typeface="仿宋" panose="02010609060101010101" pitchFamily="49" charset="-122"/>
                <a:sym typeface="Wingdings" panose="05000000000000000000" pitchFamily="2" charset="2"/>
              </a:rPr>
              <a:t> 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axis style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：使用预定义样式设置轴范围和尺度，样式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style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可选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tight | fill | equal | image | square | vis3d | normal</a:t>
            </a:r>
            <a:endParaRPr lang="en-US" altLang="zh-CN" dirty="0">
              <a:latin typeface="+mn-lt"/>
              <a:ea typeface="仿宋" panose="02010609060101010101" pitchFamily="49" charset="-122"/>
              <a:sym typeface="Wingdings" panose="05000000000000000000" pitchFamily="2" charset="2"/>
            </a:endParaRPr>
          </a:p>
          <a:p>
            <a:pPr marL="360045"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zh-CN" altLang="en-US" dirty="0">
                <a:ea typeface="仿宋" panose="02010609060101010101" pitchFamily="49" charset="-122"/>
                <a:sym typeface="Wingdings" panose="05000000000000000000" pitchFamily="2" charset="2"/>
              </a:rPr>
              <a:t> 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axis on 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或 </a:t>
            </a:r>
            <a:r>
              <a:rPr lang="en-US" altLang="zh-CN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axis off</a:t>
            </a:r>
            <a:r>
              <a:rPr lang="zh-CN" altLang="en-US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：显示或取消坐标轴</a:t>
            </a:r>
            <a:endParaRPr lang="zh-CN" altLang="en-US" dirty="0">
              <a:latin typeface="+mn-lt"/>
              <a:ea typeface="仿宋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xlim/ylim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：设置或查询 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或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 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坐标轴范围，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xlim ([</a:t>
            </a:r>
            <a:r>
              <a:rPr lang="en-US" altLang="zh-CN" sz="2000" dirty="0" err="1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xmin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en-US" altLang="zh-CN" sz="2000" dirty="0" err="1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xmax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])</a:t>
            </a:r>
            <a:endParaRPr lang="zh-CN" altLang="en-US" sz="20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grid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：显示或隐藏坐标区网格线，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grid on 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或 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grid off</a:t>
            </a:r>
            <a:endParaRPr lang="en-US" altLang="zh-CN" sz="20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box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：显示或隐藏坐标区轮廓，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box on </a:t>
            </a:r>
            <a:r>
              <a:rPr lang="zh-CN" altLang="en-US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或 </a:t>
            </a:r>
            <a:r>
              <a:rPr lang="en-US" altLang="zh-CN" sz="20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box off</a:t>
            </a:r>
            <a:endParaRPr lang="zh-CN" altLang="en-US" sz="20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1520" y="5211455"/>
            <a:ext cx="2808312" cy="1438855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x = linspace(-2*pi,2*pi);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y = sin(x);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s-ES" altLang="zh-CN" sz="2000" dirty="0">
                <a:latin typeface="+mn-lt"/>
              </a:rPr>
              <a:t>(x,y);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axis</a:t>
            </a:r>
            <a:r>
              <a:rPr lang="en-US" altLang="zh-CN" sz="2000" dirty="0">
                <a:latin typeface="+mn-lt"/>
              </a:rPr>
              <a:t>([-2*pi 2*pi -1.5 1.5])</a:t>
            </a:r>
            <a:endParaRPr lang="en-US" altLang="zh-CN" sz="2000" dirty="0">
              <a:latin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832" y="5212056"/>
            <a:ext cx="2304000" cy="145730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b="2040"/>
          <a:stretch>
            <a:fillRect/>
          </a:stretch>
        </p:blipFill>
        <p:spPr>
          <a:xfrm>
            <a:off x="5652120" y="5307239"/>
            <a:ext cx="2247619" cy="13621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893488" y="4991045"/>
            <a:ext cx="1782200" cy="400110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ylim</a:t>
            </a:r>
            <a:r>
              <a:rPr lang="en-US" altLang="zh-CN" sz="2000" dirty="0">
                <a:latin typeface="+mn-lt"/>
              </a:rPr>
              <a:t>([-1 1.5])</a:t>
            </a:r>
            <a:endParaRPr lang="zh-CN" alt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3024014" cy="595354"/>
          </a:xfrm>
        </p:spPr>
        <p:txBody>
          <a:bodyPr/>
          <a:lstStyle/>
          <a:p>
            <a:r>
              <a:rPr lang="zh-CN" altLang="en-US" dirty="0"/>
              <a:t>子图（</a:t>
            </a:r>
            <a:r>
              <a:rPr lang="en-US" altLang="zh-CN" dirty="0">
                <a:solidFill>
                  <a:srgbClr val="FF0000"/>
                </a:solidFill>
              </a:rPr>
              <a:t>subplot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1666900"/>
            <a:ext cx="7632848" cy="11860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subplot(m, n, p)</a:t>
            </a:r>
            <a:endParaRPr lang="en-US" altLang="zh-CN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60045"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</a:t>
            </a: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将当前图窗划分为 </a:t>
            </a:r>
            <a:r>
              <a:rPr lang="en-US" altLang="zh-CN" sz="2000" dirty="0" err="1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m×n</a:t>
            </a:r>
            <a:r>
              <a:rPr lang="en-US" altLang="zh-CN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网格，并在 </a:t>
            </a:r>
            <a:r>
              <a:rPr lang="en-US" altLang="zh-CN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p </a:t>
            </a: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指定的位置创建坐标区</a:t>
            </a:r>
            <a:endParaRPr lang="en-US" altLang="zh-CN" sz="2000" dirty="0">
              <a:latin typeface="+mn-lt"/>
              <a:ea typeface="仿宋" panose="02010609060101010101" pitchFamily="49" charset="-122"/>
              <a:sym typeface="Wingdings" panose="05000000000000000000" pitchFamily="2" charset="2"/>
            </a:endParaRPr>
          </a:p>
          <a:p>
            <a:pPr marL="360045"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子图编号按从左往右，从上向下的位置顺序</a:t>
            </a:r>
            <a:endParaRPr lang="en-US" altLang="zh-CN" sz="2000" dirty="0">
              <a:latin typeface="+mn-lt"/>
              <a:ea typeface="仿宋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84" y="2939388"/>
            <a:ext cx="2592288" cy="2131353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clc,clear,close all;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x = 0 : pi / 100 : 2 * pi;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y1 = cos(x) * 2;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y2 = cos(x) * 4;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y3 = cos(x) * 6;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y4 = cos(x) * 8;</a:t>
            </a:r>
            <a:endParaRPr lang="zh-CN" altLang="en-US" sz="2000" dirty="0">
              <a:latin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520" y="5114461"/>
            <a:ext cx="4608000" cy="1438855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n-US" altLang="zh-CN" sz="2000" dirty="0">
                <a:latin typeface="+mn-lt"/>
              </a:rPr>
              <a:t>(2, 2, 1),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n-US" altLang="zh-CN" sz="2000" dirty="0">
                <a:latin typeface="+mn-lt"/>
              </a:rPr>
              <a:t>(x, y1),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title</a:t>
            </a:r>
            <a:r>
              <a:rPr lang="en-US" altLang="zh-CN" sz="2000" dirty="0">
                <a:latin typeface="+mn-lt"/>
              </a:rPr>
              <a:t>('subplot 1')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n-US" altLang="zh-CN" sz="2000" dirty="0">
                <a:latin typeface="+mn-lt"/>
              </a:rPr>
              <a:t>(2, 2, 2),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n-US" altLang="zh-CN" sz="2000" dirty="0">
                <a:latin typeface="+mn-lt"/>
              </a:rPr>
              <a:t>(x, y2),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title</a:t>
            </a:r>
            <a:r>
              <a:rPr lang="en-US" altLang="zh-CN" sz="2000" dirty="0">
                <a:latin typeface="+mn-lt"/>
              </a:rPr>
              <a:t>('subplot 2')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n-US" altLang="zh-CN" sz="2000" dirty="0">
                <a:latin typeface="+mn-lt"/>
              </a:rPr>
              <a:t>(2, 2, 3),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n-US" altLang="zh-CN" sz="2000" dirty="0">
                <a:latin typeface="+mn-lt"/>
              </a:rPr>
              <a:t>(x, y3),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title</a:t>
            </a:r>
            <a:r>
              <a:rPr lang="en-US" altLang="zh-CN" sz="2000" dirty="0">
                <a:latin typeface="+mn-lt"/>
              </a:rPr>
              <a:t>('subplot 3')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n-US" altLang="zh-CN" sz="2000" dirty="0">
                <a:latin typeface="+mn-lt"/>
              </a:rPr>
              <a:t>(2, 2, 4),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n-US" altLang="zh-CN" sz="2000" dirty="0">
                <a:latin typeface="+mn-lt"/>
              </a:rPr>
              <a:t>(x, y4), </a:t>
            </a: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title</a:t>
            </a:r>
            <a:r>
              <a:rPr lang="en-US" altLang="zh-CN" sz="2000" dirty="0">
                <a:latin typeface="+mn-lt"/>
              </a:rPr>
              <a:t>('subplot 4')</a:t>
            </a:r>
            <a:endParaRPr lang="zh-CN" altLang="en-US" sz="2000" dirty="0">
              <a:latin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475" y="3212976"/>
            <a:ext cx="3680000" cy="30552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</a:t>
            </a:r>
            <a:r>
              <a:rPr lang="en-US" altLang="zh-CN" dirty="0"/>
              <a:t>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极坐标图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351838" cy="917293"/>
          </a:xfrm>
        </p:spPr>
        <p:txBody>
          <a:bodyPr/>
          <a:lstStyle/>
          <a:p>
            <a:r>
              <a:rPr lang="zh-CN" altLang="en-US" dirty="0"/>
              <a:t>极坐标图（</a:t>
            </a:r>
            <a:r>
              <a:rPr lang="en-US" altLang="zh-CN" dirty="0">
                <a:solidFill>
                  <a:srgbClr val="FF0000"/>
                </a:solidFill>
              </a:rPr>
              <a:t>polar</a:t>
            </a:r>
            <a:r>
              <a:rPr lang="zh-CN" altLang="en-US" dirty="0"/>
              <a:t>）（</a:t>
            </a:r>
            <a:r>
              <a:rPr lang="en-US" altLang="zh-CN" dirty="0"/>
              <a:t>MATLAB</a:t>
            </a:r>
            <a:r>
              <a:rPr lang="zh-CN" altLang="en-US" dirty="0"/>
              <a:t>新版本：不推荐使用</a:t>
            </a:r>
            <a:r>
              <a:rPr lang="en-US" altLang="zh-CN" dirty="0"/>
              <a:t>polar</a:t>
            </a:r>
            <a:r>
              <a:rPr lang="zh-CN" altLang="en-US" dirty="0"/>
              <a:t>，请改用 </a:t>
            </a:r>
            <a:r>
              <a:rPr lang="en-US" altLang="zh-CN" dirty="0" err="1">
                <a:solidFill>
                  <a:srgbClr val="FF0000"/>
                </a:solidFill>
              </a:rPr>
              <a:t>polarplot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2098948"/>
            <a:ext cx="7632848" cy="11860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polar(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theta,r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polarplot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theta,r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60045"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theta</a:t>
            </a: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：从 </a:t>
            </a:r>
            <a:r>
              <a:rPr lang="en-US" altLang="zh-CN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x </a:t>
            </a: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轴到半径向量所夹的角（一般用弧度表示）</a:t>
            </a:r>
            <a:endParaRPr lang="en-US" altLang="zh-CN" sz="2000" dirty="0">
              <a:latin typeface="+mn-lt"/>
              <a:ea typeface="仿宋" panose="02010609060101010101" pitchFamily="49" charset="-122"/>
              <a:sym typeface="Wingdings" panose="05000000000000000000" pitchFamily="2" charset="2"/>
            </a:endParaRPr>
          </a:p>
          <a:p>
            <a:pPr marL="360045"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</a:t>
            </a:r>
            <a:r>
              <a:rPr lang="en-US" altLang="zh-CN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：半径，负 </a:t>
            </a:r>
            <a:r>
              <a:rPr lang="en-US" altLang="zh-CN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r </a:t>
            </a: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值通过原点形成中心对称反射，旋转 </a:t>
            </a:r>
            <a:r>
              <a:rPr lang="en-US" altLang="zh-CN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pi </a:t>
            </a:r>
            <a:r>
              <a:rPr lang="zh-CN" altLang="en-US" sz="2000" dirty="0">
                <a:latin typeface="+mn-lt"/>
                <a:ea typeface="仿宋" panose="02010609060101010101" pitchFamily="49" charset="-122"/>
                <a:sym typeface="Wingdings" panose="05000000000000000000" pitchFamily="2" charset="2"/>
              </a:rPr>
              <a:t>角度</a:t>
            </a:r>
            <a:endParaRPr lang="en-US" altLang="zh-CN" sz="2000" dirty="0">
              <a:latin typeface="+mn-lt"/>
              <a:ea typeface="仿宋" panose="02010609060101010101" pitchFamily="49" charset="-122"/>
              <a:sym typeface="Wingdings" panose="05000000000000000000" pitchFamily="2" charset="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5976" y="3395093"/>
            <a:ext cx="3641905" cy="180571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7584" y="3387474"/>
            <a:ext cx="3384376" cy="1785104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theta = pi/2 : 4/5*pi : 4.5*pi;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theta1 = 0 : 4/5*pi : 4*pi;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r = ones(size(theta));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s-ES" altLang="zh-CN" sz="2000" dirty="0">
                <a:latin typeface="+mn-lt"/>
              </a:rPr>
              <a:t>(1, 2, 1), </a:t>
            </a:r>
            <a:r>
              <a:rPr lang="es-ES" altLang="zh-CN" sz="2000" dirty="0">
                <a:solidFill>
                  <a:srgbClr val="0000FF"/>
                </a:solidFill>
                <a:latin typeface="+mn-lt"/>
              </a:rPr>
              <a:t>polar</a:t>
            </a:r>
            <a:r>
              <a:rPr lang="es-ES" altLang="zh-CN" sz="2000" dirty="0">
                <a:latin typeface="+mn-lt"/>
              </a:rPr>
              <a:t>(theta, r)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s-ES" altLang="zh-CN" sz="2000" dirty="0">
                <a:latin typeface="+mn-lt"/>
              </a:rPr>
              <a:t>(1, 2, 2), </a:t>
            </a:r>
            <a:r>
              <a:rPr lang="es-ES" altLang="zh-CN" sz="2000" dirty="0">
                <a:solidFill>
                  <a:srgbClr val="0000FF"/>
                </a:solidFill>
                <a:latin typeface="+mn-lt"/>
              </a:rPr>
              <a:t>polar</a:t>
            </a:r>
            <a:r>
              <a:rPr lang="es-ES" altLang="zh-CN" sz="2000" dirty="0">
                <a:latin typeface="+mn-lt"/>
              </a:rPr>
              <a:t>(theta1, r)</a:t>
            </a:r>
            <a:endParaRPr lang="zh-CN" altLang="en-US" sz="2000" dirty="0">
              <a:latin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261" y="5338443"/>
            <a:ext cx="3154286" cy="137904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10419" y="5301208"/>
            <a:ext cx="2305397" cy="1438855"/>
          </a:xfrm>
          <a:prstGeom prst="rect">
            <a:avLst/>
          </a:prstGeom>
          <a:solidFill>
            <a:srgbClr val="FFF3E7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latin typeface="+mn-lt"/>
              </a:rPr>
              <a:t>theta = -</a:t>
            </a:r>
            <a:r>
              <a:rPr lang="en-US" altLang="zh-CN" sz="2000" dirty="0" err="1">
                <a:latin typeface="+mn-lt"/>
              </a:rPr>
              <a:t>pi:pi</a:t>
            </a:r>
            <a:r>
              <a:rPr lang="en-US" altLang="zh-CN" sz="2000" dirty="0">
                <a:latin typeface="+mn-lt"/>
              </a:rPr>
              <a:t>/100:pi;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latin typeface="+mn-lt"/>
              </a:rPr>
              <a:t>r = ones(size(theta));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n-US" altLang="zh-CN" sz="2000" dirty="0">
                <a:latin typeface="+mn-lt"/>
              </a:rPr>
              <a:t>(2, 2, 1)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polar</a:t>
            </a:r>
            <a:r>
              <a:rPr lang="en-US" altLang="zh-CN" sz="2000" dirty="0">
                <a:latin typeface="+mn-lt"/>
              </a:rPr>
              <a:t>(theta, r)</a:t>
            </a:r>
            <a:endParaRPr lang="zh-CN" altLang="en-US" sz="2000" dirty="0">
              <a:latin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59832" y="5301208"/>
            <a:ext cx="2376264" cy="1438855"/>
          </a:xfrm>
          <a:prstGeom prst="rect">
            <a:avLst/>
          </a:prstGeom>
          <a:solidFill>
            <a:srgbClr val="FFF3E7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x = r.*cos(theta);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latin typeface="+mn-lt"/>
              </a:rPr>
              <a:t>y = r.*sin(theta);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s-ES" altLang="zh-CN" sz="2000" dirty="0">
                <a:latin typeface="+mn-lt"/>
              </a:rPr>
              <a:t>(2, 2, 2) </a:t>
            </a:r>
            <a:endParaRPr lang="es-E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s-ES" altLang="zh-CN" sz="20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s-ES" altLang="zh-CN" sz="2000" dirty="0">
                <a:latin typeface="+mn-lt"/>
              </a:rPr>
              <a:t>(x, y),</a:t>
            </a:r>
            <a:r>
              <a:rPr lang="es-ES" altLang="zh-CN" sz="2000" dirty="0">
                <a:solidFill>
                  <a:srgbClr val="0000FF"/>
                </a:solidFill>
                <a:latin typeface="+mn-lt"/>
              </a:rPr>
              <a:t>axis</a:t>
            </a:r>
            <a:r>
              <a:rPr lang="es-ES" altLang="zh-CN" sz="2000" dirty="0">
                <a:latin typeface="+mn-lt"/>
              </a:rPr>
              <a:t> square</a:t>
            </a:r>
            <a:endParaRPr lang="zh-CN" altLang="en-US" sz="2000" dirty="0">
              <a:latin typeface="+mn-lt"/>
            </a:endParaRPr>
          </a:p>
        </p:txBody>
      </p:sp>
      <p:sp>
        <p:nvSpPr>
          <p:cNvPr id="10" name="箭头: 右 9"/>
          <p:cNvSpPr/>
          <p:nvPr/>
        </p:nvSpPr>
        <p:spPr bwMode="auto">
          <a:xfrm>
            <a:off x="2803871" y="5949280"/>
            <a:ext cx="327969" cy="17987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323850" y="5229200"/>
            <a:ext cx="856863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矩形 12"/>
          <p:cNvSpPr/>
          <p:nvPr/>
        </p:nvSpPr>
        <p:spPr>
          <a:xfrm>
            <a:off x="241878" y="5243136"/>
            <a:ext cx="4171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极</a:t>
            </a:r>
            <a:endParaRPr lang="en-US" altLang="zh-CN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/>
            <a:r>
              <a:rPr lang="zh-CN" altLang="en-US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坐</a:t>
            </a:r>
            <a:endParaRPr lang="en-US" altLang="zh-CN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/>
            <a:r>
              <a:rPr lang="zh-CN" altLang="en-US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标</a:t>
            </a:r>
            <a:endParaRPr lang="en-US" altLang="zh-CN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786559" y="5381636"/>
            <a:ext cx="6495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直角</a:t>
            </a:r>
            <a:endParaRPr lang="en-US" altLang="zh-CN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/>
            <a:r>
              <a:rPr lang="zh-CN" altLang="en-US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坐标</a:t>
            </a:r>
            <a:endParaRPr lang="en-US" altLang="zh-CN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对数图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8351838" cy="485246"/>
          </a:xfrm>
        </p:spPr>
        <p:txBody>
          <a:bodyPr/>
          <a:lstStyle/>
          <a:p>
            <a:r>
              <a:rPr lang="zh-CN" altLang="en-US" dirty="0"/>
              <a:t>对数图（</a:t>
            </a:r>
            <a:r>
              <a:rPr lang="en-US" altLang="zh-CN" dirty="0">
                <a:solidFill>
                  <a:srgbClr val="FF0000"/>
                </a:solidFill>
              </a:rPr>
              <a:t>semilogx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semilogy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loglog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3850" y="1753767"/>
            <a:ext cx="8064896" cy="244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lang="zh-CN" altLang="en-US" sz="2400" dirty="0">
                <a:ea typeface="楷体" panose="02010609060101010101" pitchFamily="49" charset="-122"/>
                <a:sym typeface="Wingdings" panose="05000000000000000000" pitchFamily="2" charset="2"/>
              </a:rPr>
              <a:t>线性图或直角坐标图：坐标均匀分割</a:t>
            </a:r>
            <a:endParaRPr lang="en-US" altLang="zh-CN" sz="2400" dirty="0"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lang="zh-CN" altLang="en-US" sz="2400" dirty="0">
                <a:ea typeface="楷体" panose="02010609060101010101" pitchFamily="49" charset="-122"/>
                <a:sym typeface="Wingdings" panose="05000000000000000000" pitchFamily="2" charset="2"/>
              </a:rPr>
              <a:t>对数图：坐标呈指数规律变化</a:t>
            </a:r>
            <a:endParaRPr lang="en-US" altLang="zh-CN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plot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400" dirty="0" err="1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x,y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均为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线性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</a:t>
            </a:r>
            <a:endParaRPr lang="en-US" altLang="zh-CN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semi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logx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(x, y)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为以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10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为底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对数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线性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</a:t>
            </a:r>
            <a:endParaRPr lang="zh-CN" altLang="en-US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semi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logy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(x, y)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线性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坐标，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为以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10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为底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对数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</a:t>
            </a:r>
            <a:endParaRPr lang="zh-CN" altLang="en-US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loglog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(x, y)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均为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对数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</a:t>
            </a:r>
            <a:endParaRPr lang="en-US" altLang="zh-CN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9511" y="4549829"/>
            <a:ext cx="5184576" cy="1785104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n-US" altLang="zh-CN" dirty="0"/>
              <a:t>x = 0 : 0.5 : 50;   y = 5 .* x .^ 2;</a:t>
            </a:r>
            <a:endParaRPr lang="en-US" altLang="zh-CN" dirty="0"/>
          </a:p>
          <a:p>
            <a:r>
              <a:rPr lang="en-US" altLang="zh-CN" dirty="0">
                <a:solidFill>
                  <a:srgbClr val="0000FF"/>
                </a:solidFill>
              </a:rPr>
              <a:t>subplot</a:t>
            </a:r>
            <a:r>
              <a:rPr lang="en-US" altLang="zh-CN" dirty="0"/>
              <a:t>(2, 2, 1),  </a:t>
            </a:r>
            <a:r>
              <a:rPr lang="en-US" altLang="zh-CN" dirty="0">
                <a:solidFill>
                  <a:srgbClr val="0000FF"/>
                </a:solidFill>
              </a:rPr>
              <a:t>plot</a:t>
            </a:r>
            <a:r>
              <a:rPr lang="en-US" altLang="zh-CN" dirty="0"/>
              <a:t>(x, y), </a:t>
            </a:r>
            <a:r>
              <a:rPr lang="en-US" altLang="zh-CN" dirty="0">
                <a:solidFill>
                  <a:srgbClr val="0000FF"/>
                </a:solidFill>
              </a:rPr>
              <a:t>title</a:t>
            </a:r>
            <a:r>
              <a:rPr lang="en-US" altLang="zh-CN" dirty="0"/>
              <a:t>('linear/linear')</a:t>
            </a:r>
            <a:endParaRPr lang="en-US" altLang="zh-CN" dirty="0"/>
          </a:p>
          <a:p>
            <a:r>
              <a:rPr lang="en-US" altLang="zh-CN" dirty="0">
                <a:solidFill>
                  <a:srgbClr val="0000FF"/>
                </a:solidFill>
              </a:rPr>
              <a:t>subplot</a:t>
            </a:r>
            <a:r>
              <a:rPr lang="en-US" altLang="zh-CN" dirty="0"/>
              <a:t>(2, 2, 2),  </a:t>
            </a:r>
            <a:r>
              <a:rPr lang="en-US" altLang="zh-CN" dirty="0">
                <a:solidFill>
                  <a:srgbClr val="0000FF"/>
                </a:solidFill>
              </a:rPr>
              <a:t>semilogx</a:t>
            </a:r>
            <a:r>
              <a:rPr lang="en-US" altLang="zh-CN" dirty="0"/>
              <a:t>(x, y), </a:t>
            </a:r>
            <a:r>
              <a:rPr lang="en-US" altLang="zh-CN" dirty="0">
                <a:solidFill>
                  <a:srgbClr val="0000FF"/>
                </a:solidFill>
              </a:rPr>
              <a:t>title</a:t>
            </a:r>
            <a:r>
              <a:rPr lang="en-US" altLang="zh-CN" dirty="0"/>
              <a:t>('log/linear')</a:t>
            </a:r>
            <a:endParaRPr lang="en-US" altLang="zh-CN" dirty="0"/>
          </a:p>
          <a:p>
            <a:r>
              <a:rPr lang="en-US" altLang="zh-CN" dirty="0">
                <a:solidFill>
                  <a:srgbClr val="0000FF"/>
                </a:solidFill>
              </a:rPr>
              <a:t>subplot</a:t>
            </a:r>
            <a:r>
              <a:rPr lang="en-US" altLang="zh-CN" dirty="0"/>
              <a:t>(2, 2, 3),  </a:t>
            </a:r>
            <a:r>
              <a:rPr lang="en-US" altLang="zh-CN" dirty="0">
                <a:solidFill>
                  <a:srgbClr val="0000FF"/>
                </a:solidFill>
              </a:rPr>
              <a:t>semilogy</a:t>
            </a:r>
            <a:r>
              <a:rPr lang="en-US" altLang="zh-CN" dirty="0"/>
              <a:t>(x, y), </a:t>
            </a:r>
            <a:r>
              <a:rPr lang="en-US" altLang="zh-CN" dirty="0">
                <a:solidFill>
                  <a:srgbClr val="0000FF"/>
                </a:solidFill>
              </a:rPr>
              <a:t>title</a:t>
            </a:r>
            <a:r>
              <a:rPr lang="en-US" altLang="zh-CN" dirty="0"/>
              <a:t>('linear/log')</a:t>
            </a:r>
            <a:endParaRPr lang="en-US" altLang="zh-CN" dirty="0"/>
          </a:p>
          <a:p>
            <a:r>
              <a:rPr lang="en-US" altLang="zh-CN" dirty="0">
                <a:solidFill>
                  <a:srgbClr val="0000FF"/>
                </a:solidFill>
              </a:rPr>
              <a:t>subplot</a:t>
            </a:r>
            <a:r>
              <a:rPr lang="en-US" altLang="zh-CN" dirty="0"/>
              <a:t>(2, 2, 4),   </a:t>
            </a:r>
            <a:r>
              <a:rPr lang="en-US" altLang="zh-CN" dirty="0">
                <a:solidFill>
                  <a:srgbClr val="0000FF"/>
                </a:solidFill>
              </a:rPr>
              <a:t>loglog</a:t>
            </a:r>
            <a:r>
              <a:rPr lang="en-US" altLang="zh-CN" dirty="0"/>
              <a:t>(x, y),  </a:t>
            </a:r>
            <a:r>
              <a:rPr lang="en-US" altLang="zh-CN" dirty="0">
                <a:solidFill>
                  <a:srgbClr val="0000FF"/>
                </a:solidFill>
              </a:rPr>
              <a:t>title</a:t>
            </a:r>
            <a:r>
              <a:rPr lang="en-US" altLang="zh-CN" dirty="0"/>
              <a:t>('log/log')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210" y="3899147"/>
            <a:ext cx="3564286" cy="282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l="8159" t="19841" r="2090" b="2870"/>
          <a:stretch>
            <a:fillRect/>
          </a:stretch>
        </p:blipFill>
        <p:spPr>
          <a:xfrm>
            <a:off x="4305572" y="3356992"/>
            <a:ext cx="4277276" cy="33123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二维绘图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轴图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351838" cy="898005"/>
          </a:xfrm>
        </p:spPr>
        <p:txBody>
          <a:bodyPr/>
          <a:lstStyle/>
          <a:p>
            <a:r>
              <a:rPr lang="zh-CN" altLang="en-US" dirty="0"/>
              <a:t>双</a:t>
            </a:r>
            <a:r>
              <a:rPr lang="en-US" altLang="zh-CN" dirty="0"/>
              <a:t>y</a:t>
            </a:r>
            <a:r>
              <a:rPr lang="zh-CN" altLang="en-US" dirty="0"/>
              <a:t>轴图（</a:t>
            </a:r>
            <a:r>
              <a:rPr lang="en-US" altLang="zh-CN" dirty="0" err="1">
                <a:solidFill>
                  <a:srgbClr val="FF0000"/>
                </a:solidFill>
              </a:rPr>
              <a:t>plotyy</a:t>
            </a:r>
            <a:r>
              <a:rPr lang="zh-CN" altLang="en-US" dirty="0"/>
              <a:t>）（</a:t>
            </a:r>
            <a:r>
              <a:rPr lang="en-US" altLang="zh-CN" dirty="0"/>
              <a:t>MATLAB</a:t>
            </a:r>
            <a:r>
              <a:rPr lang="zh-CN" altLang="en-US" dirty="0"/>
              <a:t>新版本：不推荐使用 </a:t>
            </a:r>
            <a:r>
              <a:rPr lang="en-US" altLang="zh-CN" dirty="0" err="1"/>
              <a:t>plotyy</a:t>
            </a:r>
            <a:r>
              <a:rPr lang="zh-CN" altLang="en-US" dirty="0"/>
              <a:t>，请改用 </a:t>
            </a:r>
            <a:r>
              <a:rPr lang="en-US" altLang="zh-CN" dirty="0" err="1">
                <a:solidFill>
                  <a:srgbClr val="FF0000"/>
                </a:solidFill>
              </a:rPr>
              <a:t>yyaxis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2098948"/>
            <a:ext cx="6768752" cy="8980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同一坐标图中显示两条数值区间差别很大的曲线</a:t>
            </a:r>
            <a:endParaRPr lang="en-US" altLang="zh-CN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ts val="3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创建具有两个 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 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轴的图形</a:t>
            </a:r>
            <a:endParaRPr lang="en-US" altLang="zh-CN" sz="2400" dirty="0"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7584" y="3228072"/>
            <a:ext cx="2375942" cy="2554545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s-ES" altLang="zh-CN" dirty="0"/>
              <a:t>x = 0 : pi /20 : 2 * pi;</a:t>
            </a:r>
            <a:endParaRPr lang="es-ES" altLang="zh-CN" dirty="0"/>
          </a:p>
          <a:p>
            <a:r>
              <a:rPr lang="es-ES" altLang="zh-CN" dirty="0"/>
              <a:t>y1 = sin(x);</a:t>
            </a:r>
            <a:endParaRPr lang="es-ES" altLang="zh-CN" dirty="0"/>
          </a:p>
          <a:p>
            <a:r>
              <a:rPr lang="es-ES" altLang="zh-CN" dirty="0"/>
              <a:t>y2 = exp(x);</a:t>
            </a:r>
            <a:endParaRPr lang="es-ES" altLang="zh-CN" dirty="0"/>
          </a:p>
          <a:p>
            <a:pPr>
              <a:spcBef>
                <a:spcPts val="600"/>
              </a:spcBef>
            </a:pPr>
            <a:r>
              <a:rPr lang="es-ES" altLang="zh-CN" dirty="0">
                <a:solidFill>
                  <a:srgbClr val="0000FF"/>
                </a:solidFill>
              </a:rPr>
              <a:t>subplot</a:t>
            </a:r>
            <a:r>
              <a:rPr lang="es-ES" altLang="zh-CN" dirty="0"/>
              <a:t>(2, 2, 2)</a:t>
            </a:r>
            <a:endParaRPr lang="es-ES" altLang="zh-CN" dirty="0"/>
          </a:p>
          <a:p>
            <a:r>
              <a:rPr lang="es-ES" altLang="zh-CN" dirty="0">
                <a:solidFill>
                  <a:srgbClr val="0000FF"/>
                </a:solidFill>
              </a:rPr>
              <a:t>plot</a:t>
            </a:r>
            <a:r>
              <a:rPr lang="es-ES" altLang="zh-CN" dirty="0"/>
              <a:t>(x, y1, x, y2)</a:t>
            </a:r>
            <a:endParaRPr lang="es-ES" altLang="zh-CN" dirty="0"/>
          </a:p>
          <a:p>
            <a:pPr>
              <a:spcBef>
                <a:spcPts val="600"/>
              </a:spcBef>
            </a:pPr>
            <a:r>
              <a:rPr lang="es-ES" altLang="zh-CN" dirty="0">
                <a:solidFill>
                  <a:srgbClr val="0000FF"/>
                </a:solidFill>
              </a:rPr>
              <a:t>subplot</a:t>
            </a:r>
            <a:r>
              <a:rPr lang="es-ES" altLang="zh-CN" dirty="0"/>
              <a:t>(2, 2, 3)</a:t>
            </a:r>
            <a:endParaRPr lang="es-ES" altLang="zh-CN" dirty="0"/>
          </a:p>
          <a:p>
            <a:r>
              <a:rPr lang="es-ES" altLang="zh-CN" dirty="0">
                <a:solidFill>
                  <a:srgbClr val="0000FF"/>
                </a:solidFill>
              </a:rPr>
              <a:t>plotyy</a:t>
            </a:r>
            <a:r>
              <a:rPr lang="es-ES" altLang="zh-CN" dirty="0"/>
              <a:t>(x, y1, x, y2)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91260" y="3228072"/>
            <a:ext cx="1728192" cy="1785104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n-US" altLang="zh-CN" sz="2000" dirty="0">
                <a:latin typeface="+mn-lt"/>
              </a:rPr>
              <a:t>(2, 2, 4)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 err="1">
                <a:solidFill>
                  <a:srgbClr val="0000FF"/>
                </a:solidFill>
                <a:latin typeface="+mn-lt"/>
              </a:rPr>
              <a:t>yyaxis</a:t>
            </a:r>
            <a:r>
              <a:rPr lang="en-US" altLang="zh-CN" sz="2000" dirty="0">
                <a:latin typeface="+mn-lt"/>
              </a:rPr>
              <a:t> left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n-US" altLang="zh-CN" sz="2000" dirty="0">
                <a:latin typeface="+mn-lt"/>
              </a:rPr>
              <a:t>(x, y1)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 err="1">
                <a:solidFill>
                  <a:srgbClr val="0000FF"/>
                </a:solidFill>
                <a:latin typeface="+mn-lt"/>
              </a:rPr>
              <a:t>yyaxis</a:t>
            </a:r>
            <a:r>
              <a:rPr lang="en-US" altLang="zh-CN" sz="2000" dirty="0">
                <a:latin typeface="+mn-lt"/>
              </a:rPr>
              <a:t> right</a:t>
            </a:r>
            <a:endParaRPr lang="en-US" altLang="zh-CN" sz="2000" dirty="0">
              <a:latin typeface="+mn-lt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n-US" altLang="zh-CN" sz="2000" dirty="0">
                <a:latin typeface="+mn-lt"/>
              </a:rPr>
              <a:t>(x, y2)</a:t>
            </a:r>
            <a:endParaRPr lang="zh-CN" alt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850" y="1071245"/>
            <a:ext cx="8352155" cy="5392420"/>
          </a:xfrm>
        </p:spPr>
        <p:txBody>
          <a:bodyPr/>
          <a:lstStyle/>
          <a:p>
            <a:pPr algn="l">
              <a:buSzTx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 latinLnBrk="0">
              <a:spcBef>
                <a:spcPts val="600"/>
              </a:spcBef>
              <a:spcAft>
                <a:spcPts val="300"/>
              </a:spcAft>
              <a:buClrTx/>
              <a:buSzTx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二维图形绘制</a:t>
            </a:r>
            <a:endParaRPr lang="zh-CN" altLang="en-US"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cs typeface="+mn-lt"/>
              </a:rPr>
              <a:t>基础曲线绘制、图形标注与坐标控制、子图、特殊坐标系图形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(</a:t>
            </a:r>
            <a:r>
              <a:rPr lang="zh-CN" altLang="en-US" dirty="0">
                <a:solidFill>
                  <a:schemeClr val="tx1"/>
                </a:solidFill>
                <a:cs typeface="+mn-lt"/>
              </a:rPr>
              <a:t>极坐标、对数坐标、双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y</a:t>
            </a:r>
            <a:r>
              <a:rPr lang="zh-CN" altLang="en-US" dirty="0">
                <a:solidFill>
                  <a:schemeClr val="tx1"/>
                </a:solidFill>
                <a:cs typeface="+mn-lt"/>
              </a:rPr>
              <a:t>轴坐标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)</a:t>
            </a:r>
            <a:endParaRPr lang="zh-CN" altLang="en-US" dirty="0">
              <a:solidFill>
                <a:schemeClr val="tx1"/>
              </a:solidFill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三维图形绘制</a:t>
            </a:r>
            <a:endParaRPr lang="zh-CN" altLang="en-US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ea typeface="楷体" panose="02010609060101010101" pitchFamily="49" charset="-122"/>
                <a:cs typeface="+mn-lt"/>
              </a:rPr>
              <a:t>三维曲线、三维曲面、色彩处理、等高图</a:t>
            </a:r>
            <a:endParaRPr lang="zh-CN" altLang="en-US" dirty="0">
              <a:solidFill>
                <a:srgbClr val="0000FF"/>
              </a:solidFill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特殊图形绘制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ea typeface="楷体" panose="02010609060101010101" pitchFamily="49" charset="-122"/>
                <a:cs typeface="+mn-lt"/>
              </a:rPr>
              <a:t>饼图、条形图、直方图</a:t>
            </a:r>
            <a:endParaRPr lang="zh-CN" altLang="en-US" sz="2000" dirty="0"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图形窗口操作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ea typeface="楷体" panose="02010609060101010101" pitchFamily="49" charset="-122"/>
                <a:cs typeface="+mn-lt"/>
              </a:rPr>
              <a:t>图形窗口创建与管理、图形句柄与属性设置</a:t>
            </a:r>
            <a:endParaRPr lang="zh-CN" altLang="en-US" sz="2000" dirty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1460" y="44450"/>
            <a:ext cx="8234045" cy="72072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Ch06  MATLAB</a:t>
            </a:r>
            <a:r>
              <a:rPr lang="zh-CN" altLang="en-US" dirty="0">
                <a:sym typeface="+mn-ea"/>
              </a:rPr>
              <a:t>绘图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7560840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三维曲线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三维曲面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3240038" cy="629262"/>
          </a:xfrm>
        </p:spPr>
        <p:txBody>
          <a:bodyPr/>
          <a:lstStyle/>
          <a:p>
            <a:r>
              <a:rPr lang="zh-CN" altLang="en-US" dirty="0"/>
              <a:t>三维曲线（</a:t>
            </a:r>
            <a:r>
              <a:rPr lang="en-US" altLang="zh-CN" dirty="0">
                <a:solidFill>
                  <a:srgbClr val="FF0000"/>
                </a:solidFill>
              </a:rPr>
              <a:t>plot3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3850" y="1700808"/>
            <a:ext cx="8496300" cy="2880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plot3(x, y, z)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长度相同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的向量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对应三维坐标系中数据点的坐标值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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plot3(X, Y, Z)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：参数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同型矩阵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时，以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对应列元素绘制曲线，曲线条数等于矩阵列数（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按列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绘图）；  参数 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中有向量也有矩阵时，向量长度应与矩阵匹配</a:t>
            </a:r>
            <a:endParaRPr lang="en-US" altLang="zh-CN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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plot3(x1, y1, z1, x2, y2, z2, …,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xn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yn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zn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：绘制多条曲线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.</a:t>
            </a:r>
            <a:endParaRPr lang="en-US" altLang="zh-CN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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plot3(x, y, z, 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LineSpec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：设置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线条样式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线型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标记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颜色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63888" y="2132856"/>
            <a:ext cx="4314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向量中相邻索引值的数据点进行连线</a:t>
            </a:r>
            <a:endParaRPr lang="zh-CN" altLang="en-US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874" y="4797152"/>
            <a:ext cx="4968230" cy="1785104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s-ES" altLang="zh-CN" dirty="0"/>
              <a:t>x = linspace(0, 10*pi, 1000);</a:t>
            </a:r>
            <a:endParaRPr lang="es-ES" altLang="zh-CN" dirty="0"/>
          </a:p>
          <a:p>
            <a:r>
              <a:rPr lang="es-ES" altLang="zh-CN" dirty="0"/>
              <a:t>y = cos(x);</a:t>
            </a:r>
            <a:endParaRPr lang="es-ES" altLang="zh-CN" dirty="0"/>
          </a:p>
          <a:p>
            <a:r>
              <a:rPr lang="es-ES" altLang="zh-CN" dirty="0"/>
              <a:t>z = sin(x);</a:t>
            </a:r>
            <a:endParaRPr lang="es-ES" altLang="zh-CN" dirty="0"/>
          </a:p>
          <a:p>
            <a:r>
              <a:rPr lang="es-ES" altLang="zh-CN" dirty="0">
                <a:solidFill>
                  <a:srgbClr val="0000FF"/>
                </a:solidFill>
              </a:rPr>
              <a:t>plot3</a:t>
            </a:r>
            <a:r>
              <a:rPr lang="es-ES" altLang="zh-CN" dirty="0"/>
              <a:t>(x, y, z) </a:t>
            </a:r>
            <a:endParaRPr lang="es-ES" altLang="zh-CN" dirty="0"/>
          </a:p>
          <a:p>
            <a:r>
              <a:rPr lang="en-US" altLang="zh-CN" dirty="0" err="1">
                <a:solidFill>
                  <a:srgbClr val="0000FF"/>
                </a:solidFill>
              </a:rPr>
              <a:t>xlabel</a:t>
            </a:r>
            <a:r>
              <a:rPr lang="en-US" altLang="zh-CN" dirty="0"/>
              <a:t>('axis-x'); </a:t>
            </a:r>
            <a:r>
              <a:rPr lang="en-US" altLang="zh-CN" dirty="0" err="1">
                <a:solidFill>
                  <a:srgbClr val="0000FF"/>
                </a:solidFill>
              </a:rPr>
              <a:t>ylabel</a:t>
            </a:r>
            <a:r>
              <a:rPr lang="en-US" altLang="zh-CN" dirty="0"/>
              <a:t>('axis-y'); </a:t>
            </a:r>
            <a:r>
              <a:rPr lang="en-US" altLang="zh-CN" dirty="0" err="1">
                <a:solidFill>
                  <a:srgbClr val="0000FF"/>
                </a:solidFill>
              </a:rPr>
              <a:t>zlabel</a:t>
            </a:r>
            <a:r>
              <a:rPr lang="en-US" altLang="zh-CN" dirty="0"/>
              <a:t>('axis-z')</a:t>
            </a:r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5796136" y="4643697"/>
            <a:ext cx="3067483" cy="2091428"/>
            <a:chOff x="5868144" y="4643697"/>
            <a:chExt cx="3067483" cy="2091428"/>
          </a:xfrm>
        </p:grpSpPr>
        <p:sp>
          <p:nvSpPr>
            <p:cNvPr id="8" name="文本框 7"/>
            <p:cNvSpPr txBox="1"/>
            <p:nvPr/>
          </p:nvSpPr>
          <p:spPr>
            <a:xfrm>
              <a:off x="8492877" y="4873803"/>
              <a:ext cx="442750" cy="1631216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>
                <a:defRPr sz="2000" b="1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</a:lstStyle>
            <a:p>
              <a:r>
                <a:rPr lang="zh-CN" altLang="en-US" dirty="0"/>
                <a:t>右</a:t>
              </a:r>
              <a:endParaRPr lang="en-US" altLang="zh-CN" dirty="0"/>
            </a:p>
            <a:p>
              <a:r>
                <a:rPr lang="zh-CN" altLang="en-US" dirty="0"/>
                <a:t>手</a:t>
              </a:r>
              <a:endParaRPr lang="en-US" altLang="zh-CN" dirty="0"/>
            </a:p>
            <a:p>
              <a:r>
                <a:rPr lang="zh-CN" altLang="en-US" dirty="0"/>
                <a:t>坐</a:t>
              </a:r>
              <a:endParaRPr lang="en-US" altLang="zh-CN" dirty="0"/>
            </a:p>
            <a:p>
              <a:r>
                <a:rPr lang="zh-CN" altLang="en-US" dirty="0"/>
                <a:t>标</a:t>
              </a:r>
              <a:endParaRPr lang="en-US" altLang="zh-CN" dirty="0"/>
            </a:p>
            <a:p>
              <a:r>
                <a:rPr lang="zh-CN" altLang="en-US" dirty="0"/>
                <a:t>系</a:t>
              </a:r>
              <a:endParaRPr lang="zh-CN" altLang="en-US" dirty="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868144" y="4643697"/>
              <a:ext cx="2614286" cy="2091428"/>
            </a:xfrm>
            <a:prstGeom prst="rect">
              <a:avLst/>
            </a:prstGeom>
          </p:spPr>
        </p:pic>
        <p:cxnSp>
          <p:nvCxnSpPr>
            <p:cNvPr id="14" name="直接箭头连接符 13"/>
            <p:cNvCxnSpPr/>
            <p:nvPr/>
          </p:nvCxnSpPr>
          <p:spPr bwMode="auto">
            <a:xfrm flipV="1">
              <a:off x="7380312" y="6352211"/>
              <a:ext cx="1080120" cy="34494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直接箭头连接符 15"/>
            <p:cNvCxnSpPr/>
            <p:nvPr/>
          </p:nvCxnSpPr>
          <p:spPr bwMode="auto">
            <a:xfrm flipH="1" flipV="1">
              <a:off x="6156176" y="6209517"/>
              <a:ext cx="792088" cy="45984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直接箭头连接符 17"/>
            <p:cNvCxnSpPr/>
            <p:nvPr/>
          </p:nvCxnSpPr>
          <p:spPr bwMode="auto">
            <a:xfrm flipV="1">
              <a:off x="6031824" y="5013304"/>
              <a:ext cx="0" cy="100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7560840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三维曲线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三维曲面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4104134" cy="629262"/>
          </a:xfrm>
        </p:spPr>
        <p:txBody>
          <a:bodyPr/>
          <a:lstStyle/>
          <a:p>
            <a:r>
              <a:rPr lang="zh-CN" altLang="en-US" dirty="0"/>
              <a:t>三维曲面（</a:t>
            </a:r>
            <a:r>
              <a:rPr lang="en-US" altLang="zh-CN" dirty="0">
                <a:solidFill>
                  <a:srgbClr val="FF0000"/>
                </a:solidFill>
              </a:rPr>
              <a:t>mesh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surf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31540" y="1723483"/>
            <a:ext cx="7992888" cy="9134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mesh(X, Y, Z)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网格曲面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图，有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实色边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颜色，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无面颜色</a:t>
            </a:r>
            <a:endParaRPr lang="en-US" altLang="zh-CN" sz="2400" dirty="0">
              <a:solidFill>
                <a:srgbClr val="0000FF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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surf (X, Y, Z)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着色曲面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图，有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实色边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实色面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27452" y="1004260"/>
            <a:ext cx="41376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确定网格连线</a:t>
            </a:r>
            <a:endParaRPr lang="en-US" altLang="zh-CN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确定</a:t>
            </a:r>
            <a:r>
              <a:rPr lang="es-E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x-y </a:t>
            </a:r>
            <a:r>
              <a:rPr lang="zh-CN" altLang="es-E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平面中的网格上方的高度</a:t>
            </a:r>
            <a:endParaRPr lang="zh-CN" altLang="en-US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191" y="3861048"/>
            <a:ext cx="8047619" cy="287619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16756" y="2706357"/>
            <a:ext cx="2006076" cy="1031051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pl-PL" altLang="zh-CN" sz="1800" dirty="0"/>
              <a:t>X = [</a:t>
            </a:r>
            <a:r>
              <a:rPr lang="pl-PL" altLang="zh-CN" sz="1800" dirty="0">
                <a:solidFill>
                  <a:srgbClr val="0000FF"/>
                </a:solidFill>
              </a:rPr>
              <a:t>1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2</a:t>
            </a:r>
            <a:r>
              <a:rPr lang="pl-PL" altLang="zh-CN" sz="1800" dirty="0"/>
              <a:t>; </a:t>
            </a:r>
            <a:r>
              <a:rPr lang="en-US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2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3</a:t>
            </a:r>
            <a:r>
              <a:rPr lang="pl-PL" altLang="zh-CN" sz="1800" dirty="0"/>
              <a:t>;</a:t>
            </a:r>
            <a:r>
              <a:rPr lang="en-US" altLang="zh-CN" sz="1800" dirty="0"/>
              <a:t> </a:t>
            </a:r>
            <a:r>
              <a:rPr lang="pl-PL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1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2</a:t>
            </a:r>
            <a:r>
              <a:rPr lang="pl-PL" altLang="zh-CN" sz="1800" dirty="0"/>
              <a:t>];</a:t>
            </a:r>
            <a:endParaRPr lang="pl-PL" altLang="zh-CN" sz="1800" dirty="0"/>
          </a:p>
          <a:p>
            <a:r>
              <a:rPr lang="pl-PL" altLang="zh-CN" sz="1800" dirty="0"/>
              <a:t>Y = [</a:t>
            </a:r>
            <a:r>
              <a:rPr lang="pl-PL" altLang="zh-CN" sz="1800" dirty="0">
                <a:solidFill>
                  <a:srgbClr val="0000FF"/>
                </a:solidFill>
              </a:rPr>
              <a:t>1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1</a:t>
            </a:r>
            <a:r>
              <a:rPr lang="pl-PL" altLang="zh-CN" sz="1800" dirty="0"/>
              <a:t>; </a:t>
            </a:r>
            <a:r>
              <a:rPr lang="en-US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2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2</a:t>
            </a:r>
            <a:r>
              <a:rPr lang="pl-PL" altLang="zh-CN" sz="1800" dirty="0"/>
              <a:t>; </a:t>
            </a:r>
            <a:r>
              <a:rPr lang="en-US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3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3</a:t>
            </a:r>
            <a:r>
              <a:rPr lang="pl-PL" altLang="zh-CN" sz="1800" dirty="0"/>
              <a:t>];</a:t>
            </a:r>
            <a:endParaRPr lang="pl-PL" altLang="zh-CN" sz="1800" dirty="0"/>
          </a:p>
          <a:p>
            <a:r>
              <a:rPr lang="pl-PL" altLang="zh-CN" sz="1800" dirty="0"/>
              <a:t>Z = [</a:t>
            </a:r>
            <a:r>
              <a:rPr lang="pl-PL" altLang="zh-CN" sz="1800" dirty="0">
                <a:solidFill>
                  <a:srgbClr val="0000FF"/>
                </a:solidFill>
              </a:rPr>
              <a:t>7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7</a:t>
            </a:r>
            <a:r>
              <a:rPr lang="pl-PL" altLang="zh-CN" sz="1800" dirty="0"/>
              <a:t>;</a:t>
            </a:r>
            <a:r>
              <a:rPr lang="en-US" altLang="zh-CN" sz="1800" dirty="0"/>
              <a:t> </a:t>
            </a:r>
            <a:r>
              <a:rPr lang="pl-PL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8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9</a:t>
            </a:r>
            <a:r>
              <a:rPr lang="pl-PL" altLang="zh-CN" sz="1800" dirty="0"/>
              <a:t>; </a:t>
            </a:r>
            <a:r>
              <a:rPr lang="en-US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7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8</a:t>
            </a:r>
            <a:r>
              <a:rPr lang="pl-PL" altLang="zh-CN" sz="1800" dirty="0"/>
              <a:t>];</a:t>
            </a:r>
            <a:endParaRPr lang="zh-CN" altLang="en-US" sz="1800" dirty="0"/>
          </a:p>
        </p:txBody>
      </p:sp>
      <p:sp>
        <p:nvSpPr>
          <p:cNvPr id="34" name="文本框 33"/>
          <p:cNvSpPr txBox="1"/>
          <p:nvPr/>
        </p:nvSpPr>
        <p:spPr>
          <a:xfrm>
            <a:off x="2143161" y="2694946"/>
            <a:ext cx="6984000" cy="1031051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n-US" altLang="zh-CN" sz="1800" dirty="0"/>
              <a:t>subplot(1,3,1), </a:t>
            </a:r>
            <a:r>
              <a:rPr lang="en-US" altLang="zh-CN" sz="1800" dirty="0">
                <a:solidFill>
                  <a:srgbClr val="0000FF"/>
                </a:solidFill>
              </a:rPr>
              <a:t>plot3</a:t>
            </a:r>
            <a:r>
              <a:rPr lang="en-US" altLang="zh-CN" sz="1800" dirty="0"/>
              <a:t>(X,Y,Z), grid on, title('plot3','FontSize',20), axis equal</a:t>
            </a:r>
            <a:endParaRPr lang="en-US" altLang="zh-CN" sz="1800" dirty="0"/>
          </a:p>
          <a:p>
            <a:r>
              <a:rPr lang="en-US" altLang="zh-CN" sz="1800" dirty="0"/>
              <a:t>subplot(1,3,2), </a:t>
            </a:r>
            <a:r>
              <a:rPr lang="en-US" altLang="zh-CN" sz="1800" dirty="0">
                <a:solidFill>
                  <a:srgbClr val="0000FF"/>
                </a:solidFill>
              </a:rPr>
              <a:t>mesh</a:t>
            </a:r>
            <a:r>
              <a:rPr lang="en-US" altLang="zh-CN" sz="1800" dirty="0"/>
              <a:t>(X,Y,Z), title('mesh','FontSize',20), axis equal</a:t>
            </a:r>
            <a:endParaRPr lang="en-US" altLang="zh-CN" sz="1800" dirty="0"/>
          </a:p>
          <a:p>
            <a:r>
              <a:rPr lang="en-US" altLang="zh-CN" sz="1800" dirty="0"/>
              <a:t>subplot(1,3,3), </a:t>
            </a:r>
            <a:r>
              <a:rPr lang="en-US" altLang="zh-CN" sz="1800" dirty="0">
                <a:solidFill>
                  <a:srgbClr val="0000FF"/>
                </a:solidFill>
              </a:rPr>
              <a:t>surf</a:t>
            </a:r>
            <a:r>
              <a:rPr lang="en-US" altLang="zh-CN" sz="1800" dirty="0"/>
              <a:t>(X,Y,Z), title('surf','FontSize',20), axis equal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3635896" y="3861048"/>
            <a:ext cx="5319953" cy="2876190"/>
            <a:chOff x="548191" y="3861048"/>
            <a:chExt cx="5319953" cy="287619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1"/>
            <a:srcRect r="33894"/>
            <a:stretch>
              <a:fillRect/>
            </a:stretch>
          </p:blipFill>
          <p:spPr>
            <a:xfrm>
              <a:off x="548191" y="3861048"/>
              <a:ext cx="5319953" cy="2876190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/>
          </p:nvSpPr>
          <p:spPr>
            <a:xfrm>
              <a:off x="1276992" y="6239235"/>
              <a:ext cx="8458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0000FF"/>
                  </a:solidFill>
                  <a:latin typeface="+mn-lt"/>
                  <a:ea typeface="楷体" panose="02010609060101010101" pitchFamily="49" charset="-122"/>
                  <a:sym typeface="Wingdings" panose="05000000000000000000" pitchFamily="2" charset="2"/>
                </a:rPr>
                <a:t>(1, 1, 7)</a:t>
              </a:r>
              <a:endParaRPr lang="zh-CN" altLang="en-US" sz="1400" b="1" dirty="0">
                <a:solidFill>
                  <a:srgbClr val="0000FF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952997" y="5981741"/>
              <a:ext cx="8458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400" b="1">
                  <a:solidFill>
                    <a:srgbClr val="F321F3"/>
                  </a:solidFill>
                  <a:latin typeface="+mn-lt"/>
                  <a:ea typeface="楷体" panose="02010609060101010101" pitchFamily="49" charset="-122"/>
                </a:defRPr>
              </a:lvl1pPr>
            </a:lstStyle>
            <a:p>
              <a:r>
                <a:rPr lang="en-US" altLang="zh-CN" dirty="0">
                  <a:sym typeface="Wingdings" panose="05000000000000000000" pitchFamily="2" charset="2"/>
                </a:rPr>
                <a:t>(2, 1, 7)</a:t>
              </a:r>
              <a:endParaRPr lang="zh-CN" altLang="en-US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051720" y="4230823"/>
              <a:ext cx="8458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F321F3"/>
                  </a:solidFill>
                  <a:latin typeface="+mn-lt"/>
                  <a:ea typeface="楷体" panose="02010609060101010101" pitchFamily="49" charset="-122"/>
                  <a:sym typeface="Wingdings" panose="05000000000000000000" pitchFamily="2" charset="2"/>
                </a:rPr>
                <a:t>(3, 2, 9)</a:t>
              </a:r>
              <a:endParaRPr lang="zh-CN" altLang="en-US" sz="1400" b="1" dirty="0">
                <a:solidFill>
                  <a:srgbClr val="F321F3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09836" y="4764116"/>
              <a:ext cx="8458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F321F3"/>
                  </a:solidFill>
                  <a:latin typeface="+mn-lt"/>
                  <a:ea typeface="楷体" panose="02010609060101010101" pitchFamily="49" charset="-122"/>
                  <a:sym typeface="Wingdings" panose="05000000000000000000" pitchFamily="2" charset="2"/>
                </a:rPr>
                <a:t>(2, 3, 8)</a:t>
              </a:r>
              <a:endParaRPr lang="zh-CN" altLang="en-US" sz="1400" b="1" dirty="0">
                <a:solidFill>
                  <a:srgbClr val="F321F3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454710" y="5146987"/>
              <a:ext cx="8458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0000FF"/>
                  </a:solidFill>
                  <a:latin typeface="+mn-lt"/>
                  <a:ea typeface="楷体" panose="02010609060101010101" pitchFamily="49" charset="-122"/>
                  <a:sym typeface="Wingdings" panose="05000000000000000000" pitchFamily="2" charset="2"/>
                </a:rPr>
                <a:t>(2, 2, 8)</a:t>
              </a:r>
              <a:endParaRPr lang="zh-CN" altLang="en-US" sz="1400" b="1" dirty="0">
                <a:solidFill>
                  <a:srgbClr val="0000FF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69155" y="5802711"/>
              <a:ext cx="8458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0000FF"/>
                  </a:solidFill>
                  <a:latin typeface="+mn-lt"/>
                  <a:ea typeface="楷体" panose="02010609060101010101" pitchFamily="49" charset="-122"/>
                  <a:sym typeface="Wingdings" panose="05000000000000000000" pitchFamily="2" charset="2"/>
                </a:rPr>
                <a:t>(1, 3, 7)</a:t>
              </a:r>
              <a:endParaRPr lang="zh-CN" altLang="en-US" sz="14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7560840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三维曲线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/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三维曲面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4104134" cy="629262"/>
          </a:xfrm>
        </p:spPr>
        <p:txBody>
          <a:bodyPr/>
          <a:lstStyle/>
          <a:p>
            <a:r>
              <a:rPr lang="zh-CN" altLang="en-US" dirty="0"/>
              <a:t>三维曲面（</a:t>
            </a:r>
            <a:r>
              <a:rPr lang="en-US" altLang="zh-CN" dirty="0">
                <a:solidFill>
                  <a:srgbClr val="FF0000"/>
                </a:solidFill>
              </a:rPr>
              <a:t>mesh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surf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31540" y="1723483"/>
            <a:ext cx="7992888" cy="9134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mesh(X, Y, Z)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网格曲面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图，有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实色边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颜色，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无面颜色</a:t>
            </a:r>
            <a:endParaRPr lang="en-US" altLang="zh-CN" sz="2400" dirty="0">
              <a:solidFill>
                <a:srgbClr val="0000FF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lvl="0"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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surf (X, Y, Z)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曲面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图，有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实色边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实色面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27452" y="1004260"/>
            <a:ext cx="41376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确定网格连线</a:t>
            </a:r>
            <a:endParaRPr lang="en-US" altLang="zh-CN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确定</a:t>
            </a:r>
            <a:r>
              <a:rPr lang="es-E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x-y </a:t>
            </a:r>
            <a:r>
              <a:rPr lang="zh-CN" altLang="es-E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平面中的网格上方的高度</a:t>
            </a:r>
            <a:endParaRPr lang="zh-CN" altLang="en-US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143161" y="2694946"/>
            <a:ext cx="6984000" cy="1031051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n-US" altLang="zh-CN" sz="1800" dirty="0"/>
              <a:t>subplot(1,3,1), </a:t>
            </a:r>
            <a:r>
              <a:rPr lang="en-US" altLang="zh-CN" sz="1800" dirty="0">
                <a:solidFill>
                  <a:srgbClr val="0000FF"/>
                </a:solidFill>
              </a:rPr>
              <a:t>plot3</a:t>
            </a:r>
            <a:r>
              <a:rPr lang="en-US" altLang="zh-CN" sz="1800" dirty="0"/>
              <a:t>(X,Y,Z), grid on, title('plot3','FontSize',20), axis equal</a:t>
            </a:r>
            <a:endParaRPr lang="en-US" altLang="zh-CN" sz="1800" dirty="0"/>
          </a:p>
          <a:p>
            <a:r>
              <a:rPr lang="en-US" altLang="zh-CN" sz="1800" dirty="0"/>
              <a:t>subplot(1,3,2), </a:t>
            </a:r>
            <a:r>
              <a:rPr lang="en-US" altLang="zh-CN" sz="1800" dirty="0">
                <a:solidFill>
                  <a:srgbClr val="0000FF"/>
                </a:solidFill>
              </a:rPr>
              <a:t>mesh</a:t>
            </a:r>
            <a:r>
              <a:rPr lang="en-US" altLang="zh-CN" sz="1800" dirty="0"/>
              <a:t>(X,Y,Z), title('mesh','FontSize',20), axis equal</a:t>
            </a:r>
            <a:endParaRPr lang="en-US" altLang="zh-CN" sz="1800" dirty="0"/>
          </a:p>
          <a:p>
            <a:r>
              <a:rPr lang="en-US" altLang="zh-CN" sz="1800" dirty="0"/>
              <a:t>subplot(1,3,3), </a:t>
            </a:r>
            <a:r>
              <a:rPr lang="en-US" altLang="zh-CN" sz="1800" dirty="0">
                <a:solidFill>
                  <a:srgbClr val="0000FF"/>
                </a:solidFill>
              </a:rPr>
              <a:t>surf</a:t>
            </a:r>
            <a:r>
              <a:rPr lang="en-US" altLang="zh-CN" sz="1800" dirty="0"/>
              <a:t>(X,Y,Z), title('surf','FontSize',20), axis equal</a:t>
            </a:r>
            <a:endParaRPr lang="zh-CN" altLang="en-US" sz="1800" dirty="0"/>
          </a:p>
        </p:txBody>
      </p:sp>
      <p:sp>
        <p:nvSpPr>
          <p:cNvPr id="10" name="文本框 9"/>
          <p:cNvSpPr txBox="1"/>
          <p:nvPr/>
        </p:nvSpPr>
        <p:spPr>
          <a:xfrm>
            <a:off x="116756" y="2706357"/>
            <a:ext cx="2006076" cy="1031051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pl-PL" altLang="zh-CN" sz="1800" dirty="0"/>
              <a:t>X = [</a:t>
            </a:r>
            <a:r>
              <a:rPr lang="pl-PL" altLang="zh-CN" sz="1800" dirty="0">
                <a:solidFill>
                  <a:srgbClr val="0000FF"/>
                </a:solidFill>
              </a:rPr>
              <a:t>1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2</a:t>
            </a:r>
            <a:r>
              <a:rPr lang="pl-PL" altLang="zh-CN" sz="1800" dirty="0"/>
              <a:t>; </a:t>
            </a:r>
            <a:r>
              <a:rPr lang="en-US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2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3</a:t>
            </a:r>
            <a:r>
              <a:rPr lang="pl-PL" altLang="zh-CN" sz="1800" dirty="0"/>
              <a:t>;</a:t>
            </a:r>
            <a:r>
              <a:rPr lang="en-US" altLang="zh-CN" sz="1800" dirty="0"/>
              <a:t> </a:t>
            </a:r>
            <a:r>
              <a:rPr lang="pl-PL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1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2</a:t>
            </a:r>
            <a:r>
              <a:rPr lang="pl-PL" altLang="zh-CN" sz="1800" dirty="0"/>
              <a:t>];</a:t>
            </a:r>
            <a:endParaRPr lang="pl-PL" altLang="zh-CN" sz="1800" dirty="0"/>
          </a:p>
          <a:p>
            <a:r>
              <a:rPr lang="pl-PL" altLang="zh-CN" sz="1800" dirty="0"/>
              <a:t>Y = [</a:t>
            </a:r>
            <a:r>
              <a:rPr lang="pl-PL" altLang="zh-CN" sz="1800" dirty="0">
                <a:solidFill>
                  <a:srgbClr val="0000FF"/>
                </a:solidFill>
              </a:rPr>
              <a:t>1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1</a:t>
            </a:r>
            <a:r>
              <a:rPr lang="pl-PL" altLang="zh-CN" sz="1800" dirty="0"/>
              <a:t>; </a:t>
            </a:r>
            <a:r>
              <a:rPr lang="en-US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2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2</a:t>
            </a:r>
            <a:r>
              <a:rPr lang="pl-PL" altLang="zh-CN" sz="1800" dirty="0"/>
              <a:t>; </a:t>
            </a:r>
            <a:r>
              <a:rPr lang="en-US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3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3</a:t>
            </a:r>
            <a:r>
              <a:rPr lang="pl-PL" altLang="zh-CN" sz="1800" dirty="0"/>
              <a:t>];</a:t>
            </a:r>
            <a:endParaRPr lang="pl-PL" altLang="zh-CN" sz="1800" dirty="0"/>
          </a:p>
          <a:p>
            <a:r>
              <a:rPr lang="pl-PL" altLang="zh-CN" sz="1800" dirty="0"/>
              <a:t>Z = [</a:t>
            </a:r>
            <a:r>
              <a:rPr lang="pl-PL" altLang="zh-CN" sz="1800" dirty="0">
                <a:solidFill>
                  <a:srgbClr val="0000FF"/>
                </a:solidFill>
              </a:rPr>
              <a:t>7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7</a:t>
            </a:r>
            <a:r>
              <a:rPr lang="pl-PL" altLang="zh-CN" sz="1800" dirty="0"/>
              <a:t>;</a:t>
            </a:r>
            <a:r>
              <a:rPr lang="en-US" altLang="zh-CN" sz="1800" dirty="0"/>
              <a:t> </a:t>
            </a:r>
            <a:r>
              <a:rPr lang="pl-PL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8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9</a:t>
            </a:r>
            <a:r>
              <a:rPr lang="pl-PL" altLang="zh-CN" sz="1800" dirty="0"/>
              <a:t>; </a:t>
            </a:r>
            <a:r>
              <a:rPr lang="en-US" altLang="zh-CN" sz="1800" dirty="0"/>
              <a:t> </a:t>
            </a:r>
            <a:r>
              <a:rPr lang="pl-PL" altLang="zh-CN" sz="1800" dirty="0">
                <a:solidFill>
                  <a:srgbClr val="0000FF"/>
                </a:solidFill>
              </a:rPr>
              <a:t>7</a:t>
            </a:r>
            <a:r>
              <a:rPr lang="pl-PL" altLang="zh-CN" sz="1800" dirty="0"/>
              <a:t>,</a:t>
            </a:r>
            <a:r>
              <a:rPr lang="pl-PL" altLang="zh-CN" sz="1800" dirty="0">
                <a:solidFill>
                  <a:srgbClr val="FF00FF"/>
                </a:solidFill>
              </a:rPr>
              <a:t>8</a:t>
            </a:r>
            <a:r>
              <a:rPr lang="pl-PL" altLang="zh-CN" sz="1800" dirty="0"/>
              <a:t>];</a:t>
            </a:r>
            <a:endParaRPr lang="zh-CN" altLang="en-US" sz="18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184786" y="1386178"/>
            <a:ext cx="6928888" cy="5451333"/>
            <a:chOff x="184786" y="1386178"/>
            <a:chExt cx="6928888" cy="5451333"/>
          </a:xfrm>
        </p:grpSpPr>
        <p:grpSp>
          <p:nvGrpSpPr>
            <p:cNvPr id="22" name="组合 21"/>
            <p:cNvGrpSpPr/>
            <p:nvPr/>
          </p:nvGrpSpPr>
          <p:grpSpPr>
            <a:xfrm>
              <a:off x="3972518" y="3899105"/>
              <a:ext cx="470375" cy="628329"/>
              <a:chOff x="3972518" y="3899105"/>
              <a:chExt cx="470375" cy="628329"/>
            </a:xfrm>
          </p:grpSpPr>
          <p:cxnSp>
            <p:nvCxnSpPr>
              <p:cNvPr id="41" name="直接连接符 40"/>
              <p:cNvCxnSpPr/>
              <p:nvPr/>
            </p:nvCxnSpPr>
            <p:spPr bwMode="auto">
              <a:xfrm>
                <a:off x="4026518" y="3944370"/>
                <a:ext cx="0" cy="540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直接连接符 41"/>
              <p:cNvCxnSpPr/>
              <p:nvPr/>
            </p:nvCxnSpPr>
            <p:spPr bwMode="auto">
              <a:xfrm>
                <a:off x="4386460" y="3944370"/>
                <a:ext cx="0" cy="540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00FF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3" name="椭圆 22"/>
              <p:cNvSpPr/>
              <p:nvPr/>
            </p:nvSpPr>
            <p:spPr bwMode="auto">
              <a:xfrm>
                <a:off x="3972518" y="3899105"/>
                <a:ext cx="108000" cy="10800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 bwMode="auto">
              <a:xfrm>
                <a:off x="3972518" y="4159269"/>
                <a:ext cx="108000" cy="10800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 bwMode="auto">
              <a:xfrm>
                <a:off x="3972518" y="4419434"/>
                <a:ext cx="108000" cy="10800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 bwMode="auto">
              <a:xfrm>
                <a:off x="4334893" y="3899105"/>
                <a:ext cx="108000" cy="108000"/>
              </a:xfrm>
              <a:prstGeom prst="ellipse">
                <a:avLst/>
              </a:prstGeom>
              <a:solidFill>
                <a:srgbClr val="FF00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 bwMode="auto">
              <a:xfrm>
                <a:off x="4334893" y="4159269"/>
                <a:ext cx="108000" cy="108000"/>
              </a:xfrm>
              <a:prstGeom prst="ellipse">
                <a:avLst/>
              </a:prstGeom>
              <a:solidFill>
                <a:srgbClr val="FF00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auto">
              <a:xfrm>
                <a:off x="4334893" y="4419434"/>
                <a:ext cx="108000" cy="108000"/>
              </a:xfrm>
              <a:prstGeom prst="ellipse">
                <a:avLst/>
              </a:prstGeom>
              <a:solidFill>
                <a:srgbClr val="FF00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683568" y="3789040"/>
              <a:ext cx="236738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000" b="1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</a:lstStyle>
            <a:p>
              <a:pPr algn="ctr"/>
              <a:r>
                <a:rPr lang="zh-CN" altLang="en-US" dirty="0"/>
                <a:t>矩阵中相邻索引值的数据点进行连线</a:t>
              </a:r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24631" y="4535496"/>
              <a:ext cx="228525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+mn-lt"/>
                  <a:ea typeface="+mj-ea"/>
                </a:rPr>
                <a:t>X</a:t>
              </a:r>
              <a:r>
                <a:rPr lang="zh-CN" altLang="en-US" dirty="0">
                  <a:latin typeface="+mn-lt"/>
                  <a:ea typeface="+mj-ea"/>
                </a:rPr>
                <a:t>、</a:t>
              </a:r>
              <a:r>
                <a:rPr lang="en-US" altLang="zh-CN" dirty="0">
                  <a:latin typeface="+mn-lt"/>
                  <a:ea typeface="+mj-ea"/>
                </a:rPr>
                <a:t>Y</a:t>
              </a:r>
              <a:r>
                <a:rPr lang="zh-CN" altLang="en-US" dirty="0">
                  <a:latin typeface="+mn-lt"/>
                  <a:ea typeface="+mj-ea"/>
                </a:rPr>
                <a:t>、</a:t>
              </a:r>
              <a:r>
                <a:rPr lang="en-US" altLang="zh-CN" dirty="0">
                  <a:latin typeface="+mn-lt"/>
                  <a:ea typeface="+mj-ea"/>
                </a:rPr>
                <a:t>Z</a:t>
              </a:r>
              <a:r>
                <a:rPr lang="zh-CN" altLang="en-US" dirty="0">
                  <a:latin typeface="+mn-lt"/>
                  <a:ea typeface="+mj-ea"/>
                </a:rPr>
                <a:t>为</a:t>
              </a:r>
              <a:r>
                <a:rPr lang="zh-CN" altLang="en-US" dirty="0">
                  <a:solidFill>
                    <a:srgbClr val="0000FF"/>
                  </a:solidFill>
                  <a:latin typeface="+mn-lt"/>
                  <a:ea typeface="+mj-ea"/>
                </a:rPr>
                <a:t>同型矩阵</a:t>
              </a:r>
              <a:endParaRPr lang="zh-CN" altLang="en-US" dirty="0">
                <a:solidFill>
                  <a:srgbClr val="0000FF"/>
                </a:solidFill>
                <a:latin typeface="+mn-lt"/>
                <a:ea typeface="+mj-ea"/>
              </a:endParaRPr>
            </a:p>
            <a:p>
              <a:r>
                <a:rPr lang="zh-CN" altLang="en-US" dirty="0">
                  <a:latin typeface="+mn-lt"/>
                  <a:ea typeface="+mj-ea"/>
                </a:rPr>
                <a:t>数据点对应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+mj-ea"/>
                </a:rPr>
                <a:t>行列号</a:t>
              </a:r>
              <a:r>
                <a:rPr lang="zh-CN" altLang="en-US" dirty="0">
                  <a:latin typeface="+mn-lt"/>
                  <a:ea typeface="+mj-ea"/>
                </a:rPr>
                <a:t>为</a:t>
              </a:r>
              <a:endParaRPr lang="zh-CN" altLang="en-US" dirty="0">
                <a:latin typeface="+mn-lt"/>
                <a:ea typeface="+mj-ea"/>
              </a:endParaRPr>
            </a:p>
          </p:txBody>
        </p:sp>
        <p:cxnSp>
          <p:nvCxnSpPr>
            <p:cNvPr id="16" name="直接箭头连接符 15"/>
            <p:cNvCxnSpPr>
              <a:stCxn id="3" idx="3"/>
            </p:cNvCxnSpPr>
            <p:nvPr/>
          </p:nvCxnSpPr>
          <p:spPr bwMode="auto">
            <a:xfrm flipH="1">
              <a:off x="2987826" y="1386178"/>
              <a:ext cx="1440158" cy="26209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1" name="组合 20"/>
            <p:cNvGrpSpPr/>
            <p:nvPr/>
          </p:nvGrpSpPr>
          <p:grpSpPr>
            <a:xfrm>
              <a:off x="6643299" y="3899105"/>
              <a:ext cx="470375" cy="628329"/>
              <a:chOff x="6643299" y="3899105"/>
              <a:chExt cx="470375" cy="628329"/>
            </a:xfrm>
          </p:grpSpPr>
          <p:cxnSp>
            <p:nvCxnSpPr>
              <p:cNvPr id="60" name="直接连接符 59"/>
              <p:cNvCxnSpPr/>
              <p:nvPr/>
            </p:nvCxnSpPr>
            <p:spPr bwMode="auto">
              <a:xfrm>
                <a:off x="6695134" y="3942080"/>
                <a:ext cx="362375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接连接符 60"/>
              <p:cNvCxnSpPr/>
              <p:nvPr/>
            </p:nvCxnSpPr>
            <p:spPr bwMode="auto">
              <a:xfrm>
                <a:off x="6695134" y="4475317"/>
                <a:ext cx="362375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直接连接符 61"/>
              <p:cNvCxnSpPr/>
              <p:nvPr/>
            </p:nvCxnSpPr>
            <p:spPr bwMode="auto">
              <a:xfrm>
                <a:off x="6695134" y="4208698"/>
                <a:ext cx="362375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63" name="组合 62"/>
              <p:cNvGrpSpPr/>
              <p:nvPr/>
            </p:nvGrpSpPr>
            <p:grpSpPr>
              <a:xfrm>
                <a:off x="6643299" y="3899105"/>
                <a:ext cx="470375" cy="628329"/>
                <a:chOff x="1547664" y="5788991"/>
                <a:chExt cx="470375" cy="628329"/>
              </a:xfrm>
            </p:grpSpPr>
            <p:cxnSp>
              <p:nvCxnSpPr>
                <p:cNvPr id="64" name="直接连接符 63"/>
                <p:cNvCxnSpPr/>
                <p:nvPr/>
              </p:nvCxnSpPr>
              <p:spPr bwMode="auto">
                <a:xfrm>
                  <a:off x="1601664" y="5834256"/>
                  <a:ext cx="0" cy="54000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5" name="直接连接符 64"/>
                <p:cNvCxnSpPr/>
                <p:nvPr/>
              </p:nvCxnSpPr>
              <p:spPr bwMode="auto">
                <a:xfrm>
                  <a:off x="1961606" y="5834256"/>
                  <a:ext cx="0" cy="540000"/>
                </a:xfrm>
                <a:prstGeom prst="line">
                  <a:avLst/>
                </a:prstGeom>
                <a:solidFill>
                  <a:schemeClr val="accent1"/>
                </a:solidFill>
                <a:ln w="15875" cap="flat" cmpd="sng" algn="ctr">
                  <a:solidFill>
                    <a:srgbClr val="FF00FF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6" name="椭圆 65"/>
                <p:cNvSpPr/>
                <p:nvPr/>
              </p:nvSpPr>
              <p:spPr bwMode="auto">
                <a:xfrm>
                  <a:off x="1547664" y="5788991"/>
                  <a:ext cx="108000" cy="108000"/>
                </a:xfrm>
                <a:prstGeom prst="ellipse">
                  <a:avLst/>
                </a:prstGeom>
                <a:solidFill>
                  <a:srgbClr val="0000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 bwMode="auto">
                <a:xfrm>
                  <a:off x="1547664" y="6049155"/>
                  <a:ext cx="108000" cy="108000"/>
                </a:xfrm>
                <a:prstGeom prst="ellipse">
                  <a:avLst/>
                </a:prstGeom>
                <a:solidFill>
                  <a:srgbClr val="0000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 bwMode="auto">
                <a:xfrm>
                  <a:off x="1547664" y="6309320"/>
                  <a:ext cx="108000" cy="108000"/>
                </a:xfrm>
                <a:prstGeom prst="ellipse">
                  <a:avLst/>
                </a:prstGeom>
                <a:solidFill>
                  <a:srgbClr val="0000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" name="椭圆 68"/>
                <p:cNvSpPr/>
                <p:nvPr/>
              </p:nvSpPr>
              <p:spPr bwMode="auto">
                <a:xfrm>
                  <a:off x="1910039" y="5788991"/>
                  <a:ext cx="108000" cy="108000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椭圆 69"/>
                <p:cNvSpPr/>
                <p:nvPr/>
              </p:nvSpPr>
              <p:spPr bwMode="auto">
                <a:xfrm>
                  <a:off x="1910039" y="6049155"/>
                  <a:ext cx="108000" cy="108000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" name="椭圆 70"/>
                <p:cNvSpPr/>
                <p:nvPr/>
              </p:nvSpPr>
              <p:spPr bwMode="auto">
                <a:xfrm>
                  <a:off x="1910039" y="6309320"/>
                  <a:ext cx="108000" cy="108000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/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184786" y="5223244"/>
              <a:ext cx="3427901" cy="1614267"/>
              <a:chOff x="184786" y="5223244"/>
              <a:chExt cx="3427901" cy="1614267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769260" y="5525070"/>
                <a:ext cx="2196000" cy="1000274"/>
                <a:chOff x="1160792" y="4755839"/>
                <a:chExt cx="2196000" cy="1000274"/>
              </a:xfrm>
            </p:grpSpPr>
            <p:sp>
              <p:nvSpPr>
                <p:cNvPr id="11" name="文本框 10"/>
                <p:cNvSpPr txBox="1"/>
                <p:nvPr/>
              </p:nvSpPr>
              <p:spPr>
                <a:xfrm>
                  <a:off x="1160792" y="4755839"/>
                  <a:ext cx="2196000" cy="1000274"/>
                </a:xfrm>
                <a:prstGeom prst="rect">
                  <a:avLst/>
                </a:prstGeom>
                <a:noFill/>
                <a:ln w="34925" cmpd="thickThin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eaLnBrk="1" hangingPunct="1">
                    <a:spcBef>
                      <a:spcPts val="300"/>
                    </a:spcBef>
                    <a:defRPr sz="2000">
                      <a:latin typeface="+mn-lt"/>
                    </a:defRPr>
                  </a:lvl1pPr>
                </a:lstStyle>
                <a:p>
                  <a:r>
                    <a:rPr lang="en-US" altLang="zh-CN" sz="1800" dirty="0">
                      <a:solidFill>
                        <a:srgbClr val="0000FF"/>
                      </a:solidFill>
                    </a:rPr>
                    <a:t>1</a:t>
                  </a:r>
                  <a:r>
                    <a:rPr lang="zh-CN" altLang="en-US" sz="1800" dirty="0">
                      <a:solidFill>
                        <a:srgbClr val="0000FF"/>
                      </a:solidFill>
                    </a:rPr>
                    <a:t>行</a:t>
                  </a:r>
                  <a:r>
                    <a:rPr lang="en-US" altLang="zh-CN" sz="1800" dirty="0">
                      <a:solidFill>
                        <a:srgbClr val="0000FF"/>
                      </a:solidFill>
                    </a:rPr>
                    <a:t>1</a:t>
                  </a:r>
                  <a:r>
                    <a:rPr lang="zh-CN" altLang="en-US" sz="1800" dirty="0">
                      <a:solidFill>
                        <a:srgbClr val="0000FF"/>
                      </a:solidFill>
                    </a:rPr>
                    <a:t>列</a:t>
                  </a:r>
                  <a:r>
                    <a:rPr lang="en-US" altLang="zh-CN" sz="1800" dirty="0"/>
                    <a:t>           </a:t>
                  </a:r>
                  <a:r>
                    <a:rPr lang="en-US" altLang="zh-CN" sz="1800" dirty="0">
                      <a:solidFill>
                        <a:srgbClr val="FF00FF"/>
                      </a:solidFill>
                    </a:rPr>
                    <a:t>1</a:t>
                  </a:r>
                  <a:r>
                    <a:rPr lang="zh-CN" altLang="en-US" sz="1800" dirty="0">
                      <a:solidFill>
                        <a:srgbClr val="FF00FF"/>
                      </a:solidFill>
                    </a:rPr>
                    <a:t>行</a:t>
                  </a:r>
                  <a:r>
                    <a:rPr lang="en-US" altLang="zh-CN" sz="1800" dirty="0">
                      <a:solidFill>
                        <a:srgbClr val="FF00FF"/>
                      </a:solidFill>
                    </a:rPr>
                    <a:t>2</a:t>
                  </a:r>
                  <a:r>
                    <a:rPr lang="zh-CN" altLang="en-US" sz="1800" dirty="0">
                      <a:solidFill>
                        <a:srgbClr val="FF00FF"/>
                      </a:solidFill>
                    </a:rPr>
                    <a:t>列</a:t>
                  </a:r>
                  <a:endParaRPr lang="en-US" altLang="zh-CN" sz="1800" dirty="0"/>
                </a:p>
                <a:p>
                  <a:r>
                    <a:rPr lang="en-US" altLang="zh-CN" sz="1800" dirty="0">
                      <a:solidFill>
                        <a:srgbClr val="0000FF"/>
                      </a:solidFill>
                    </a:rPr>
                    <a:t>2</a:t>
                  </a:r>
                  <a:r>
                    <a:rPr lang="zh-CN" altLang="en-US" sz="1800" dirty="0">
                      <a:solidFill>
                        <a:srgbClr val="0000FF"/>
                      </a:solidFill>
                    </a:rPr>
                    <a:t>行</a:t>
                  </a:r>
                  <a:r>
                    <a:rPr lang="en-US" altLang="zh-CN" sz="1800" dirty="0">
                      <a:solidFill>
                        <a:srgbClr val="0000FF"/>
                      </a:solidFill>
                    </a:rPr>
                    <a:t>1</a:t>
                  </a:r>
                  <a:r>
                    <a:rPr lang="zh-CN" altLang="en-US" sz="1800" dirty="0">
                      <a:solidFill>
                        <a:srgbClr val="0000FF"/>
                      </a:solidFill>
                    </a:rPr>
                    <a:t>列</a:t>
                  </a:r>
                  <a:r>
                    <a:rPr lang="en-US" altLang="zh-CN" sz="1800" dirty="0"/>
                    <a:t>           </a:t>
                  </a:r>
                  <a:r>
                    <a:rPr lang="en-US" altLang="zh-CN" sz="1800" dirty="0">
                      <a:solidFill>
                        <a:srgbClr val="FF00FF"/>
                      </a:solidFill>
                    </a:rPr>
                    <a:t>2</a:t>
                  </a:r>
                  <a:r>
                    <a:rPr lang="zh-CN" altLang="en-US" sz="1800" dirty="0">
                      <a:solidFill>
                        <a:srgbClr val="FF00FF"/>
                      </a:solidFill>
                    </a:rPr>
                    <a:t>行</a:t>
                  </a:r>
                  <a:r>
                    <a:rPr lang="en-US" altLang="zh-CN" sz="1800" dirty="0">
                      <a:solidFill>
                        <a:srgbClr val="FF00FF"/>
                      </a:solidFill>
                    </a:rPr>
                    <a:t>2</a:t>
                  </a:r>
                  <a:r>
                    <a:rPr lang="zh-CN" altLang="en-US" sz="1800" dirty="0">
                      <a:solidFill>
                        <a:srgbClr val="FF00FF"/>
                      </a:solidFill>
                    </a:rPr>
                    <a:t>列</a:t>
                  </a:r>
                  <a:endParaRPr lang="en-US" altLang="zh-CN" sz="1800" dirty="0"/>
                </a:p>
                <a:p>
                  <a:r>
                    <a:rPr lang="en-US" altLang="zh-CN" sz="1800" dirty="0">
                      <a:solidFill>
                        <a:srgbClr val="0000FF"/>
                      </a:solidFill>
                    </a:rPr>
                    <a:t>3</a:t>
                  </a:r>
                  <a:r>
                    <a:rPr lang="zh-CN" altLang="en-US" sz="1800" dirty="0">
                      <a:solidFill>
                        <a:srgbClr val="0000FF"/>
                      </a:solidFill>
                    </a:rPr>
                    <a:t>行</a:t>
                  </a:r>
                  <a:r>
                    <a:rPr lang="en-US" altLang="zh-CN" sz="1800" dirty="0">
                      <a:solidFill>
                        <a:srgbClr val="0000FF"/>
                      </a:solidFill>
                    </a:rPr>
                    <a:t>1</a:t>
                  </a:r>
                  <a:r>
                    <a:rPr lang="zh-CN" altLang="en-US" sz="1800" dirty="0">
                      <a:solidFill>
                        <a:srgbClr val="0000FF"/>
                      </a:solidFill>
                    </a:rPr>
                    <a:t>列</a:t>
                  </a:r>
                  <a:r>
                    <a:rPr lang="en-US" altLang="zh-CN" sz="1800" dirty="0"/>
                    <a:t>           </a:t>
                  </a:r>
                  <a:r>
                    <a:rPr lang="en-US" altLang="zh-CN" sz="1800" dirty="0">
                      <a:solidFill>
                        <a:srgbClr val="FF00FF"/>
                      </a:solidFill>
                    </a:rPr>
                    <a:t>3</a:t>
                  </a:r>
                  <a:r>
                    <a:rPr lang="zh-CN" altLang="en-US" sz="1800" dirty="0">
                      <a:solidFill>
                        <a:srgbClr val="FF00FF"/>
                      </a:solidFill>
                    </a:rPr>
                    <a:t>行</a:t>
                  </a:r>
                  <a:r>
                    <a:rPr lang="en-US" altLang="zh-CN" sz="1800" dirty="0">
                      <a:solidFill>
                        <a:srgbClr val="FF00FF"/>
                      </a:solidFill>
                    </a:rPr>
                    <a:t>2</a:t>
                  </a:r>
                  <a:r>
                    <a:rPr lang="zh-CN" altLang="en-US" sz="1800" dirty="0">
                      <a:solidFill>
                        <a:srgbClr val="FF00FF"/>
                      </a:solidFill>
                    </a:rPr>
                    <a:t>列</a:t>
                  </a:r>
                  <a:endParaRPr lang="en-US" altLang="zh-CN" sz="1800" dirty="0"/>
                </a:p>
              </p:txBody>
            </p:sp>
            <p:grpSp>
              <p:nvGrpSpPr>
                <p:cNvPr id="45" name="组合 44"/>
                <p:cNvGrpSpPr/>
                <p:nvPr/>
              </p:nvGrpSpPr>
              <p:grpSpPr>
                <a:xfrm>
                  <a:off x="2013393" y="4935756"/>
                  <a:ext cx="470375" cy="628329"/>
                  <a:chOff x="1547664" y="5788991"/>
                  <a:chExt cx="470375" cy="628329"/>
                </a:xfrm>
              </p:grpSpPr>
              <p:sp>
                <p:nvSpPr>
                  <p:cNvPr id="48" name="椭圆 47"/>
                  <p:cNvSpPr/>
                  <p:nvPr/>
                </p:nvSpPr>
                <p:spPr bwMode="auto">
                  <a:xfrm>
                    <a:off x="1547664" y="5788991"/>
                    <a:ext cx="108000" cy="108000"/>
                  </a:xfrm>
                  <a:prstGeom prst="ellipse">
                    <a:avLst/>
                  </a:prstGeom>
                  <a:solidFill>
                    <a:srgbClr val="0000FF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9" name="椭圆 48"/>
                  <p:cNvSpPr/>
                  <p:nvPr/>
                </p:nvSpPr>
                <p:spPr bwMode="auto">
                  <a:xfrm>
                    <a:off x="1547664" y="6049155"/>
                    <a:ext cx="108000" cy="108000"/>
                  </a:xfrm>
                  <a:prstGeom prst="ellipse">
                    <a:avLst/>
                  </a:prstGeom>
                  <a:solidFill>
                    <a:srgbClr val="0000FF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0" name="椭圆 49"/>
                  <p:cNvSpPr/>
                  <p:nvPr/>
                </p:nvSpPr>
                <p:spPr bwMode="auto">
                  <a:xfrm>
                    <a:off x="1547664" y="6309320"/>
                    <a:ext cx="108000" cy="108000"/>
                  </a:xfrm>
                  <a:prstGeom prst="ellipse">
                    <a:avLst/>
                  </a:prstGeom>
                  <a:solidFill>
                    <a:srgbClr val="0000FF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1" name="椭圆 50"/>
                  <p:cNvSpPr/>
                  <p:nvPr/>
                </p:nvSpPr>
                <p:spPr bwMode="auto">
                  <a:xfrm>
                    <a:off x="1910039" y="5788991"/>
                    <a:ext cx="108000" cy="108000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2" name="椭圆 51"/>
                  <p:cNvSpPr/>
                  <p:nvPr/>
                </p:nvSpPr>
                <p:spPr bwMode="auto">
                  <a:xfrm>
                    <a:off x="1910039" y="6049155"/>
                    <a:ext cx="108000" cy="108000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3" name="椭圆 52"/>
                  <p:cNvSpPr/>
                  <p:nvPr/>
                </p:nvSpPr>
                <p:spPr bwMode="auto">
                  <a:xfrm>
                    <a:off x="1910039" y="6309320"/>
                    <a:ext cx="108000" cy="108000"/>
                  </a:xfrm>
                  <a:prstGeom prst="ellipse">
                    <a:avLst/>
                  </a:prstGeom>
                  <a:solidFill>
                    <a:srgbClr val="FF00FF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/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55" name="文本框 54"/>
              <p:cNvSpPr txBox="1"/>
              <p:nvPr/>
            </p:nvSpPr>
            <p:spPr>
              <a:xfrm>
                <a:off x="184786" y="5223244"/>
                <a:ext cx="16441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rgbClr val="0000FF"/>
                    </a:solidFill>
                    <a:latin typeface="+mn-lt"/>
                  </a:rPr>
                  <a:t>(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X(1,1)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+mn-lt"/>
                  </a:rPr>
                  <a:t>, 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Y(1,1)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+mn-lt"/>
                  </a:rPr>
                  <a:t>,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 Z(1,1)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+mn-lt"/>
                  </a:rPr>
                  <a:t>)</a:t>
                </a:r>
                <a:endParaRPr lang="zh-CN" altLang="en-US" sz="1200" b="1" dirty="0">
                  <a:solidFill>
                    <a:srgbClr val="0000FF"/>
                  </a:solidFill>
                  <a:latin typeface="+mn-lt"/>
                </a:endParaRPr>
              </a:p>
            </p:txBody>
          </p:sp>
          <p:cxnSp>
            <p:nvCxnSpPr>
              <p:cNvPr id="9" name="直接箭头连接符 8"/>
              <p:cNvCxnSpPr/>
              <p:nvPr/>
            </p:nvCxnSpPr>
            <p:spPr bwMode="auto">
              <a:xfrm>
                <a:off x="1421232" y="5428388"/>
                <a:ext cx="218213" cy="25022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58" name="文本框 57"/>
              <p:cNvSpPr txBox="1"/>
              <p:nvPr/>
            </p:nvSpPr>
            <p:spPr>
              <a:xfrm>
                <a:off x="1968583" y="5223244"/>
                <a:ext cx="16441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rgbClr val="FF00FF"/>
                    </a:solidFill>
                    <a:latin typeface="+mn-lt"/>
                  </a:rPr>
                  <a:t>(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X(1,2)</a:t>
                </a:r>
                <a:r>
                  <a:rPr lang="en-US" altLang="zh-CN" sz="1200" b="1" dirty="0">
                    <a:solidFill>
                      <a:srgbClr val="FF00FF"/>
                    </a:solidFill>
                    <a:latin typeface="+mn-lt"/>
                  </a:rPr>
                  <a:t>, 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Y(1,2)</a:t>
                </a:r>
                <a:r>
                  <a:rPr lang="en-US" altLang="zh-CN" sz="1200" b="1" dirty="0">
                    <a:solidFill>
                      <a:srgbClr val="FF00FF"/>
                    </a:solidFill>
                    <a:latin typeface="+mn-lt"/>
                  </a:rPr>
                  <a:t>,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 Z(1,2)</a:t>
                </a:r>
                <a:r>
                  <a:rPr lang="en-US" altLang="zh-CN" sz="1200" b="1" dirty="0">
                    <a:solidFill>
                      <a:srgbClr val="FF00FF"/>
                    </a:solidFill>
                    <a:latin typeface="+mn-lt"/>
                  </a:rPr>
                  <a:t>)</a:t>
                </a:r>
                <a:endParaRPr lang="zh-CN" altLang="en-US" sz="1200" b="1" dirty="0">
                  <a:solidFill>
                    <a:srgbClr val="FF00FF"/>
                  </a:solidFill>
                  <a:latin typeface="+mn-lt"/>
                </a:endParaRPr>
              </a:p>
            </p:txBody>
          </p:sp>
          <p:cxnSp>
            <p:nvCxnSpPr>
              <p:cNvPr id="13" name="直接箭头连接符 12"/>
              <p:cNvCxnSpPr/>
              <p:nvPr/>
            </p:nvCxnSpPr>
            <p:spPr bwMode="auto">
              <a:xfrm flipH="1">
                <a:off x="2038236" y="5454764"/>
                <a:ext cx="229508" cy="22384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73" name="文本框 72"/>
              <p:cNvSpPr txBox="1"/>
              <p:nvPr/>
            </p:nvSpPr>
            <p:spPr>
              <a:xfrm>
                <a:off x="184786" y="6560512"/>
                <a:ext cx="16441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rgbClr val="0000FF"/>
                    </a:solidFill>
                    <a:latin typeface="+mn-lt"/>
                  </a:rPr>
                  <a:t>(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X(3,1)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+mn-lt"/>
                  </a:rPr>
                  <a:t>, 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Y(3,1)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+mn-lt"/>
                  </a:rPr>
                  <a:t>,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 Z(3,1)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+mn-lt"/>
                  </a:rPr>
                  <a:t>)</a:t>
                </a:r>
                <a:endParaRPr lang="zh-CN" altLang="en-US" sz="1200" b="1" dirty="0">
                  <a:solidFill>
                    <a:srgbClr val="0000FF"/>
                  </a:solidFill>
                  <a:latin typeface="+mn-lt"/>
                </a:endParaRPr>
              </a:p>
            </p:txBody>
          </p:sp>
          <p:cxnSp>
            <p:nvCxnSpPr>
              <p:cNvPr id="74" name="直接箭头连接符 73"/>
              <p:cNvCxnSpPr/>
              <p:nvPr/>
            </p:nvCxnSpPr>
            <p:spPr bwMode="auto">
              <a:xfrm flipV="1">
                <a:off x="1421232" y="6354024"/>
                <a:ext cx="218213" cy="252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77" name="文本框 76"/>
              <p:cNvSpPr txBox="1"/>
              <p:nvPr/>
            </p:nvSpPr>
            <p:spPr>
              <a:xfrm>
                <a:off x="1912930" y="6560512"/>
                <a:ext cx="16441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solidFill>
                      <a:srgbClr val="FF00FF"/>
                    </a:solidFill>
                    <a:latin typeface="+mn-lt"/>
                  </a:rPr>
                  <a:t>(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X(3,2)</a:t>
                </a:r>
                <a:r>
                  <a:rPr lang="en-US" altLang="zh-CN" sz="1200" b="1" dirty="0">
                    <a:solidFill>
                      <a:srgbClr val="FF00FF"/>
                    </a:solidFill>
                    <a:latin typeface="+mn-lt"/>
                  </a:rPr>
                  <a:t>, 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Y(3,2)</a:t>
                </a:r>
                <a:r>
                  <a:rPr lang="en-US" altLang="zh-CN" sz="1200" b="1" dirty="0">
                    <a:solidFill>
                      <a:srgbClr val="FF00FF"/>
                    </a:solidFill>
                    <a:latin typeface="+mn-lt"/>
                  </a:rPr>
                  <a:t>,</a:t>
                </a:r>
                <a:r>
                  <a:rPr lang="en-US" altLang="zh-CN" sz="1200" b="1" dirty="0">
                    <a:solidFill>
                      <a:srgbClr val="FF0000"/>
                    </a:solidFill>
                    <a:latin typeface="+mn-lt"/>
                  </a:rPr>
                  <a:t> Z(3,2)</a:t>
                </a:r>
                <a:r>
                  <a:rPr lang="en-US" altLang="zh-CN" sz="1200" b="1" dirty="0">
                    <a:solidFill>
                      <a:srgbClr val="FF00FF"/>
                    </a:solidFill>
                    <a:latin typeface="+mn-lt"/>
                  </a:rPr>
                  <a:t>)</a:t>
                </a:r>
                <a:endParaRPr lang="zh-CN" altLang="en-US" sz="1200" b="1" dirty="0">
                  <a:solidFill>
                    <a:srgbClr val="FF00FF"/>
                  </a:solidFill>
                  <a:latin typeface="+mn-lt"/>
                </a:endParaRPr>
              </a:p>
            </p:txBody>
          </p:sp>
          <p:cxnSp>
            <p:nvCxnSpPr>
              <p:cNvPr id="78" name="直接箭头连接符 77"/>
              <p:cNvCxnSpPr/>
              <p:nvPr/>
            </p:nvCxnSpPr>
            <p:spPr bwMode="auto">
              <a:xfrm flipH="1" flipV="1">
                <a:off x="2092236" y="6354024"/>
                <a:ext cx="132152" cy="26346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7560840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三维曲面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4104134" cy="629262"/>
          </a:xfrm>
        </p:spPr>
        <p:txBody>
          <a:bodyPr/>
          <a:lstStyle/>
          <a:p>
            <a:r>
              <a:rPr lang="zh-CN" altLang="en-US" dirty="0"/>
              <a:t>三维曲面（</a:t>
            </a:r>
            <a:r>
              <a:rPr lang="en-US" altLang="zh-CN" dirty="0">
                <a:solidFill>
                  <a:srgbClr val="FF0000"/>
                </a:solidFill>
              </a:rPr>
              <a:t>mesh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surf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31540" y="1723483"/>
            <a:ext cx="8388932" cy="13454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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mesh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(x, y, Z) 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/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surf (x, y, Z)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为向量时，数据点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坐标可理解为通过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meshgrid</a:t>
            </a:r>
            <a:r>
              <a:rPr lang="zh-CN" altLang="en-US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函数自动生成</a:t>
            </a:r>
            <a:endParaRPr lang="en-US" altLang="zh-CN" sz="24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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mesh(Z) </a:t>
            </a: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/</a:t>
            </a:r>
            <a:r>
              <a:rPr lang="zh-CN" altLang="en-US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surf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(Z)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：矩阵</a:t>
            </a:r>
            <a:r>
              <a:rPr lang="zh-CN" altLang="en-US" sz="2400" dirty="0">
                <a:solidFill>
                  <a:srgbClr val="FF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列号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lang="en-US" altLang="zh-CN" sz="2400" dirty="0">
                <a:solidFill>
                  <a:srgbClr val="FF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坐标，矩阵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行号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坐标</a:t>
            </a:r>
            <a:endParaRPr lang="en-US" altLang="zh-CN" sz="2400" dirty="0">
              <a:solidFill>
                <a:srgbClr val="0000FF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72000" y="1358258"/>
            <a:ext cx="3366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自动匹配数据点的</a:t>
            </a:r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坐标</a:t>
            </a:r>
            <a:endParaRPr lang="zh-CN" altLang="en-US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550" y="3284984"/>
            <a:ext cx="7812868" cy="830997"/>
          </a:xfrm>
          <a:prstGeom prst="rect">
            <a:avLst/>
          </a:prstGeom>
          <a:solidFill>
            <a:srgbClr val="FFF7DD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meshgrid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函数将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向量网格化成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矩阵（要求：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元素个数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列数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相等，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元素个数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行数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相等）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3850" y="4262052"/>
            <a:ext cx="2682298" cy="1092607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s-ES" altLang="zh-CN" dirty="0"/>
              <a:t>x = 1:6;</a:t>
            </a:r>
            <a:endParaRPr lang="es-ES" altLang="zh-CN" dirty="0"/>
          </a:p>
          <a:p>
            <a:r>
              <a:rPr lang="es-ES" altLang="zh-CN" dirty="0"/>
              <a:t>y = 7:9;</a:t>
            </a:r>
            <a:endParaRPr lang="es-ES" altLang="zh-CN" dirty="0"/>
          </a:p>
          <a:p>
            <a:r>
              <a:rPr lang="es-ES" altLang="zh-CN" dirty="0"/>
              <a:t>[X, Y] = </a:t>
            </a:r>
            <a:r>
              <a:rPr lang="es-ES" altLang="zh-CN" dirty="0">
                <a:solidFill>
                  <a:srgbClr val="0000FF"/>
                </a:solidFill>
              </a:rPr>
              <a:t>meshgrid</a:t>
            </a:r>
            <a:r>
              <a:rPr lang="es-ES" altLang="zh-CN" dirty="0"/>
              <a:t>(x,y);</a:t>
            </a:r>
            <a:endParaRPr lang="zh-CN" alt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323850" y="4549986"/>
            <a:ext cx="8207031" cy="2245284"/>
            <a:chOff x="323850" y="4549986"/>
            <a:chExt cx="8207031" cy="2245284"/>
          </a:xfrm>
        </p:grpSpPr>
        <p:sp>
          <p:nvSpPr>
            <p:cNvPr id="35" name="文本框 34"/>
            <p:cNvSpPr txBox="1"/>
            <p:nvPr/>
          </p:nvSpPr>
          <p:spPr>
            <a:xfrm>
              <a:off x="3624784" y="6425938"/>
              <a:ext cx="12557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  <a:sym typeface="Wingdings" panose="05000000000000000000" pitchFamily="2" charset="2"/>
                </a:rPr>
                <a:t>y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  <a:sym typeface="Wingdings" panose="05000000000000000000" pitchFamily="2" charset="2"/>
                </a:rPr>
                <a:t>决定行数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624784" y="5113542"/>
              <a:ext cx="12557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  <a:sym typeface="Wingdings" panose="05000000000000000000" pitchFamily="2" charset="2"/>
                </a:rPr>
                <a:t>x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  <a:sym typeface="Wingdings" panose="05000000000000000000" pitchFamily="2" charset="2"/>
                </a:rPr>
                <a:t>决定列数</a:t>
              </a:r>
              <a:endParaRPr lang="zh-CN" altLang="en-US" dirty="0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3850" y="5442599"/>
              <a:ext cx="3685714" cy="504762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7659" y="6021288"/>
              <a:ext cx="1961905" cy="457143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8024" y="4549986"/>
              <a:ext cx="3676190" cy="895238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8024" y="5629661"/>
              <a:ext cx="3742857" cy="933333"/>
            </a:xfrm>
            <a:prstGeom prst="rect">
              <a:avLst/>
            </a:prstGeom>
            <a:ln w="12700">
              <a:solidFill>
                <a:schemeClr val="tx1"/>
              </a:solidFill>
              <a:prstDash val="dash"/>
            </a:ln>
          </p:spPr>
        </p:pic>
        <p:cxnSp>
          <p:nvCxnSpPr>
            <p:cNvPr id="25" name="直接箭头连接符 24"/>
            <p:cNvCxnSpPr/>
            <p:nvPr/>
          </p:nvCxnSpPr>
          <p:spPr bwMode="auto">
            <a:xfrm>
              <a:off x="4157954" y="5472226"/>
              <a:ext cx="48605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/>
            <p:cNvCxnSpPr/>
            <p:nvPr/>
          </p:nvCxnSpPr>
          <p:spPr bwMode="auto">
            <a:xfrm>
              <a:off x="4157954" y="6453336"/>
              <a:ext cx="48605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4104134" cy="629262"/>
          </a:xfrm>
        </p:spPr>
        <p:txBody>
          <a:bodyPr/>
          <a:lstStyle/>
          <a:p>
            <a:r>
              <a:rPr lang="zh-CN" altLang="en-US" dirty="0"/>
              <a:t>三维曲面（</a:t>
            </a:r>
            <a:r>
              <a:rPr lang="en-US" altLang="zh-CN" dirty="0">
                <a:solidFill>
                  <a:srgbClr val="FF0000"/>
                </a:solidFill>
              </a:rPr>
              <a:t>mesh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surf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67544" y="2984203"/>
            <a:ext cx="5256584" cy="3170099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n-US" altLang="zh-CN" dirty="0"/>
              <a:t>x = 1:6;</a:t>
            </a:r>
            <a:endParaRPr lang="en-US" altLang="zh-CN" dirty="0"/>
          </a:p>
          <a:p>
            <a:r>
              <a:rPr lang="en-US" altLang="zh-CN" dirty="0"/>
              <a:t>y = 7:9;</a:t>
            </a:r>
            <a:endParaRPr lang="en-US" altLang="zh-CN" dirty="0"/>
          </a:p>
          <a:p>
            <a:r>
              <a:rPr lang="en-US" altLang="zh-CN" dirty="0"/>
              <a:t>[X, Y] = </a:t>
            </a:r>
            <a:r>
              <a:rPr lang="en-US" altLang="zh-CN" dirty="0">
                <a:solidFill>
                  <a:srgbClr val="0000FF"/>
                </a:solidFill>
              </a:rPr>
              <a:t>meshgrid</a:t>
            </a:r>
            <a:r>
              <a:rPr lang="en-US" altLang="zh-CN" dirty="0"/>
              <a:t>(x, y);</a:t>
            </a:r>
            <a:endParaRPr lang="en-US" altLang="zh-CN" dirty="0"/>
          </a:p>
          <a:p>
            <a:r>
              <a:rPr lang="en-US" altLang="zh-CN" dirty="0"/>
              <a:t>Z = [1 2 3 4  5 6;</a:t>
            </a:r>
            <a:endParaRPr lang="en-US" altLang="zh-CN" dirty="0"/>
          </a:p>
          <a:p>
            <a:r>
              <a:rPr lang="en-US" altLang="zh-CN" dirty="0"/>
              <a:t>        2 4 6 8 10 12;</a:t>
            </a:r>
            <a:endParaRPr lang="en-US" altLang="zh-CN" dirty="0"/>
          </a:p>
          <a:p>
            <a:r>
              <a:rPr lang="en-US" altLang="zh-CN" dirty="0"/>
              <a:t>        3 4 5 6 7 8];</a:t>
            </a:r>
            <a:endParaRPr lang="en-US" altLang="zh-CN" dirty="0"/>
          </a:p>
          <a:p>
            <a:r>
              <a:rPr lang="en-US" altLang="zh-CN" dirty="0"/>
              <a:t>subplot(1,3,1), </a:t>
            </a:r>
            <a:r>
              <a:rPr lang="en-US" altLang="zh-CN" dirty="0">
                <a:solidFill>
                  <a:srgbClr val="0000FF"/>
                </a:solidFill>
              </a:rPr>
              <a:t>mesh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Z</a:t>
            </a:r>
            <a:r>
              <a:rPr lang="en-US" altLang="zh-CN" dirty="0"/>
              <a:t>), title('mesh(Z)')</a:t>
            </a:r>
            <a:endParaRPr lang="en-US" altLang="zh-CN" dirty="0"/>
          </a:p>
          <a:p>
            <a:r>
              <a:rPr lang="en-US" altLang="zh-CN" dirty="0"/>
              <a:t>subplot(1,3,2), </a:t>
            </a:r>
            <a:r>
              <a:rPr lang="en-US" altLang="zh-CN" dirty="0">
                <a:solidFill>
                  <a:srgbClr val="0000FF"/>
                </a:solidFill>
              </a:rPr>
              <a:t>mesh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Z</a:t>
            </a:r>
            <a:r>
              <a:rPr lang="en-US" altLang="zh-CN" dirty="0"/>
              <a:t>), title('mesh(</a:t>
            </a:r>
            <a:r>
              <a:rPr lang="en-US" altLang="zh-CN" dirty="0" err="1"/>
              <a:t>xyZ</a:t>
            </a:r>
            <a:r>
              <a:rPr lang="en-US" altLang="zh-CN" dirty="0"/>
              <a:t>)')</a:t>
            </a:r>
            <a:endParaRPr lang="en-US" altLang="zh-CN" dirty="0"/>
          </a:p>
          <a:p>
            <a:r>
              <a:rPr lang="en-US" altLang="zh-CN" dirty="0"/>
              <a:t>subplot(1,3,3), </a:t>
            </a:r>
            <a:r>
              <a:rPr lang="en-US" altLang="zh-CN" dirty="0">
                <a:solidFill>
                  <a:srgbClr val="0000FF"/>
                </a:solidFill>
              </a:rPr>
              <a:t>mesh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00"/>
                </a:solidFill>
              </a:rPr>
              <a:t>Y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Z</a:t>
            </a:r>
            <a:r>
              <a:rPr lang="en-US" altLang="zh-CN" dirty="0"/>
              <a:t>), title('mesh(XYZ)')</a:t>
            </a:r>
            <a:endParaRPr lang="en-US" altLang="zh-CN" dirty="0"/>
          </a:p>
        </p:txBody>
      </p:sp>
      <p:grpSp>
        <p:nvGrpSpPr>
          <p:cNvPr id="23" name="组合 22"/>
          <p:cNvGrpSpPr/>
          <p:nvPr/>
        </p:nvGrpSpPr>
        <p:grpSpPr>
          <a:xfrm>
            <a:off x="3203848" y="1772816"/>
            <a:ext cx="5590476" cy="2745596"/>
            <a:chOff x="3203848" y="1772816"/>
            <a:chExt cx="5590476" cy="2745596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03848" y="1772816"/>
              <a:ext cx="5590476" cy="2628571"/>
            </a:xfrm>
            <a:prstGeom prst="rect">
              <a:avLst/>
            </a:prstGeom>
          </p:spPr>
        </p:pic>
        <p:sp>
          <p:nvSpPr>
            <p:cNvPr id="18" name="箭头: 右 17"/>
            <p:cNvSpPr/>
            <p:nvPr/>
          </p:nvSpPr>
          <p:spPr bwMode="auto">
            <a:xfrm>
              <a:off x="4716016" y="4077072"/>
              <a:ext cx="648072" cy="14401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04173" y="4149080"/>
              <a:ext cx="14717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  <a:sym typeface="Wingdings" panose="05000000000000000000" pitchFamily="2" charset="2"/>
                </a:rPr>
                <a:t>XY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  <a:sym typeface="Wingdings" panose="05000000000000000000" pitchFamily="2" charset="2"/>
                </a:rPr>
                <a:t>坐标不同</a:t>
              </a:r>
              <a:endParaRPr lang="zh-CN" altLang="en-US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700152" y="4149080"/>
              <a:ext cx="6865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00FF"/>
                  </a:solidFill>
                  <a:latin typeface="Times New Roman" panose="02020603050405020304"/>
                  <a:ea typeface="楷体" panose="02010609060101010101" pitchFamily="49" charset="-122"/>
                  <a:sym typeface="Wingdings" panose="05000000000000000000" pitchFamily="2" charset="2"/>
                </a:rPr>
                <a:t>等价</a:t>
              </a:r>
              <a:endParaRPr lang="zh-CN" altLang="en-US" dirty="0"/>
            </a:p>
          </p:txBody>
        </p:sp>
        <p:sp>
          <p:nvSpPr>
            <p:cNvPr id="22" name="箭头: 左右 21"/>
            <p:cNvSpPr/>
            <p:nvPr/>
          </p:nvSpPr>
          <p:spPr bwMode="auto">
            <a:xfrm>
              <a:off x="6700152" y="4077072"/>
              <a:ext cx="648000" cy="144000"/>
            </a:xfrm>
            <a:prstGeom prst="left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7560840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三维曲面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4104134" cy="629262"/>
          </a:xfrm>
        </p:spPr>
        <p:txBody>
          <a:bodyPr/>
          <a:lstStyle/>
          <a:p>
            <a:r>
              <a:rPr lang="zh-CN" altLang="en-US" dirty="0"/>
              <a:t>着色的三维曲面（</a:t>
            </a:r>
            <a:r>
              <a:rPr lang="en-US" altLang="zh-CN" dirty="0">
                <a:solidFill>
                  <a:srgbClr val="FF0000"/>
                </a:solidFill>
              </a:rPr>
              <a:t>surf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95536" y="4077072"/>
            <a:ext cx="8352928" cy="2477601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n-US" altLang="zh-CN" dirty="0"/>
              <a:t>Z = [1 2 3 4  5 6;</a:t>
            </a:r>
            <a:endParaRPr lang="en-US" altLang="zh-CN" dirty="0"/>
          </a:p>
          <a:p>
            <a:r>
              <a:rPr lang="en-US" altLang="zh-CN" dirty="0"/>
              <a:t>        2 4 6 8 10 12;</a:t>
            </a:r>
            <a:endParaRPr lang="en-US" altLang="zh-CN" dirty="0"/>
          </a:p>
          <a:p>
            <a:r>
              <a:rPr lang="en-US" altLang="zh-CN" dirty="0"/>
              <a:t>        3 4 5 6 7 8];</a:t>
            </a:r>
            <a:endParaRPr lang="en-US" altLang="zh-CN" dirty="0"/>
          </a:p>
          <a:p>
            <a:r>
              <a:rPr lang="en-US" altLang="zh-CN" sz="2000" b="0" i="0" dirty="0">
                <a:effectLst/>
              </a:rPr>
              <a:t>subplot(2,2,1), </a:t>
            </a:r>
            <a:r>
              <a:rPr lang="en-US" altLang="zh-CN" sz="2000" b="0" i="0" dirty="0">
                <a:solidFill>
                  <a:srgbClr val="0000FF"/>
                </a:solidFill>
                <a:effectLst/>
              </a:rPr>
              <a:t>surf</a:t>
            </a:r>
            <a:r>
              <a:rPr lang="en-US" altLang="zh-CN" sz="2000" b="0" i="0" dirty="0">
                <a:effectLst/>
              </a:rPr>
              <a:t>(Z), title(</a:t>
            </a:r>
            <a:r>
              <a:rPr lang="en-US" altLang="zh-CN" sz="2000" b="0" i="0" dirty="0">
                <a:solidFill>
                  <a:srgbClr val="AA04F9"/>
                </a:solidFill>
                <a:effectLst/>
              </a:rPr>
              <a:t>‘no shading’</a:t>
            </a:r>
            <a:r>
              <a:rPr lang="en-US" altLang="zh-CN" sz="2000" b="0" i="0" dirty="0">
                <a:effectLst/>
              </a:rPr>
              <a:t>)   </a:t>
            </a:r>
            <a:r>
              <a:rPr lang="en-US" altLang="zh-CN" dirty="0">
                <a:solidFill>
                  <a:srgbClr val="FF00FF"/>
                </a:solidFill>
              </a:rPr>
              <a:t>%</a:t>
            </a:r>
            <a:r>
              <a:rPr lang="zh-CN" altLang="en-US" dirty="0">
                <a:solidFill>
                  <a:srgbClr val="FF00FF"/>
                </a:solidFill>
              </a:rPr>
              <a:t>默认</a:t>
            </a:r>
            <a:endParaRPr lang="en-US" altLang="zh-CN" dirty="0">
              <a:solidFill>
                <a:srgbClr val="FF00FF"/>
              </a:solidFill>
            </a:endParaRPr>
          </a:p>
          <a:p>
            <a:r>
              <a:rPr lang="en-US" altLang="zh-CN" sz="2000" b="0" i="0" dirty="0">
                <a:effectLst/>
              </a:rPr>
              <a:t>subplot(2,2,2), </a:t>
            </a:r>
            <a:r>
              <a:rPr lang="en-US" altLang="zh-CN" sz="2000" b="0" i="0" dirty="0">
                <a:solidFill>
                  <a:srgbClr val="0000FF"/>
                </a:solidFill>
                <a:effectLst/>
              </a:rPr>
              <a:t>surf</a:t>
            </a:r>
            <a:r>
              <a:rPr lang="en-US" altLang="zh-CN" sz="2000" b="0" i="0" dirty="0">
                <a:effectLst/>
              </a:rPr>
              <a:t>(Z), shading </a:t>
            </a:r>
            <a:r>
              <a:rPr lang="en-US" altLang="zh-CN" sz="2000" b="0" i="0" dirty="0">
                <a:solidFill>
                  <a:srgbClr val="AA04F9"/>
                </a:solidFill>
                <a:effectLst/>
              </a:rPr>
              <a:t>flat</a:t>
            </a:r>
            <a:r>
              <a:rPr lang="en-US" altLang="zh-CN" sz="2000" b="0" i="0" dirty="0">
                <a:effectLst/>
              </a:rPr>
              <a:t>, title(</a:t>
            </a:r>
            <a:r>
              <a:rPr lang="en-US" altLang="zh-CN" sz="2000" b="0" i="0" dirty="0">
                <a:solidFill>
                  <a:srgbClr val="AA04F9"/>
                </a:solidFill>
                <a:effectLst/>
              </a:rPr>
              <a:t>‘shading flat’</a:t>
            </a:r>
            <a:r>
              <a:rPr lang="en-US" altLang="zh-CN" sz="2000" b="0" i="0" dirty="0">
                <a:effectLst/>
              </a:rPr>
              <a:t>)   </a:t>
            </a:r>
            <a:r>
              <a:rPr lang="en-US" altLang="zh-CN" dirty="0">
                <a:solidFill>
                  <a:srgbClr val="FF00FF"/>
                </a:solidFill>
              </a:rPr>
              <a:t>%</a:t>
            </a:r>
            <a:r>
              <a:rPr lang="zh-CN" altLang="en-US" dirty="0">
                <a:solidFill>
                  <a:srgbClr val="FF00FF"/>
                </a:solidFill>
              </a:rPr>
              <a:t>去网格</a:t>
            </a:r>
            <a:endParaRPr lang="en-US" altLang="zh-CN" dirty="0">
              <a:solidFill>
                <a:srgbClr val="FF00FF"/>
              </a:solidFill>
            </a:endParaRPr>
          </a:p>
          <a:p>
            <a:r>
              <a:rPr lang="en-US" altLang="zh-CN" sz="2000" b="0" i="0" dirty="0">
                <a:effectLst/>
              </a:rPr>
              <a:t>subplot(2,2,3), </a:t>
            </a:r>
            <a:r>
              <a:rPr lang="en-US" altLang="zh-CN" sz="2000" b="0" i="0" dirty="0">
                <a:solidFill>
                  <a:srgbClr val="0000FF"/>
                </a:solidFill>
                <a:effectLst/>
              </a:rPr>
              <a:t>surf</a:t>
            </a:r>
            <a:r>
              <a:rPr lang="en-US" altLang="zh-CN" sz="2000" b="0" i="0" dirty="0">
                <a:effectLst/>
              </a:rPr>
              <a:t>(Z), shading </a:t>
            </a:r>
            <a:r>
              <a:rPr lang="en-US" altLang="zh-CN" sz="2000" b="0" i="0" dirty="0" err="1">
                <a:solidFill>
                  <a:srgbClr val="AA04F9"/>
                </a:solidFill>
                <a:effectLst/>
              </a:rPr>
              <a:t>interp</a:t>
            </a:r>
            <a:r>
              <a:rPr lang="en-US" altLang="zh-CN" sz="2000" b="0" i="0" dirty="0">
                <a:effectLst/>
              </a:rPr>
              <a:t>, title(</a:t>
            </a:r>
            <a:r>
              <a:rPr lang="en-US" altLang="zh-CN" sz="2000" b="0" i="0" dirty="0">
                <a:solidFill>
                  <a:srgbClr val="AA04F9"/>
                </a:solidFill>
                <a:effectLst/>
              </a:rPr>
              <a:t>‘shading </a:t>
            </a:r>
            <a:r>
              <a:rPr lang="en-US" altLang="zh-CN" sz="2000" b="0" i="0" dirty="0" err="1">
                <a:solidFill>
                  <a:srgbClr val="AA04F9"/>
                </a:solidFill>
                <a:effectLst/>
              </a:rPr>
              <a:t>interp</a:t>
            </a:r>
            <a:r>
              <a:rPr lang="en-US" altLang="zh-CN" sz="2000" b="0" i="0" dirty="0">
                <a:solidFill>
                  <a:srgbClr val="AA04F9"/>
                </a:solidFill>
                <a:effectLst/>
              </a:rPr>
              <a:t>’</a:t>
            </a:r>
            <a:r>
              <a:rPr lang="en-US" altLang="zh-CN" sz="2000" b="0" i="0" dirty="0">
                <a:effectLst/>
              </a:rPr>
              <a:t>)  </a:t>
            </a:r>
            <a:r>
              <a:rPr lang="en-US" altLang="zh-CN" dirty="0">
                <a:solidFill>
                  <a:srgbClr val="FF00FF"/>
                </a:solidFill>
              </a:rPr>
              <a:t>%</a:t>
            </a:r>
            <a:r>
              <a:rPr lang="zh-CN" altLang="en-US" dirty="0">
                <a:solidFill>
                  <a:srgbClr val="FF00FF"/>
                </a:solidFill>
              </a:rPr>
              <a:t>平滑</a:t>
            </a:r>
            <a:endParaRPr lang="en-US" altLang="zh-CN" dirty="0">
              <a:solidFill>
                <a:srgbClr val="FF00FF"/>
              </a:solidFill>
            </a:endParaRPr>
          </a:p>
          <a:p>
            <a:r>
              <a:rPr lang="en-US" altLang="zh-CN" sz="2000" b="0" i="0" dirty="0">
                <a:effectLst/>
              </a:rPr>
              <a:t>subplot(2,2,4), </a:t>
            </a:r>
            <a:r>
              <a:rPr lang="en-US" altLang="zh-CN" sz="2000" b="0" i="0" dirty="0">
                <a:solidFill>
                  <a:srgbClr val="0000FF"/>
                </a:solidFill>
                <a:effectLst/>
              </a:rPr>
              <a:t>surf</a:t>
            </a:r>
            <a:r>
              <a:rPr lang="en-US" altLang="zh-CN" sz="2000" b="0" i="0" dirty="0">
                <a:effectLst/>
              </a:rPr>
              <a:t>(Z), shading </a:t>
            </a:r>
            <a:r>
              <a:rPr lang="en-US" altLang="zh-CN" sz="2000" b="0" i="0" dirty="0">
                <a:solidFill>
                  <a:srgbClr val="AA04F9"/>
                </a:solidFill>
                <a:effectLst/>
              </a:rPr>
              <a:t>faceted</a:t>
            </a:r>
            <a:r>
              <a:rPr lang="en-US" altLang="zh-CN" sz="2000" b="0" i="0" dirty="0">
                <a:effectLst/>
              </a:rPr>
              <a:t>, title(</a:t>
            </a:r>
            <a:r>
              <a:rPr lang="en-US" altLang="zh-CN" sz="2000" b="0" i="0" dirty="0">
                <a:solidFill>
                  <a:srgbClr val="AA04F9"/>
                </a:solidFill>
                <a:effectLst/>
              </a:rPr>
              <a:t>'shading faceted’</a:t>
            </a:r>
            <a:r>
              <a:rPr lang="en-US" altLang="zh-CN" sz="2000" b="0" i="0" dirty="0">
                <a:effectLst/>
              </a:rPr>
              <a:t>)   </a:t>
            </a:r>
            <a:r>
              <a:rPr lang="en-US" altLang="zh-CN" dirty="0">
                <a:solidFill>
                  <a:srgbClr val="FF00FF"/>
                </a:solidFill>
              </a:rPr>
              <a:t>%</a:t>
            </a:r>
            <a:r>
              <a:rPr lang="zh-CN" altLang="en-US" dirty="0">
                <a:solidFill>
                  <a:srgbClr val="FF00FF"/>
                </a:solidFill>
              </a:rPr>
              <a:t>默认</a:t>
            </a:r>
            <a:endParaRPr lang="en-US" altLang="zh-CN" dirty="0">
              <a:solidFill>
                <a:srgbClr val="FF00FF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0147" y="1902512"/>
            <a:ext cx="3312368" cy="830997"/>
          </a:xfrm>
          <a:prstGeom prst="rect">
            <a:avLst/>
          </a:prstGeom>
          <a:solidFill>
            <a:srgbClr val="FFF7DD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i="0" u="sng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shading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设置颜色着色属性</a:t>
            </a:r>
            <a:r>
              <a:rPr lang="zh-CN" altLang="en-US" sz="2400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渲染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25813" y="1386178"/>
            <a:ext cx="4694263" cy="3693265"/>
            <a:chOff x="4425813" y="1386178"/>
            <a:chExt cx="4694263" cy="369326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25813" y="1412776"/>
              <a:ext cx="4466667" cy="366666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8179716" y="1386178"/>
              <a:ext cx="9403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00FF"/>
                  </a:solidFill>
                  <a:latin typeface="Times New Roman" panose="02020603050405020304"/>
                  <a:ea typeface="楷体" panose="02010609060101010101" pitchFamily="49" charset="-122"/>
                  <a:sym typeface="Wingdings" panose="05000000000000000000" pitchFamily="2" charset="2"/>
                </a:rPr>
                <a:t>去网格</a:t>
              </a:r>
              <a:endParaRPr lang="zh-CN" altLang="en-US" dirty="0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6017185" y="3352460"/>
              <a:ext cx="6422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00FF"/>
                  </a:solidFill>
                  <a:latin typeface="Times New Roman" panose="02020603050405020304"/>
                  <a:ea typeface="楷体" panose="02010609060101010101" pitchFamily="49" charset="-122"/>
                  <a:sym typeface="Wingdings" panose="05000000000000000000" pitchFamily="2" charset="2"/>
                </a:rPr>
                <a:t>平滑</a:t>
              </a:r>
              <a:endParaRPr lang="zh-CN" altLang="en-US" dirty="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8244408" y="3352460"/>
              <a:ext cx="6422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00FF"/>
                  </a:solidFill>
                  <a:latin typeface="Times New Roman" panose="02020603050405020304"/>
                  <a:ea typeface="楷体" panose="02010609060101010101" pitchFamily="49" charset="-122"/>
                  <a:sym typeface="Wingdings" panose="05000000000000000000" pitchFamily="2" charset="2"/>
                </a:rPr>
                <a:t>默认</a:t>
              </a:r>
              <a:endParaRPr lang="zh-CN" altLang="en-US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843439" y="1386178"/>
              <a:ext cx="6422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00FF"/>
                  </a:solidFill>
                  <a:latin typeface="Times New Roman" panose="02020603050405020304"/>
                  <a:ea typeface="楷体" panose="02010609060101010101" pitchFamily="49" charset="-122"/>
                  <a:sym typeface="Wingdings" panose="05000000000000000000" pitchFamily="2" charset="2"/>
                </a:rPr>
                <a:t>默认</a:t>
              </a:r>
              <a:endParaRPr lang="zh-CN" altLang="en-US" dirty="0"/>
            </a:p>
          </p:txBody>
        </p:sp>
      </p:grp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7560840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三维曲面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5112568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色彩处理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208590" cy="989301"/>
          </a:xfrm>
        </p:spPr>
        <p:txBody>
          <a:bodyPr/>
          <a:lstStyle/>
          <a:p>
            <a:r>
              <a:rPr lang="zh-CN" altLang="en-US" dirty="0"/>
              <a:t>颜色的向量表示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RGB</a:t>
            </a:r>
            <a:r>
              <a:rPr lang="zh-CN" altLang="en-US" dirty="0">
                <a:solidFill>
                  <a:srgbClr val="FF0000"/>
                </a:solidFill>
              </a:rPr>
              <a:t>三元组</a:t>
            </a:r>
            <a:r>
              <a:rPr lang="en-US" altLang="zh-CN" dirty="0"/>
              <a:t>)</a:t>
            </a:r>
            <a:r>
              <a:rPr lang="zh-CN" altLang="en-US" dirty="0"/>
              <a:t>、色图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colormap</a:t>
            </a:r>
            <a:r>
              <a:rPr lang="en-US" altLang="zh-CN" dirty="0"/>
              <a:t>)</a:t>
            </a:r>
            <a:r>
              <a:rPr lang="zh-CN" altLang="en-US" dirty="0"/>
              <a:t>、显示颜色栏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colorbar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31540" y="2060847"/>
            <a:ext cx="8532948" cy="46085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颜色的向量表示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RGB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三元组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[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  </a:t>
            </a:r>
            <a:r>
              <a:rPr lang="en-US" altLang="zh-CN" sz="2400" b="1" dirty="0">
                <a:solidFill>
                  <a:srgbClr val="00FF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]</a:t>
            </a:r>
            <a:endParaRPr lang="en-US" altLang="zh-CN" sz="2400" b="1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60045" eaLnBrk="1" hangingPunct="1">
              <a:spcBef>
                <a:spcPts val="60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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向量元素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在</a:t>
            </a:r>
            <a:r>
              <a:rPr lang="en-US" altLang="zh-CN" sz="2000" dirty="0">
                <a:solidFill>
                  <a:srgbClr val="FF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[0, 1]</a:t>
            </a:r>
            <a:r>
              <a:rPr lang="zh-CN" altLang="en-US" sz="2000" dirty="0">
                <a:solidFill>
                  <a:srgbClr val="FF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范围内取值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个元素依次表示</a:t>
            </a:r>
            <a:r>
              <a:rPr lang="zh-CN" altLang="en-US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红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zh-CN" altLang="en-US" sz="2000" dirty="0">
                <a:solidFill>
                  <a:srgbClr val="00FF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绿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蓝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种颜色的相对亮度</a:t>
            </a:r>
            <a:endParaRPr lang="en-US" altLang="zh-CN" sz="20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60045" eaLnBrk="1" hangingPunct="1">
              <a:spcBef>
                <a:spcPts val="60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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典型颜色色值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[0 0 1]-</a:t>
            </a:r>
            <a:r>
              <a:rPr lang="zh-CN" altLang="en-US" sz="200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蓝色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[1 0 0]-</a:t>
            </a:r>
            <a:r>
              <a:rPr lang="zh-CN" altLang="en-US" sz="200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红色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； 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[0 1 0]-</a:t>
            </a:r>
            <a:r>
              <a:rPr lang="zh-CN" altLang="en-US" sz="2000" dirty="0">
                <a:solidFill>
                  <a:srgbClr val="00FF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绿色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；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[1 1 1]-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白色；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[0 0 0]-</a:t>
            </a:r>
            <a:r>
              <a:rPr lang="zh-CN" altLang="en-US" sz="20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黑色</a:t>
            </a:r>
            <a:endParaRPr lang="en-US" altLang="zh-CN" sz="100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ts val="1200"/>
              </a:spcBef>
              <a:spcAft>
                <a:spcPts val="0"/>
              </a:spcAft>
            </a:pPr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色图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colormap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、显示颜色栏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colorbar</a:t>
            </a:r>
            <a:r>
              <a:rPr lang="en-US" altLang="zh-CN" sz="2400" b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sz="2400" b="1" dirty="0">
              <a:solidFill>
                <a:srgbClr val="000000"/>
              </a:solidFill>
              <a:latin typeface="+mn-lt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60045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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色图矩阵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：每一行是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RGB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三元组，表示一种颜色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+mn-cs"/>
              <a:sym typeface="Wingdings" panose="05000000000000000000" pitchFamily="2" charset="2"/>
            </a:endParaRPr>
          </a:p>
          <a:p>
            <a:pPr marL="360045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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设置当前窗口颜色图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colormap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cmapname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 /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colormap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cmap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+mn-cs"/>
              <a:sym typeface="Wingdings" panose="05000000000000000000" pitchFamily="2" charset="2"/>
            </a:endParaRPr>
          </a:p>
          <a:p>
            <a:pPr marL="53975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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cmapname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：内建色图（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parula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默认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)/jet/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hsv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/hot/cool/spring/summer/…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+mn-cs"/>
              <a:sym typeface="Wingdings" panose="05000000000000000000" pitchFamily="2" charset="2"/>
            </a:endParaRPr>
          </a:p>
          <a:p>
            <a:pPr marL="53975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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cmap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：内建色图或自定义色图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+mn-cs"/>
              <a:sym typeface="Wingdings" panose="05000000000000000000" pitchFamily="2" charset="2"/>
            </a:endParaRPr>
          </a:p>
          <a:p>
            <a:pPr marL="360045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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查看当前窗口颜色图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colormap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；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显示颜色栏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colorbar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+mn-cs"/>
              <a:sym typeface="Wingdings" panose="05000000000000000000" pitchFamily="2" charset="2"/>
            </a:endParaRPr>
          </a:p>
          <a:p>
            <a:pPr marL="360045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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colormap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作用于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整个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figure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colorbar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作用于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  <a:sym typeface="Wingdings" panose="05000000000000000000" pitchFamily="2" charset="2"/>
              </a:rPr>
              <a:t>单个子图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+mn-cs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5112568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色彩处理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208590" cy="989301"/>
          </a:xfrm>
        </p:spPr>
        <p:txBody>
          <a:bodyPr/>
          <a:lstStyle/>
          <a:p>
            <a:r>
              <a:rPr lang="zh-CN" altLang="en-US" dirty="0"/>
              <a:t>颜色的向量表示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RGB</a:t>
            </a:r>
            <a:r>
              <a:rPr lang="zh-CN" altLang="en-US" dirty="0">
                <a:solidFill>
                  <a:srgbClr val="FF0000"/>
                </a:solidFill>
              </a:rPr>
              <a:t>三元组</a:t>
            </a:r>
            <a:r>
              <a:rPr lang="en-US" altLang="zh-CN" dirty="0"/>
              <a:t>)</a:t>
            </a:r>
            <a:r>
              <a:rPr lang="zh-CN" altLang="en-US" dirty="0"/>
              <a:t>、色图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colormap</a:t>
            </a:r>
            <a:r>
              <a:rPr lang="en-US" altLang="zh-CN" dirty="0"/>
              <a:t>)</a:t>
            </a:r>
            <a:r>
              <a:rPr lang="zh-CN" altLang="en-US" dirty="0"/>
              <a:t>、显示颜色栏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colorbar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915" y="4155815"/>
            <a:ext cx="3857143" cy="133333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55" y="5301208"/>
            <a:ext cx="3809524" cy="1333333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26817" y="2215779"/>
            <a:ext cx="3744416" cy="1785104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n-US" altLang="zh-CN" dirty="0"/>
              <a:t>Z = [1 2 3 4 5 6;</a:t>
            </a:r>
            <a:endParaRPr lang="en-US" altLang="zh-CN" dirty="0"/>
          </a:p>
          <a:p>
            <a:r>
              <a:rPr lang="en-US" altLang="zh-CN" dirty="0"/>
              <a:t>2 4 6 8 10 12;</a:t>
            </a:r>
            <a:endParaRPr lang="en-US" altLang="zh-CN" dirty="0"/>
          </a:p>
          <a:p>
            <a:r>
              <a:rPr lang="en-US" altLang="zh-CN" dirty="0"/>
              <a:t>3 4 5 6 7 8];</a:t>
            </a:r>
            <a:endParaRPr lang="en-US" altLang="zh-CN" dirty="0"/>
          </a:p>
          <a:p>
            <a:r>
              <a:rPr lang="en-US" altLang="zh-CN" dirty="0"/>
              <a:t>subplot(1,2,1), </a:t>
            </a:r>
            <a:r>
              <a:rPr lang="en-US" altLang="zh-CN" dirty="0">
                <a:solidFill>
                  <a:srgbClr val="0000FF"/>
                </a:solidFill>
              </a:rPr>
              <a:t>surf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Z</a:t>
            </a:r>
            <a:r>
              <a:rPr lang="en-US" altLang="zh-CN" dirty="0"/>
              <a:t>), </a:t>
            </a:r>
            <a:r>
              <a:rPr lang="en-US" altLang="zh-CN" dirty="0" err="1">
                <a:solidFill>
                  <a:srgbClr val="0000FF"/>
                </a:solidFill>
              </a:rPr>
              <a:t>colorbar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subplot(1,2,2), </a:t>
            </a:r>
            <a:r>
              <a:rPr lang="en-US" altLang="zh-CN" dirty="0">
                <a:solidFill>
                  <a:srgbClr val="0000FF"/>
                </a:solidFill>
              </a:rPr>
              <a:t>surf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Z*2</a:t>
            </a:r>
            <a:r>
              <a:rPr lang="en-US" altLang="zh-CN" dirty="0"/>
              <a:t>), </a:t>
            </a:r>
            <a:r>
              <a:rPr lang="en-US" altLang="zh-CN" dirty="0" err="1">
                <a:solidFill>
                  <a:srgbClr val="0000FF"/>
                </a:solidFill>
              </a:rPr>
              <a:t>colorbar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10948" y="5586399"/>
            <a:ext cx="1619282" cy="400110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FF"/>
                </a:solidFill>
                <a:effectLst/>
                <a:latin typeface="+mn-lt"/>
              </a:rPr>
              <a:t>colormap</a:t>
            </a:r>
            <a:r>
              <a:rPr lang="en-US" altLang="zh-CN" sz="2000" b="0" i="0" dirty="0">
                <a:effectLst/>
                <a:latin typeface="+mn-lt"/>
              </a:rPr>
              <a:t> </a:t>
            </a:r>
            <a:r>
              <a:rPr lang="en-US" altLang="zh-CN" sz="2000" b="0" i="0" dirty="0">
                <a:solidFill>
                  <a:srgbClr val="AA04F9"/>
                </a:solidFill>
                <a:effectLst/>
                <a:latin typeface="+mn-lt"/>
              </a:rPr>
              <a:t>hot</a:t>
            </a:r>
            <a:endParaRPr lang="en-US" altLang="zh-CN" sz="2000" b="0" i="0" dirty="0">
              <a:effectLst/>
              <a:latin typeface="+mn-lt"/>
            </a:endParaRPr>
          </a:p>
        </p:txBody>
      </p:sp>
      <p:cxnSp>
        <p:nvCxnSpPr>
          <p:cNvPr id="27" name="直接箭头连接符 26"/>
          <p:cNvCxnSpPr/>
          <p:nvPr/>
        </p:nvCxnSpPr>
        <p:spPr bwMode="auto">
          <a:xfrm flipV="1">
            <a:off x="3491653" y="2215779"/>
            <a:ext cx="1588402" cy="213210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30" name="直接箭头连接符 29"/>
          <p:cNvCxnSpPr/>
          <p:nvPr/>
        </p:nvCxnSpPr>
        <p:spPr bwMode="auto">
          <a:xfrm flipV="1">
            <a:off x="4711166" y="3108331"/>
            <a:ext cx="364595" cy="2552917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36" name="文本框 35"/>
          <p:cNvSpPr txBox="1"/>
          <p:nvPr/>
        </p:nvSpPr>
        <p:spPr>
          <a:xfrm>
            <a:off x="3158230" y="6120345"/>
            <a:ext cx="1872000" cy="400110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0" i="0" dirty="0">
                <a:solidFill>
                  <a:srgbClr val="0000FF"/>
                </a:solidFill>
                <a:effectLst/>
                <a:latin typeface="+mn-lt"/>
              </a:rPr>
              <a:t>colormap</a:t>
            </a:r>
            <a:r>
              <a:rPr lang="en-US" altLang="zh-CN" sz="2000" b="0" i="0" dirty="0">
                <a:effectLst/>
                <a:latin typeface="+mn-lt"/>
              </a:rPr>
              <a:t> </a:t>
            </a:r>
            <a:r>
              <a:rPr lang="en-US" altLang="zh-CN" b="0" i="0" dirty="0">
                <a:solidFill>
                  <a:srgbClr val="028009"/>
                </a:solidFill>
                <a:effectLst/>
                <a:latin typeface="+mn-lt"/>
              </a:rPr>
              <a:t>%</a:t>
            </a:r>
            <a:r>
              <a:rPr lang="zh-CN" altLang="en-US" b="0" i="0" dirty="0">
                <a:solidFill>
                  <a:srgbClr val="028009"/>
                </a:solidFill>
                <a:effectLst/>
                <a:latin typeface="+mn-lt"/>
              </a:rPr>
              <a:t>查看</a:t>
            </a:r>
            <a:endParaRPr lang="en-US" altLang="zh-CN" sz="2000" b="0" i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</p:txBody>
      </p:sp>
      <p:cxnSp>
        <p:nvCxnSpPr>
          <p:cNvPr id="38" name="直接箭头连接符 37"/>
          <p:cNvCxnSpPr/>
          <p:nvPr/>
        </p:nvCxnSpPr>
        <p:spPr bwMode="auto">
          <a:xfrm>
            <a:off x="4860032" y="5805264"/>
            <a:ext cx="288032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grpSp>
        <p:nvGrpSpPr>
          <p:cNvPr id="49" name="组合 48"/>
          <p:cNvGrpSpPr/>
          <p:nvPr/>
        </p:nvGrpSpPr>
        <p:grpSpPr>
          <a:xfrm>
            <a:off x="239252" y="5680993"/>
            <a:ext cx="2748572" cy="850539"/>
            <a:chOff x="239252" y="5680993"/>
            <a:chExt cx="2748572" cy="850539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3"/>
            <a:srcRect t="1" b="64288"/>
            <a:stretch>
              <a:fillRect/>
            </a:stretch>
          </p:blipFill>
          <p:spPr>
            <a:xfrm>
              <a:off x="239252" y="5709158"/>
              <a:ext cx="2748572" cy="822374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</p:pic>
        <p:sp>
          <p:nvSpPr>
            <p:cNvPr id="48" name="文本框 47"/>
            <p:cNvSpPr txBox="1"/>
            <p:nvPr/>
          </p:nvSpPr>
          <p:spPr>
            <a:xfrm>
              <a:off x="1526873" y="5680993"/>
              <a:ext cx="1260281" cy="338554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>
                <a:defRPr sz="2000" b="1">
                  <a:ln w="6350">
                    <a:solidFill>
                      <a:srgbClr val="F321F3"/>
                    </a:solidFill>
                    <a:prstDash val="solid"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</a:lstStyle>
            <a:p>
              <a:r>
                <a:rPr lang="en-US" altLang="zh-CN" sz="1600" dirty="0"/>
                <a:t>RGB</a:t>
              </a:r>
              <a:r>
                <a:rPr lang="zh-CN" altLang="en-US" sz="1600" dirty="0"/>
                <a:t>三元组</a:t>
              </a:r>
              <a:endParaRPr lang="zh-CN" altLang="en-US" sz="1600" dirty="0"/>
            </a:p>
          </p:txBody>
        </p:sp>
      </p:grpSp>
      <p:cxnSp>
        <p:nvCxnSpPr>
          <p:cNvPr id="40" name="直接箭头连接符 39"/>
          <p:cNvCxnSpPr/>
          <p:nvPr/>
        </p:nvCxnSpPr>
        <p:spPr bwMode="auto">
          <a:xfrm flipH="1">
            <a:off x="2940840" y="6345532"/>
            <a:ext cx="238016" cy="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grpSp>
        <p:nvGrpSpPr>
          <p:cNvPr id="2" name="组合 1"/>
          <p:cNvGrpSpPr/>
          <p:nvPr/>
        </p:nvGrpSpPr>
        <p:grpSpPr>
          <a:xfrm>
            <a:off x="4220589" y="1671321"/>
            <a:ext cx="4644168" cy="3515357"/>
            <a:chOff x="4220589" y="1671321"/>
            <a:chExt cx="4644168" cy="3515357"/>
          </a:xfrm>
        </p:grpSpPr>
        <p:grpSp>
          <p:nvGrpSpPr>
            <p:cNvPr id="16" name="组合 15"/>
            <p:cNvGrpSpPr/>
            <p:nvPr/>
          </p:nvGrpSpPr>
          <p:grpSpPr>
            <a:xfrm>
              <a:off x="4220589" y="1671321"/>
              <a:ext cx="4644168" cy="3515357"/>
              <a:chOff x="4355976" y="2569778"/>
              <a:chExt cx="4644168" cy="3515357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4355976" y="2600700"/>
                <a:ext cx="4644168" cy="3484435"/>
                <a:chOff x="3600561" y="2204864"/>
                <a:chExt cx="5399583" cy="3880271"/>
              </a:xfrm>
            </p:grpSpPr>
            <p:pic>
              <p:nvPicPr>
                <p:cNvPr id="7" name="图片 6"/>
                <p:cNvPicPr>
                  <a:picLocks noChangeAspect="1"/>
                </p:cNvPicPr>
                <p:nvPr/>
              </p:nvPicPr>
              <p:blipFill rotWithShape="1">
                <a:blip r:embed="rId4"/>
                <a:srcRect r="90164"/>
                <a:stretch>
                  <a:fillRect/>
                </a:stretch>
              </p:blipFill>
              <p:spPr>
                <a:xfrm>
                  <a:off x="3600561" y="2204864"/>
                  <a:ext cx="899431" cy="3880271"/>
                </a:xfrm>
                <a:prstGeom prst="rect">
                  <a:avLst/>
                </a:prstGeom>
              </p:spPr>
            </p:pic>
            <p:pic>
              <p:nvPicPr>
                <p:cNvPr id="8" name="图片 7"/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50786"/>
                <a:stretch>
                  <a:fillRect/>
                </a:stretch>
              </p:blipFill>
              <p:spPr>
                <a:xfrm>
                  <a:off x="4499991" y="2204864"/>
                  <a:ext cx="4500153" cy="3880271"/>
                </a:xfrm>
                <a:prstGeom prst="rect">
                  <a:avLst/>
                </a:prstGeom>
              </p:spPr>
            </p:pic>
          </p:grpSp>
          <p:sp>
            <p:nvSpPr>
              <p:cNvPr id="11" name="文本框 10"/>
              <p:cNvSpPr txBox="1"/>
              <p:nvPr/>
            </p:nvSpPr>
            <p:spPr>
              <a:xfrm>
                <a:off x="6588224" y="2569778"/>
                <a:ext cx="122413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>
                  <a:defRPr sz="2000" b="1">
                    <a:ln w="6350">
                      <a:solidFill>
                        <a:srgbClr val="F321F3"/>
                      </a:solidFill>
                      <a:prstDash val="solid"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</a:lstStyle>
              <a:p>
                <a:r>
                  <a:rPr lang="zh-CN" altLang="en-US" dirty="0">
                    <a:sym typeface="Wingdings" panose="05000000000000000000" pitchFamily="2" charset="2"/>
                  </a:rPr>
                  <a:t>内建色图</a:t>
                </a:r>
                <a:endParaRPr lang="zh-CN" altLang="en-US" dirty="0"/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4598376" y="1965056"/>
              <a:ext cx="6422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FF00FF"/>
                  </a:solidFill>
                  <a:latin typeface="Times New Roman" panose="02020603050405020304"/>
                  <a:ea typeface="楷体" panose="02010609060101010101" pitchFamily="49" charset="-122"/>
                  <a:sym typeface="Wingdings" panose="05000000000000000000" pitchFamily="2" charset="2"/>
                </a:rPr>
                <a:t>默认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36000" y="3645024"/>
            <a:ext cx="2880000" cy="1946687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n-US" altLang="zh-CN" sz="1800" dirty="0"/>
              <a:t>x = -2 : 0.2 : 2;</a:t>
            </a:r>
            <a:endParaRPr lang="en-US" altLang="zh-CN" sz="1800" dirty="0"/>
          </a:p>
          <a:p>
            <a:r>
              <a:rPr lang="en-US" altLang="zh-CN" sz="1800" dirty="0"/>
              <a:t>y = -2 : 0.2 : 2; </a:t>
            </a:r>
            <a:endParaRPr lang="en-US" altLang="zh-CN" sz="1800" dirty="0"/>
          </a:p>
          <a:p>
            <a:r>
              <a:rPr lang="en-US" altLang="zh-CN" sz="1800" dirty="0"/>
              <a:t>%X = </a:t>
            </a:r>
            <a:r>
              <a:rPr lang="en-US" altLang="zh-CN" sz="1800" dirty="0" err="1"/>
              <a:t>repmat</a:t>
            </a:r>
            <a:r>
              <a:rPr lang="en-US" altLang="zh-CN" sz="1800" dirty="0"/>
              <a:t>(</a:t>
            </a:r>
            <a:r>
              <a:rPr lang="en-US" altLang="zh-CN" sz="1800" dirty="0" err="1"/>
              <a:t>x,length</a:t>
            </a:r>
            <a:r>
              <a:rPr lang="en-US" altLang="zh-CN" sz="1800" dirty="0"/>
              <a:t>(y),1);</a:t>
            </a:r>
            <a:endParaRPr lang="en-US" altLang="zh-CN" sz="1800" dirty="0"/>
          </a:p>
          <a:p>
            <a:r>
              <a:rPr lang="en-US" altLang="zh-CN" sz="1800" dirty="0"/>
              <a:t>%Y = </a:t>
            </a:r>
            <a:r>
              <a:rPr lang="en-US" altLang="zh-CN" sz="1800" dirty="0" err="1"/>
              <a:t>repmat</a:t>
            </a:r>
            <a:r>
              <a:rPr lang="en-US" altLang="zh-CN" sz="1800" dirty="0"/>
              <a:t>(y',1,length(x));</a:t>
            </a:r>
            <a:endParaRPr lang="en-US" altLang="zh-CN" sz="1800" dirty="0"/>
          </a:p>
          <a:p>
            <a:r>
              <a:rPr lang="en-US" altLang="zh-CN" sz="1800" dirty="0"/>
              <a:t>[X, Y] = </a:t>
            </a:r>
            <a:r>
              <a:rPr lang="en-US" altLang="zh-CN" sz="1800" dirty="0" err="1">
                <a:solidFill>
                  <a:srgbClr val="0000FF"/>
                </a:solidFill>
              </a:rPr>
              <a:t>meshgrid</a:t>
            </a:r>
            <a:r>
              <a:rPr lang="en-US" altLang="zh-CN" sz="1800" dirty="0"/>
              <a:t>(x, y);</a:t>
            </a:r>
            <a:endParaRPr lang="en-US" altLang="zh-CN" sz="1800" dirty="0"/>
          </a:p>
          <a:p>
            <a:r>
              <a:rPr lang="en-US" altLang="zh-CN" sz="1800" dirty="0"/>
              <a:t>Z = X .* exp(-X .^ 2 - Y .^ 2);</a:t>
            </a:r>
            <a:endParaRPr lang="en-US" altLang="zh-CN" sz="18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5112568" cy="720725"/>
          </a:xfrm>
        </p:spPr>
        <p:txBody>
          <a:bodyPr/>
          <a:lstStyle/>
          <a:p>
            <a:r>
              <a:rPr lang="zh-CN" altLang="en-US" dirty="0"/>
              <a:t>三维绘图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——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等高图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208590" cy="989301"/>
          </a:xfrm>
        </p:spPr>
        <p:txBody>
          <a:bodyPr/>
          <a:lstStyle/>
          <a:p>
            <a:r>
              <a:rPr lang="zh-CN" altLang="en-US" dirty="0"/>
              <a:t>带等高线（</a:t>
            </a:r>
            <a:r>
              <a:rPr lang="en-US" altLang="zh-CN" dirty="0" err="1">
                <a:solidFill>
                  <a:srgbClr val="FF0000"/>
                </a:solidFill>
              </a:rPr>
              <a:t>meshc</a:t>
            </a:r>
            <a:r>
              <a:rPr lang="en-US" altLang="zh-CN" dirty="0"/>
              <a:t> / </a:t>
            </a:r>
            <a:r>
              <a:rPr lang="en-US" altLang="zh-CN" dirty="0" err="1">
                <a:solidFill>
                  <a:srgbClr val="FF0000"/>
                </a:solidFill>
              </a:rPr>
              <a:t>surfc</a:t>
            </a:r>
            <a:r>
              <a:rPr lang="zh-CN" altLang="en-US" dirty="0"/>
              <a:t>）、带帷幕（</a:t>
            </a:r>
            <a:r>
              <a:rPr lang="en-US" altLang="zh-CN" dirty="0" err="1">
                <a:solidFill>
                  <a:srgbClr val="FF0000"/>
                </a:solidFill>
              </a:rPr>
              <a:t>meshz</a:t>
            </a:r>
            <a:r>
              <a:rPr lang="zh-CN" altLang="en-US" dirty="0"/>
              <a:t>）、带光照效果（</a:t>
            </a:r>
            <a:r>
              <a:rPr lang="en-US" altLang="zh-CN" dirty="0" err="1">
                <a:solidFill>
                  <a:srgbClr val="FF0000"/>
                </a:solidFill>
              </a:rPr>
              <a:t>surfl</a:t>
            </a:r>
            <a:r>
              <a:rPr lang="zh-CN" altLang="en-US" dirty="0"/>
              <a:t>）、等高线（</a:t>
            </a:r>
            <a:r>
              <a:rPr lang="en-US" altLang="zh-CN" dirty="0">
                <a:solidFill>
                  <a:srgbClr val="FF0000"/>
                </a:solidFill>
              </a:rPr>
              <a:t>contour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6000" y="5805264"/>
            <a:ext cx="9072000" cy="1000274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2000">
                <a:latin typeface="+mn-lt"/>
              </a:defRPr>
            </a:lvl1pPr>
          </a:lstStyle>
          <a:p>
            <a:r>
              <a:rPr lang="en-US" altLang="zh-CN" sz="1800" dirty="0"/>
              <a:t>subplot(2, 4, 1), </a:t>
            </a:r>
            <a:r>
              <a:rPr lang="en-US" altLang="zh-CN" sz="1800" dirty="0">
                <a:solidFill>
                  <a:srgbClr val="0000FF"/>
                </a:solidFill>
              </a:rPr>
              <a:t>mesh</a:t>
            </a:r>
            <a:r>
              <a:rPr lang="en-US" altLang="zh-CN" sz="1800" dirty="0"/>
              <a:t>(X, Y, Z), subplot(2, 4, 2), </a:t>
            </a:r>
            <a:r>
              <a:rPr lang="en-US" altLang="zh-CN" sz="1800" dirty="0" err="1">
                <a:solidFill>
                  <a:srgbClr val="0000FF"/>
                </a:solidFill>
              </a:rPr>
              <a:t>meshc</a:t>
            </a:r>
            <a:r>
              <a:rPr lang="en-US" altLang="zh-CN" sz="1800" dirty="0"/>
              <a:t>(X, Y, Z),subplot(2, 4, 3),  </a:t>
            </a:r>
            <a:r>
              <a:rPr lang="en-US" altLang="zh-CN" sz="1800" dirty="0" err="1">
                <a:solidFill>
                  <a:srgbClr val="0000FF"/>
                </a:solidFill>
              </a:rPr>
              <a:t>meshz</a:t>
            </a:r>
            <a:r>
              <a:rPr lang="en-US" altLang="zh-CN" sz="1800" dirty="0"/>
              <a:t>(X, Y, Z),  </a:t>
            </a:r>
            <a:endParaRPr lang="en-US" altLang="zh-CN" sz="1800" dirty="0"/>
          </a:p>
          <a:p>
            <a:r>
              <a:rPr lang="en-US" altLang="zh-CN" sz="1800" dirty="0"/>
              <a:t>subplot(2, 4, 5), </a:t>
            </a:r>
            <a:r>
              <a:rPr lang="en-US" altLang="zh-CN" sz="1800" dirty="0">
                <a:solidFill>
                  <a:srgbClr val="0000FF"/>
                </a:solidFill>
              </a:rPr>
              <a:t>surf</a:t>
            </a:r>
            <a:r>
              <a:rPr lang="en-US" altLang="zh-CN" sz="1800" dirty="0"/>
              <a:t>(X, Y, Z),   subplot(2, 4, 6), </a:t>
            </a:r>
            <a:r>
              <a:rPr lang="en-US" altLang="zh-CN" sz="1800" dirty="0" err="1">
                <a:solidFill>
                  <a:srgbClr val="0000FF"/>
                </a:solidFill>
              </a:rPr>
              <a:t>surfc</a:t>
            </a:r>
            <a:r>
              <a:rPr lang="en-US" altLang="zh-CN" sz="1800" dirty="0"/>
              <a:t>(X, Y, Z),  subplot(2, 4, 7),  </a:t>
            </a:r>
            <a:r>
              <a:rPr lang="en-US" altLang="zh-CN" sz="1800" dirty="0" err="1">
                <a:solidFill>
                  <a:srgbClr val="0000FF"/>
                </a:solidFill>
              </a:rPr>
              <a:t>surfl</a:t>
            </a:r>
            <a:r>
              <a:rPr lang="en-US" altLang="zh-CN" sz="1800" dirty="0"/>
              <a:t>(X, Y, Z)</a:t>
            </a:r>
            <a:endParaRPr lang="en-US" altLang="zh-CN" sz="1800" dirty="0"/>
          </a:p>
          <a:p>
            <a:r>
              <a:rPr lang="en-US" altLang="zh-CN" sz="1800" dirty="0"/>
              <a:t>subplot(2, 4, 4), </a:t>
            </a:r>
            <a:r>
              <a:rPr lang="en-US" altLang="zh-CN" sz="1800" dirty="0">
                <a:solidFill>
                  <a:srgbClr val="0000FF"/>
                </a:solidFill>
              </a:rPr>
              <a:t>contour</a:t>
            </a:r>
            <a:r>
              <a:rPr lang="en-US" altLang="zh-CN" sz="1800" dirty="0"/>
              <a:t>(X, Y, Z)</a:t>
            </a:r>
            <a:endParaRPr lang="en-US" altLang="zh-CN" sz="18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1751" y="2024486"/>
            <a:ext cx="6066667" cy="37428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850" y="1071245"/>
            <a:ext cx="8352155" cy="5392420"/>
          </a:xfrm>
        </p:spPr>
        <p:txBody>
          <a:bodyPr/>
          <a:lstStyle/>
          <a:p>
            <a:pPr algn="l">
              <a:buSzTx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 latinLnBrk="0">
              <a:spcBef>
                <a:spcPts val="600"/>
              </a:spcBef>
              <a:spcAft>
                <a:spcPts val="300"/>
              </a:spcAft>
              <a:buClrTx/>
              <a:buSzTx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二维图形绘制</a:t>
            </a:r>
            <a:endParaRPr lang="zh-CN" altLang="en-US"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cs typeface="+mn-lt"/>
              </a:rPr>
              <a:t>基础曲线绘制、图形标注与坐标控制、子图、特殊坐标系图形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(</a:t>
            </a:r>
            <a:r>
              <a:rPr lang="zh-CN" altLang="en-US" dirty="0">
                <a:solidFill>
                  <a:schemeClr val="tx1"/>
                </a:solidFill>
                <a:cs typeface="+mn-lt"/>
              </a:rPr>
              <a:t>极坐标、对数坐标、双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y</a:t>
            </a:r>
            <a:r>
              <a:rPr lang="zh-CN" altLang="en-US" dirty="0">
                <a:solidFill>
                  <a:schemeClr val="tx1"/>
                </a:solidFill>
                <a:cs typeface="+mn-lt"/>
              </a:rPr>
              <a:t>轴坐标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)</a:t>
            </a:r>
            <a:endParaRPr lang="zh-CN" altLang="en-US" dirty="0">
              <a:solidFill>
                <a:schemeClr val="tx1"/>
              </a:solidFill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三维图形绘制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ea typeface="楷体" panose="02010609060101010101" pitchFamily="49" charset="-122"/>
                <a:cs typeface="+mn-lt"/>
              </a:rPr>
              <a:t>三维曲线、三维曲面、色彩处理、等高图</a:t>
            </a:r>
            <a:endParaRPr lang="zh-CN" altLang="en-US" dirty="0"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特殊图形绘制</a:t>
            </a:r>
            <a:r>
              <a:rPr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en-US" altLang="zh-CN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solidFill>
                  <a:srgbClr val="0000FF"/>
                </a:solidFill>
                <a:ea typeface="楷体" panose="02010609060101010101" pitchFamily="49" charset="-122"/>
                <a:cs typeface="+mn-lt"/>
              </a:rPr>
              <a:t>饼图、条形图、直方图</a:t>
            </a:r>
            <a:endParaRPr lang="zh-CN" altLang="en-US" sz="2000" dirty="0">
              <a:solidFill>
                <a:srgbClr val="0000FF"/>
              </a:solidFill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图形窗口操作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ea typeface="楷体" panose="02010609060101010101" pitchFamily="49" charset="-122"/>
                <a:cs typeface="+mn-lt"/>
              </a:rPr>
              <a:t>图形窗口创建与管理、图形句柄与属性设置</a:t>
            </a:r>
            <a:endParaRPr lang="zh-CN" altLang="en-US" sz="2000" dirty="0">
              <a:ea typeface="楷体" panose="02010609060101010101" pitchFamily="49" charset="-122"/>
              <a:cs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1460" y="44450"/>
            <a:ext cx="8234045" cy="72072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Ch06  MATLAB</a:t>
            </a:r>
            <a:r>
              <a:rPr lang="zh-CN" altLang="en-US" dirty="0">
                <a:sym typeface="+mn-ea"/>
              </a:rPr>
              <a:t>绘图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8351838" cy="557254"/>
          </a:xfrm>
        </p:spPr>
        <p:txBody>
          <a:bodyPr/>
          <a:lstStyle/>
          <a:p>
            <a:r>
              <a:rPr lang="zh-CN" altLang="en-US" dirty="0"/>
              <a:t>饼图（</a:t>
            </a:r>
            <a:r>
              <a:rPr lang="en-US" altLang="zh-CN" dirty="0">
                <a:solidFill>
                  <a:srgbClr val="FF0000"/>
                </a:solidFill>
              </a:rPr>
              <a:t>pie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pie3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特殊图形的绘制 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51520" y="2276872"/>
            <a:ext cx="3816424" cy="2893100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1800">
                <a:latin typeface="+mn-lt"/>
              </a:defRPr>
            </a:lvl1pPr>
          </a:lstStyle>
          <a:p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zh-CN" altLang="en-US" b="1" dirty="0">
                <a:solidFill>
                  <a:srgbClr val="FF0000"/>
                </a:solidFill>
              </a:rPr>
              <a:t>矢量 （饼图）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US" altLang="zh-CN" dirty="0"/>
              <a:t>x = [1 2 5 4 8]; </a:t>
            </a:r>
            <a:endParaRPr lang="en-US" altLang="zh-CN" dirty="0"/>
          </a:p>
          <a:p>
            <a:r>
              <a:rPr lang="en-US" altLang="zh-CN" dirty="0"/>
              <a:t>subplot(2, 2, 1),   </a:t>
            </a:r>
            <a:r>
              <a:rPr lang="en-US" altLang="zh-CN" dirty="0">
                <a:solidFill>
                  <a:srgbClr val="0000FF"/>
                </a:solidFill>
              </a:rPr>
              <a:t>pie</a:t>
            </a:r>
            <a:r>
              <a:rPr lang="en-US" altLang="zh-CN" dirty="0"/>
              <a:t>(x),   </a:t>
            </a:r>
            <a:endParaRPr lang="en-US" altLang="zh-CN" dirty="0"/>
          </a:p>
          <a:p>
            <a:r>
              <a:rPr lang="en-US" altLang="zh-CN" dirty="0"/>
              <a:t>subplot(2, 2, 2),   </a:t>
            </a:r>
            <a:r>
              <a:rPr lang="en-US" altLang="zh-CN" dirty="0">
                <a:solidFill>
                  <a:srgbClr val="0000FF"/>
                </a:solidFill>
              </a:rPr>
              <a:t>pie3</a:t>
            </a:r>
            <a:r>
              <a:rPr lang="en-US" altLang="zh-CN" dirty="0"/>
              <a:t>(x), </a:t>
            </a:r>
            <a:endParaRPr lang="en-US" altLang="zh-CN" dirty="0"/>
          </a:p>
          <a:p>
            <a:r>
              <a:rPr lang="en-US" altLang="zh-CN" dirty="0"/>
              <a:t>  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zh-CN" altLang="en-US" b="1" dirty="0">
                <a:solidFill>
                  <a:srgbClr val="FF0000"/>
                </a:solidFill>
              </a:rPr>
              <a:t>二维矩阵（矩阵的每个元素参与）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dirty="0"/>
              <a:t>y = [x; 1:5] ; </a:t>
            </a:r>
            <a:endParaRPr lang="en-US" altLang="zh-CN" dirty="0"/>
          </a:p>
          <a:p>
            <a:r>
              <a:rPr lang="en-US" altLang="zh-CN" dirty="0"/>
              <a:t>subplot(2, 2, 3),  </a:t>
            </a:r>
            <a:r>
              <a:rPr lang="en-US" altLang="zh-CN" dirty="0">
                <a:solidFill>
                  <a:srgbClr val="0000FF"/>
                </a:solidFill>
              </a:rPr>
              <a:t>pie</a:t>
            </a:r>
            <a:r>
              <a:rPr lang="en-US" altLang="zh-CN" dirty="0"/>
              <a:t>(y),   </a:t>
            </a:r>
            <a:endParaRPr lang="en-US" altLang="zh-CN" dirty="0"/>
          </a:p>
          <a:p>
            <a:r>
              <a:rPr lang="en-US" altLang="zh-CN" dirty="0"/>
              <a:t>subplot(2, 2, 4),  </a:t>
            </a:r>
            <a:r>
              <a:rPr lang="en-US" altLang="zh-CN" dirty="0">
                <a:solidFill>
                  <a:srgbClr val="0000FF"/>
                </a:solidFill>
              </a:rPr>
              <a:t>pie3</a:t>
            </a:r>
            <a:r>
              <a:rPr lang="en-US" altLang="zh-CN" dirty="0"/>
              <a:t>(y),   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9952" y="1625937"/>
            <a:ext cx="4880000" cy="42857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07888" y="1935173"/>
            <a:ext cx="3456000" cy="4154984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1800">
                <a:latin typeface="+mn-lt"/>
              </a:defRPr>
            </a:lvl1pPr>
          </a:lstStyle>
          <a:p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zh-CN" altLang="en-US" b="1" dirty="0">
                <a:solidFill>
                  <a:srgbClr val="FF0000"/>
                </a:solidFill>
              </a:rPr>
              <a:t>矢量 （条形图）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US" altLang="zh-CN" dirty="0"/>
              <a:t>x = [1 2 5 4 8]; </a:t>
            </a:r>
            <a:endParaRPr lang="en-US" altLang="zh-CN" dirty="0"/>
          </a:p>
          <a:p>
            <a:r>
              <a:rPr lang="en-US" altLang="zh-CN" dirty="0"/>
              <a:t>subplot(2, 4, 1),   </a:t>
            </a:r>
            <a:r>
              <a:rPr lang="en-US" altLang="zh-CN" dirty="0">
                <a:solidFill>
                  <a:srgbClr val="0000FF"/>
                </a:solidFill>
              </a:rPr>
              <a:t>bar</a:t>
            </a:r>
            <a:r>
              <a:rPr lang="en-US" altLang="zh-CN" dirty="0"/>
              <a:t>(x),  </a:t>
            </a:r>
            <a:r>
              <a:rPr lang="en-US" altLang="zh-CN" sz="1400" dirty="0">
                <a:solidFill>
                  <a:srgbClr val="FF0000"/>
                </a:solidFill>
              </a:rPr>
              <a:t>%</a:t>
            </a:r>
            <a:r>
              <a:rPr lang="zh-CN" altLang="en-US" sz="1400" dirty="0">
                <a:solidFill>
                  <a:srgbClr val="FF0000"/>
                </a:solidFill>
              </a:rPr>
              <a:t>垂直</a:t>
            </a:r>
            <a:r>
              <a:rPr lang="en-US" altLang="zh-CN" sz="1400" dirty="0">
                <a:solidFill>
                  <a:srgbClr val="FF0000"/>
                </a:solidFill>
              </a:rPr>
              <a:t>     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subplot(2, 4, 2),   </a:t>
            </a:r>
            <a:r>
              <a:rPr lang="en-US" altLang="zh-CN" dirty="0" err="1">
                <a:solidFill>
                  <a:srgbClr val="0000FF"/>
                </a:solidFill>
              </a:rPr>
              <a:t>barh</a:t>
            </a:r>
            <a:r>
              <a:rPr lang="en-US" altLang="zh-CN" dirty="0"/>
              <a:t>(x), </a:t>
            </a:r>
            <a:r>
              <a:rPr lang="en-US" altLang="zh-CN" sz="1400" dirty="0">
                <a:solidFill>
                  <a:srgbClr val="FF0000"/>
                </a:solidFill>
              </a:rPr>
              <a:t>%</a:t>
            </a:r>
            <a:r>
              <a:rPr lang="zh-CN" altLang="en-US" sz="1400" dirty="0">
                <a:solidFill>
                  <a:srgbClr val="FF0000"/>
                </a:solidFill>
              </a:rPr>
              <a:t>水平 </a:t>
            </a:r>
            <a:r>
              <a:rPr lang="en-US" altLang="zh-CN" sz="1400" dirty="0">
                <a:solidFill>
                  <a:srgbClr val="FF0000"/>
                </a:solidFill>
              </a:rPr>
              <a:t> 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dirty="0"/>
              <a:t>subplot(2, 4, 3),   </a:t>
            </a:r>
            <a:r>
              <a:rPr lang="en-US" altLang="zh-CN" dirty="0">
                <a:solidFill>
                  <a:srgbClr val="0000FF"/>
                </a:solidFill>
              </a:rPr>
              <a:t>bar3</a:t>
            </a:r>
            <a:r>
              <a:rPr lang="en-US" altLang="zh-CN" dirty="0"/>
              <a:t>(x), </a:t>
            </a:r>
            <a:r>
              <a:rPr lang="en-US" altLang="zh-CN" sz="1400" dirty="0">
                <a:solidFill>
                  <a:srgbClr val="FF0000"/>
                </a:solidFill>
              </a:rPr>
              <a:t>%3D</a:t>
            </a:r>
            <a:r>
              <a:rPr lang="zh-CN" altLang="en-US" sz="1400" dirty="0">
                <a:solidFill>
                  <a:srgbClr val="FF0000"/>
                </a:solidFill>
              </a:rPr>
              <a:t>垂直</a:t>
            </a:r>
            <a:endParaRPr lang="en-US" altLang="zh-CN" dirty="0"/>
          </a:p>
          <a:p>
            <a:r>
              <a:rPr lang="en-US" altLang="zh-CN" dirty="0"/>
              <a:t>subplot(2, 4, 4),   </a:t>
            </a:r>
            <a:r>
              <a:rPr lang="en-US" altLang="zh-CN" dirty="0">
                <a:solidFill>
                  <a:srgbClr val="0000FF"/>
                </a:solidFill>
              </a:rPr>
              <a:t>bar3h</a:t>
            </a:r>
            <a:r>
              <a:rPr lang="en-US" altLang="zh-CN" dirty="0"/>
              <a:t>(x), </a:t>
            </a:r>
            <a:r>
              <a:rPr lang="en-US" altLang="zh-CN" sz="1400" dirty="0">
                <a:solidFill>
                  <a:srgbClr val="FF0000"/>
                </a:solidFill>
              </a:rPr>
              <a:t>%3D</a:t>
            </a:r>
            <a:r>
              <a:rPr lang="zh-CN" altLang="en-US" sz="1400" dirty="0">
                <a:solidFill>
                  <a:srgbClr val="FF0000"/>
                </a:solidFill>
              </a:rPr>
              <a:t>水平</a:t>
            </a:r>
            <a:endParaRPr lang="en-US" altLang="zh-CN" sz="1400" dirty="0"/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zh-CN" altLang="en-US" b="1" dirty="0">
                <a:solidFill>
                  <a:srgbClr val="FF0000"/>
                </a:solidFill>
              </a:rPr>
              <a:t>二维矩阵（按行分组显示）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US" altLang="zh-CN" dirty="0"/>
              <a:t>y = [x; 1:5] ; </a:t>
            </a:r>
            <a:endParaRPr lang="en-US" altLang="zh-CN" dirty="0"/>
          </a:p>
          <a:p>
            <a:r>
              <a:rPr lang="en-US" altLang="zh-CN" dirty="0"/>
              <a:t>subplot(2, 4, 5),   </a:t>
            </a:r>
            <a:r>
              <a:rPr lang="en-US" altLang="zh-CN" dirty="0">
                <a:solidFill>
                  <a:srgbClr val="0000FF"/>
                </a:solidFill>
              </a:rPr>
              <a:t>bar</a:t>
            </a:r>
            <a:r>
              <a:rPr lang="en-US" altLang="zh-CN" dirty="0"/>
              <a:t>(y),       </a:t>
            </a:r>
            <a:endParaRPr lang="en-US" altLang="zh-CN" dirty="0"/>
          </a:p>
          <a:p>
            <a:r>
              <a:rPr lang="en-US" altLang="zh-CN" dirty="0"/>
              <a:t>subplot(2, 4, 6),   </a:t>
            </a:r>
            <a:r>
              <a:rPr lang="en-US" altLang="zh-CN" dirty="0" err="1">
                <a:solidFill>
                  <a:srgbClr val="0000FF"/>
                </a:solidFill>
              </a:rPr>
              <a:t>barh</a:t>
            </a:r>
            <a:r>
              <a:rPr lang="en-US" altLang="zh-CN" dirty="0"/>
              <a:t>(y),   </a:t>
            </a:r>
            <a:endParaRPr lang="en-US" altLang="zh-CN" dirty="0"/>
          </a:p>
          <a:p>
            <a:r>
              <a:rPr lang="en-US" altLang="zh-CN" dirty="0"/>
              <a:t>subplot(2, 4, 7),   </a:t>
            </a:r>
            <a:r>
              <a:rPr lang="en-US" altLang="zh-CN" dirty="0">
                <a:solidFill>
                  <a:srgbClr val="0000FF"/>
                </a:solidFill>
              </a:rPr>
              <a:t>bar3</a:t>
            </a:r>
            <a:r>
              <a:rPr lang="en-US" altLang="zh-CN" dirty="0"/>
              <a:t>(y),     </a:t>
            </a:r>
            <a:endParaRPr lang="en-US" altLang="zh-CN" dirty="0"/>
          </a:p>
          <a:p>
            <a:r>
              <a:rPr lang="en-US" altLang="zh-CN" dirty="0"/>
              <a:t>subplot(2, 4, 8),   </a:t>
            </a:r>
            <a:r>
              <a:rPr lang="en-US" altLang="zh-CN" dirty="0">
                <a:solidFill>
                  <a:srgbClr val="0000FF"/>
                </a:solidFill>
              </a:rPr>
              <a:t>bar3h</a:t>
            </a:r>
            <a:r>
              <a:rPr lang="en-US" altLang="zh-CN" dirty="0"/>
              <a:t>(y),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8351838" cy="557254"/>
          </a:xfrm>
        </p:spPr>
        <p:txBody>
          <a:bodyPr/>
          <a:lstStyle/>
          <a:p>
            <a:r>
              <a:rPr lang="zh-CN" altLang="en-US" dirty="0"/>
              <a:t>条形图（</a:t>
            </a:r>
            <a:r>
              <a:rPr lang="en-US" altLang="zh-CN" dirty="0">
                <a:solidFill>
                  <a:srgbClr val="FF0000"/>
                </a:solidFill>
              </a:rPr>
              <a:t>bar</a:t>
            </a:r>
            <a:r>
              <a:rPr lang="en-US" altLang="zh-CN" dirty="0"/>
              <a:t> / </a:t>
            </a:r>
            <a:r>
              <a:rPr lang="en-US" altLang="zh-CN" dirty="0" err="1">
                <a:solidFill>
                  <a:srgbClr val="FF0000"/>
                </a:solidFill>
              </a:rPr>
              <a:t>barh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bar3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bar3h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特殊图形的绘制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541" y="2479550"/>
            <a:ext cx="5622857" cy="332571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995936" y="1973123"/>
            <a:ext cx="2507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条形图高度为元素值</a:t>
            </a:r>
            <a:endParaRPr lang="zh-CN" altLang="en-US" sz="2000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4320158" cy="485246"/>
          </a:xfrm>
        </p:spPr>
        <p:txBody>
          <a:bodyPr/>
          <a:lstStyle/>
          <a:p>
            <a:r>
              <a:rPr lang="zh-CN" altLang="en-US" dirty="0"/>
              <a:t>直方图（</a:t>
            </a:r>
            <a:r>
              <a:rPr lang="en-US" altLang="zh-CN" dirty="0">
                <a:solidFill>
                  <a:srgbClr val="FF0000"/>
                </a:solidFill>
              </a:rPr>
              <a:t>hist </a:t>
            </a:r>
            <a:r>
              <a:rPr lang="en-US" altLang="zh-CN" dirty="0"/>
              <a:t>/ </a:t>
            </a:r>
            <a:r>
              <a:rPr lang="en-US" altLang="zh-CN" dirty="0">
                <a:solidFill>
                  <a:srgbClr val="FF0000"/>
                </a:solidFill>
              </a:rPr>
              <a:t>histogram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251520" y="44450"/>
            <a:ext cx="6192838" cy="720725"/>
          </a:xfrm>
        </p:spPr>
        <p:txBody>
          <a:bodyPr/>
          <a:lstStyle/>
          <a:p>
            <a:r>
              <a:rPr lang="zh-CN" altLang="en-US" dirty="0"/>
              <a:t>特殊图形的绘制 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55576" y="1700808"/>
            <a:ext cx="7848872" cy="1717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eaLnBrk="1" hangingPunct="1">
              <a:spcBef>
                <a:spcPts val="600"/>
              </a:spcBef>
              <a:spcAft>
                <a:spcPts val="0"/>
              </a:spcAft>
              <a:defRPr sz="2400">
                <a:latin typeface="+mn-lt"/>
                <a:ea typeface="楷体" panose="02010609060101010101" pitchFamily="49" charset="-122"/>
              </a:defRPr>
            </a:lvl1pPr>
          </a:lstStyle>
          <a:p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lang="zh-CN" altLang="en-US" dirty="0">
                <a:solidFill>
                  <a:srgbClr val="FF0000"/>
                </a:solidFill>
              </a:rPr>
              <a:t>统计图</a:t>
            </a:r>
            <a:r>
              <a:rPr lang="zh-CN" altLang="en-US" dirty="0"/>
              <a:t>，主要用于数据统计分析，显示数据分布情况</a:t>
            </a:r>
            <a:endParaRPr lang="zh-CN" altLang="en-US" dirty="0"/>
          </a:p>
          <a:p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dirty="0">
                <a:solidFill>
                  <a:srgbClr val="FF0000"/>
                </a:solidFill>
              </a:rPr>
              <a:t>hist</a:t>
            </a:r>
            <a:r>
              <a:rPr lang="en-US" altLang="zh-CN" dirty="0"/>
              <a:t> / </a:t>
            </a:r>
            <a:r>
              <a:rPr lang="en-US" altLang="zh-CN" dirty="0">
                <a:solidFill>
                  <a:srgbClr val="FF0000"/>
                </a:solidFill>
              </a:rPr>
              <a:t>histogram</a:t>
            </a:r>
            <a:r>
              <a:rPr lang="zh-CN" altLang="en-US" dirty="0"/>
              <a:t>：绘制直角坐标系下的直方图，属于数值数据的</a:t>
            </a:r>
            <a:r>
              <a:rPr lang="zh-CN" altLang="en-US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</a:rPr>
              <a:t>条形图</a:t>
            </a:r>
            <a:r>
              <a:rPr lang="zh-CN" altLang="en-US" dirty="0"/>
              <a:t>类型</a:t>
            </a:r>
            <a:endParaRPr lang="zh-CN" altLang="en-US" dirty="0"/>
          </a:p>
          <a:p>
            <a:r>
              <a:rPr lang="en-US" altLang="zh-CN" sz="2400" dirty="0">
                <a:latin typeface="+mn-lt"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lang="zh-CN" altLang="en-US" dirty="0"/>
              <a:t>将数据有序分组，</a:t>
            </a:r>
            <a:r>
              <a:rPr lang="zh-CN" altLang="en-US" dirty="0">
                <a:latin typeface="楷体" panose="02010609060101010101" pitchFamily="49" charset="-122"/>
              </a:rPr>
              <a:t>每个</a:t>
            </a:r>
            <a:r>
              <a:rPr lang="zh-CN" altLang="en-US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</a:rPr>
              <a:t>直方图高度</a:t>
            </a:r>
            <a:r>
              <a:rPr lang="zh-CN" altLang="en-US" dirty="0">
                <a:latin typeface="楷体" panose="02010609060101010101" pitchFamily="49" charset="-122"/>
              </a:rPr>
              <a:t>为</a:t>
            </a:r>
            <a:r>
              <a:rPr lang="zh-CN" altLang="en-US" b="1" dirty="0">
                <a:ln w="6350">
                  <a:solidFill>
                    <a:srgbClr val="F321F3"/>
                  </a:solidFill>
                  <a:prstDash val="solid"/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楷体" panose="02010609060101010101" pitchFamily="49" charset="-122"/>
              </a:rPr>
              <a:t>每组数据数目</a:t>
            </a:r>
            <a:endParaRPr lang="zh-CN" altLang="en-US" b="1" dirty="0">
              <a:ln w="6350">
                <a:solidFill>
                  <a:srgbClr val="F321F3"/>
                </a:solidFill>
                <a:prstDash val="solid"/>
              </a:ln>
              <a:solidFill>
                <a:srgbClr val="000000">
                  <a:lumMod val="75000"/>
                  <a:lumOff val="25000"/>
                </a:srgbClr>
              </a:solidFill>
              <a:latin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6645" y="3789040"/>
            <a:ext cx="5023427" cy="2262158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ts val="300"/>
              </a:spcBef>
              <a:defRPr sz="1800">
                <a:latin typeface="+mn-lt"/>
              </a:defRPr>
            </a:lvl1pPr>
          </a:lstStyle>
          <a:p>
            <a:r>
              <a:rPr lang="en-US" altLang="zh-CN" dirty="0"/>
              <a:t>z = [99 95 74 87 22 78 34 35 93 88 86 42 55 48];</a:t>
            </a:r>
            <a:endParaRPr lang="en-US" altLang="zh-CN" dirty="0"/>
          </a:p>
          <a:p>
            <a:r>
              <a:rPr lang="en-US" altLang="zh-CN" dirty="0"/>
              <a:t>subplot(2, 2, 1), </a:t>
            </a:r>
            <a:r>
              <a:rPr lang="en-US" altLang="zh-CN" dirty="0">
                <a:solidFill>
                  <a:srgbClr val="0000FF"/>
                </a:solidFill>
              </a:rPr>
              <a:t>hist</a:t>
            </a:r>
            <a:r>
              <a:rPr lang="en-US" altLang="zh-CN" dirty="0"/>
              <a:t>(z) 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>
                <a:solidFill>
                  <a:srgbClr val="FF0000"/>
                </a:solidFill>
              </a:rPr>
              <a:t>自动分为</a:t>
            </a:r>
            <a:r>
              <a:rPr lang="en-US" altLang="zh-CN" dirty="0">
                <a:solidFill>
                  <a:srgbClr val="FF0000"/>
                </a:solidFill>
              </a:rPr>
              <a:t>10</a:t>
            </a:r>
            <a:r>
              <a:rPr lang="zh-CN" altLang="en-US" dirty="0">
                <a:solidFill>
                  <a:srgbClr val="FF0000"/>
                </a:solidFill>
              </a:rPr>
              <a:t>等份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en-US" altLang="zh-CN" dirty="0"/>
              <a:t>subplot(2, 2, 2), </a:t>
            </a:r>
            <a:r>
              <a:rPr lang="en-US" altLang="zh-CN" dirty="0">
                <a:solidFill>
                  <a:srgbClr val="0000FF"/>
                </a:solidFill>
              </a:rPr>
              <a:t>hist</a:t>
            </a:r>
            <a:r>
              <a:rPr lang="en-US" altLang="zh-CN" dirty="0"/>
              <a:t>(z, 5) </a:t>
            </a:r>
            <a:r>
              <a:rPr lang="en-US" altLang="zh-CN" dirty="0">
                <a:solidFill>
                  <a:srgbClr val="FF0000"/>
                </a:solidFill>
              </a:rPr>
              <a:t>%5</a:t>
            </a:r>
            <a:r>
              <a:rPr lang="zh-CN" altLang="en-US" dirty="0">
                <a:solidFill>
                  <a:srgbClr val="FF0000"/>
                </a:solidFill>
              </a:rPr>
              <a:t>等份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  <a:p>
            <a:r>
              <a:rPr lang="en-US" altLang="zh-CN" dirty="0"/>
              <a:t>[a, centers] = </a:t>
            </a:r>
            <a:r>
              <a:rPr lang="en-US" altLang="zh-CN" dirty="0">
                <a:solidFill>
                  <a:srgbClr val="0000FF"/>
                </a:solidFill>
              </a:rPr>
              <a:t>hist</a:t>
            </a:r>
            <a:r>
              <a:rPr lang="en-US" altLang="zh-CN" dirty="0"/>
              <a:t>(z, 5) 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>
                <a:solidFill>
                  <a:srgbClr val="FF0000"/>
                </a:solidFill>
              </a:rPr>
              <a:t>统计每个条中数据的个数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en-US" altLang="zh-CN" dirty="0"/>
              <a:t>subplot(2, 2, 3), </a:t>
            </a:r>
            <a:r>
              <a:rPr lang="en-US" altLang="zh-CN" dirty="0">
                <a:solidFill>
                  <a:srgbClr val="0000FF"/>
                </a:solidFill>
              </a:rPr>
              <a:t>hist</a:t>
            </a:r>
            <a:r>
              <a:rPr lang="en-US" altLang="zh-CN" dirty="0"/>
              <a:t>(z, centers); </a:t>
            </a:r>
            <a:endParaRPr lang="en-US" altLang="zh-CN" dirty="0"/>
          </a:p>
          <a:p>
            <a:r>
              <a:rPr lang="en-US" altLang="zh-CN" dirty="0"/>
              <a:t>subplot(2, 2, 4), </a:t>
            </a:r>
            <a:r>
              <a:rPr lang="en-US" altLang="zh-CN" dirty="0">
                <a:solidFill>
                  <a:srgbClr val="0000FF"/>
                </a:solidFill>
              </a:rPr>
              <a:t>bar</a:t>
            </a:r>
            <a:r>
              <a:rPr lang="en-US" altLang="zh-CN" dirty="0"/>
              <a:t>(centers, a) </a:t>
            </a:r>
            <a:endParaRPr lang="en-US" altLang="zh-CN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/>
          <a:srcRect l="720" r="897"/>
          <a:stretch>
            <a:fillRect/>
          </a:stretch>
        </p:blipFill>
        <p:spPr>
          <a:xfrm>
            <a:off x="5220072" y="3561699"/>
            <a:ext cx="3888432" cy="31523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850" y="1071245"/>
            <a:ext cx="8352155" cy="5392420"/>
          </a:xfrm>
        </p:spPr>
        <p:txBody>
          <a:bodyPr/>
          <a:lstStyle/>
          <a:p>
            <a:pPr algn="l">
              <a:buSzTx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 latinLnBrk="0">
              <a:spcBef>
                <a:spcPts val="600"/>
              </a:spcBef>
              <a:spcAft>
                <a:spcPts val="300"/>
              </a:spcAft>
              <a:buClrTx/>
              <a:buSzTx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二维图形绘制</a:t>
            </a:r>
            <a:endParaRPr lang="zh-CN" altLang="en-US" sz="2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solidFill>
                  <a:schemeClr val="tx1"/>
                </a:solidFill>
                <a:cs typeface="+mn-lt"/>
              </a:rPr>
              <a:t>基础曲线绘制、图形标注与坐标控制、子图、特殊坐标系图形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(</a:t>
            </a:r>
            <a:r>
              <a:rPr lang="zh-CN" altLang="en-US" dirty="0">
                <a:solidFill>
                  <a:schemeClr val="tx1"/>
                </a:solidFill>
                <a:cs typeface="+mn-lt"/>
              </a:rPr>
              <a:t>极坐标、对数坐标、双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y</a:t>
            </a:r>
            <a:r>
              <a:rPr lang="zh-CN" altLang="en-US" dirty="0">
                <a:solidFill>
                  <a:schemeClr val="tx1"/>
                </a:solidFill>
                <a:cs typeface="+mn-lt"/>
              </a:rPr>
              <a:t>轴坐标</a:t>
            </a:r>
            <a:r>
              <a:rPr lang="en-US" altLang="zh-CN" dirty="0">
                <a:solidFill>
                  <a:schemeClr val="tx1"/>
                </a:solidFill>
                <a:cs typeface="+mn-lt"/>
              </a:rPr>
              <a:t>)</a:t>
            </a:r>
            <a:endParaRPr lang="zh-CN" altLang="en-US" dirty="0">
              <a:solidFill>
                <a:schemeClr val="tx1"/>
              </a:solidFill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三维图形绘制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dirty="0">
                <a:ea typeface="楷体" panose="02010609060101010101" pitchFamily="49" charset="-122"/>
                <a:cs typeface="+mn-lt"/>
              </a:rPr>
              <a:t>三维曲线、三维曲面、色彩处理、等高图</a:t>
            </a:r>
            <a:endParaRPr lang="zh-CN" altLang="en-US" dirty="0"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特殊图形绘制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ea typeface="楷体" panose="02010609060101010101" pitchFamily="49" charset="-122"/>
                <a:cs typeface="+mn-lt"/>
              </a:rPr>
              <a:t>饼图、条形图、直方图</a:t>
            </a:r>
            <a:endParaRPr lang="zh-CN" altLang="en-US" sz="2000" dirty="0">
              <a:ea typeface="楷体" panose="02010609060101010101" pitchFamily="49" charset="-122"/>
              <a:cs typeface="+mn-lt"/>
            </a:endParaRPr>
          </a:p>
          <a:p>
            <a:pPr lvl="1" latinLnBrk="0">
              <a:spcBef>
                <a:spcPts val="600"/>
              </a:spcBef>
              <a:spcAft>
                <a:spcPts val="300"/>
              </a:spcAft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图形窗口操作</a:t>
            </a:r>
            <a:endParaRPr lang="zh-CN" altLang="en-US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2" algn="l" latinLnBrk="0">
              <a:spcBef>
                <a:spcPts val="600"/>
              </a:spcBef>
              <a:spcAft>
                <a:spcPts val="1200"/>
              </a:spcAft>
              <a:buClrTx/>
              <a:buSzTx/>
              <a:buFontTx/>
            </a:pPr>
            <a:r>
              <a:rPr lang="zh-CN" altLang="en-US" sz="2000" dirty="0">
                <a:solidFill>
                  <a:srgbClr val="0000FF"/>
                </a:solidFill>
                <a:ea typeface="楷体" panose="02010609060101010101" pitchFamily="49" charset="-122"/>
                <a:cs typeface="+mn-lt"/>
              </a:rPr>
              <a:t>图形窗口创建与管理、图形句柄与属性设置</a:t>
            </a:r>
            <a:endParaRPr lang="zh-CN" altLang="en-US" sz="2000" dirty="0">
              <a:solidFill>
                <a:srgbClr val="0000FF"/>
              </a:solidFill>
              <a:ea typeface="楷体" panose="02010609060101010101" pitchFamily="49" charset="-122"/>
              <a:cs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51460" y="44450"/>
            <a:ext cx="8234045" cy="72072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Ch06  MATLAB</a:t>
            </a:r>
            <a:r>
              <a:rPr lang="zh-CN" altLang="en-US" dirty="0">
                <a:sym typeface="+mn-ea"/>
              </a:rPr>
              <a:t>绘图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MATLAB</a:t>
            </a:r>
            <a:r>
              <a:rPr lang="zh-CN" altLang="en-US" dirty="0"/>
              <a:t>绘图的体系化结构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734368" y="2474548"/>
            <a:ext cx="7675265" cy="4122804"/>
            <a:chOff x="408791" y="1041824"/>
            <a:chExt cx="7675265" cy="4122804"/>
          </a:xfrm>
        </p:grpSpPr>
        <p:sp>
          <p:nvSpPr>
            <p:cNvPr id="4" name="Text Box 6"/>
            <p:cNvSpPr txBox="1">
              <a:spLocks noChangeArrowheads="1"/>
            </p:cNvSpPr>
            <p:nvPr/>
          </p:nvSpPr>
          <p:spPr bwMode="auto">
            <a:xfrm>
              <a:off x="3515177" y="1041824"/>
              <a:ext cx="2898779" cy="441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计算机屏幕 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Root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3889827" y="2773518"/>
              <a:ext cx="2151065" cy="7386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坐标轴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Axes (axis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的复数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408791" y="2780137"/>
              <a:ext cx="2971804" cy="8286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用户界面对象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Uimenu/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Uicontrol/…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3490649" y="1778424"/>
              <a:ext cx="2949420" cy="4365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图形窗口 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Figure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6805437" y="4364409"/>
              <a:ext cx="1150939" cy="4365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组对象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1619672" y="4364409"/>
              <a:ext cx="1584327" cy="4365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核心对象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6466510" y="2773518"/>
              <a:ext cx="1584327" cy="8002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标注对象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Annotation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>
              <a:off x="4964566" y="1479974"/>
              <a:ext cx="0" cy="287338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16"/>
            <p:cNvSpPr>
              <a:spLocks noChangeShapeType="1"/>
            </p:cNvSpPr>
            <p:nvPr/>
          </p:nvSpPr>
          <p:spPr bwMode="auto">
            <a:xfrm>
              <a:off x="4964566" y="2232449"/>
              <a:ext cx="0" cy="53975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4964566" y="3621512"/>
              <a:ext cx="0" cy="756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18"/>
            <p:cNvSpPr>
              <a:spLocks noChangeShapeType="1"/>
            </p:cNvSpPr>
            <p:nvPr/>
          </p:nvSpPr>
          <p:spPr bwMode="auto">
            <a:xfrm>
              <a:off x="2051856" y="2492800"/>
              <a:ext cx="0" cy="288925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>
              <a:off x="7236296" y="2492800"/>
              <a:ext cx="0" cy="28800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20"/>
            <p:cNvSpPr>
              <a:spLocks noChangeShapeType="1"/>
            </p:cNvSpPr>
            <p:nvPr/>
          </p:nvSpPr>
          <p:spPr bwMode="auto">
            <a:xfrm>
              <a:off x="7380312" y="4077072"/>
              <a:ext cx="0" cy="287338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>
              <a:off x="2411835" y="4077072"/>
              <a:ext cx="0" cy="287338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2051856" y="2492800"/>
              <a:ext cx="5184782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>
              <a:off x="2411835" y="4077072"/>
              <a:ext cx="4968477" cy="0"/>
            </a:xfrm>
            <a:prstGeom prst="line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5B524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Text Box 12"/>
            <p:cNvSpPr txBox="1">
              <a:spLocks noChangeArrowheads="1"/>
            </p:cNvSpPr>
            <p:nvPr/>
          </p:nvSpPr>
          <p:spPr bwMode="auto">
            <a:xfrm>
              <a:off x="3420863" y="4364409"/>
              <a:ext cx="3087406" cy="8002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绘图对象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Plot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(line/surface/bar/…)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620255" y="1100177"/>
              <a:ext cx="12320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</a:rPr>
                <a:t>句柄为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</a:rPr>
                <a:t>0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499730" y="1849733"/>
              <a:ext cx="1584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latin typeface="+mn-lt"/>
                  <a:ea typeface="楷体" panose="02010609060101010101" pitchFamily="49" charset="-122"/>
                </a:defRPr>
              </a:lvl1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</a:rPr>
                <a:t>句柄为正整数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+mn-cs"/>
              </a:endParaRPr>
            </a:p>
          </p:txBody>
        </p:sp>
        <p:cxnSp>
          <p:nvCxnSpPr>
            <p:cNvPr id="24" name="直接箭头连接符 23"/>
            <p:cNvCxnSpPr/>
            <p:nvPr/>
          </p:nvCxnSpPr>
          <p:spPr bwMode="auto">
            <a:xfrm flipH="1">
              <a:off x="6416397" y="1442252"/>
              <a:ext cx="15258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/>
          </p:nvCxnSpPr>
          <p:spPr bwMode="auto">
            <a:xfrm flipH="1">
              <a:off x="6440069" y="2181371"/>
              <a:ext cx="1525828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26" name="组合 25"/>
            <p:cNvGrpSpPr/>
            <p:nvPr/>
          </p:nvGrpSpPr>
          <p:grpSpPr>
            <a:xfrm>
              <a:off x="472647" y="1435452"/>
              <a:ext cx="745931" cy="1097160"/>
              <a:chOff x="729725" y="1106978"/>
              <a:chExt cx="745931" cy="1097160"/>
            </a:xfrm>
          </p:grpSpPr>
          <p:cxnSp>
            <p:nvCxnSpPr>
              <p:cNvPr id="27" name="直接箭头连接符 26"/>
              <p:cNvCxnSpPr/>
              <p:nvPr/>
            </p:nvCxnSpPr>
            <p:spPr bwMode="auto">
              <a:xfrm>
                <a:off x="873684" y="1106978"/>
                <a:ext cx="0" cy="43685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/>
              </a:ln>
              <a:effectLst/>
            </p:spPr>
          </p:cxnSp>
          <p:cxnSp>
            <p:nvCxnSpPr>
              <p:cNvPr id="28" name="直接箭头连接符 27"/>
              <p:cNvCxnSpPr/>
              <p:nvPr/>
            </p:nvCxnSpPr>
            <p:spPr bwMode="auto">
              <a:xfrm rot="5400000">
                <a:off x="1048379" y="1631304"/>
                <a:ext cx="0" cy="43685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/>
              </a:ln>
              <a:effectLst/>
            </p:spPr>
          </p:cxnSp>
          <p:sp>
            <p:nvSpPr>
              <p:cNvPr id="29" name="文本框 28"/>
              <p:cNvSpPr txBox="1"/>
              <p:nvPr/>
            </p:nvSpPr>
            <p:spPr>
              <a:xfrm>
                <a:off x="833708" y="1158868"/>
                <a:ext cx="6419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  <a:ea typeface="楷体" panose="02010609060101010101" pitchFamily="49" charset="-122"/>
                    <a:cs typeface="+mn-cs"/>
                  </a:rPr>
                  <a:t>父子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729725" y="1834806"/>
                <a:ext cx="6419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/>
                    <a:ea typeface="楷体" panose="02010609060101010101" pitchFamily="49" charset="-122"/>
                    <a:cs typeface="+mn-cs"/>
                  </a:rPr>
                  <a:t>兄弟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楷体" panose="02010609060101010101" pitchFamily="49" charset="-122"/>
                  <a:cs typeface="+mn-cs"/>
                </a:endParaRPr>
              </a:p>
            </p:txBody>
          </p:sp>
        </p:grpSp>
      </p:grpSp>
      <p:sp>
        <p:nvSpPr>
          <p:cNvPr id="31" name="内容占位符 1"/>
          <p:cNvSpPr txBox="1"/>
          <p:nvPr/>
        </p:nvSpPr>
        <p:spPr>
          <a:xfrm>
            <a:off x="575656" y="925780"/>
            <a:ext cx="7833978" cy="13510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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每一个具体的图形都是由若干个不同的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图形对象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组成的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indent="0">
              <a:buNone/>
            </a:pPr>
            <a:r>
              <a:rPr lang="zh-CN" altLang="en-US" sz="2400" kern="0" dirty="0">
                <a:latin typeface="黑体" panose="02010609060101010101" pitchFamily="49" charset="-122"/>
                <a:sym typeface="Wingdings" panose="05000000000000000000" pitchFamily="2" charset="2"/>
              </a:rPr>
              <a:t></a:t>
            </a:r>
            <a:r>
              <a:rPr lang="zh-CN" altLang="en-US" sz="2400" kern="0" dirty="0">
                <a:solidFill>
                  <a:srgbClr val="FF0000"/>
                </a:solidFill>
                <a:latin typeface="黑体" panose="02010609060101010101" pitchFamily="49" charset="-122"/>
              </a:rPr>
              <a:t>图形对象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9060101010101" pitchFamily="49" charset="-122"/>
              </a:rPr>
              <a:t>的</a:t>
            </a:r>
            <a:r>
              <a:rPr lang="zh-CN" altLang="en-US" sz="2400" kern="0" dirty="0">
                <a:solidFill>
                  <a:srgbClr val="FF0000"/>
                </a:solidFill>
                <a:latin typeface="黑体" panose="02010609060101010101" pitchFamily="49" charset="-122"/>
              </a:rPr>
              <a:t>组织形式</a:t>
            </a:r>
            <a:r>
              <a:rPr lang="zh-CN" altLang="en-US" sz="2400" kern="0" dirty="0">
                <a:solidFill>
                  <a:srgbClr val="000000"/>
                </a:solidFill>
                <a:latin typeface="黑体" panose="02010609060101010101" pitchFamily="49" charset="-122"/>
              </a:rPr>
              <a:t>为</a:t>
            </a:r>
            <a:r>
              <a:rPr lang="zh-CN" altLang="en-US" sz="2400" kern="0" dirty="0">
                <a:solidFill>
                  <a:srgbClr val="0000FF"/>
                </a:solidFill>
                <a:latin typeface="黑体" panose="02010609060101010101" pitchFamily="49" charset="-122"/>
              </a:rPr>
              <a:t>层次结构</a:t>
            </a:r>
            <a:endParaRPr lang="zh-CN" altLang="en-US" sz="2400" kern="0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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句柄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来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标识对象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，通过句柄来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访问相应对象的属性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图形句柄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81858" y="908720"/>
            <a:ext cx="4506166" cy="5478423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400" dirty="0">
                <a:latin typeface="+mn-lt"/>
              </a:rPr>
              <a:t>%% ---</a:t>
            </a:r>
            <a:r>
              <a:rPr lang="zh-CN" altLang="en-US" sz="1400" dirty="0">
                <a:latin typeface="+mn-lt"/>
              </a:rPr>
              <a:t>绘图并查看有关对象的句柄</a:t>
            </a:r>
            <a:endParaRPr lang="zh-CN" altLang="en-US" sz="1400" dirty="0">
              <a:latin typeface="+mn-lt"/>
            </a:endParaRPr>
          </a:p>
          <a:p>
            <a:pPr eaLnBrk="1" hangingPunct="1"/>
            <a:r>
              <a:rPr lang="en-US" altLang="zh-CN" sz="1400" dirty="0" err="1">
                <a:latin typeface="+mn-lt"/>
              </a:rPr>
              <a:t>clc</a:t>
            </a:r>
            <a:r>
              <a:rPr lang="en-US" altLang="zh-CN" sz="1400" dirty="0">
                <a:latin typeface="+mn-lt"/>
              </a:rPr>
              <a:t>, clear, close all;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% </a:t>
            </a:r>
            <a:r>
              <a:rPr lang="zh-CN" altLang="en-US" sz="1400" dirty="0">
                <a:latin typeface="+mn-lt"/>
              </a:rPr>
              <a:t>图</a:t>
            </a:r>
            <a:r>
              <a:rPr lang="en-US" altLang="zh-CN" sz="1400" dirty="0">
                <a:latin typeface="+mn-lt"/>
              </a:rPr>
              <a:t>1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solidFill>
                  <a:srgbClr val="FF00FF"/>
                </a:solidFill>
                <a:latin typeface="+mn-lt"/>
              </a:rPr>
              <a:t>hf1</a:t>
            </a:r>
            <a:r>
              <a:rPr lang="en-US" altLang="zh-CN" sz="1400" dirty="0">
                <a:latin typeface="+mn-lt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+mn-lt"/>
              </a:rPr>
              <a:t>figure</a:t>
            </a:r>
            <a:r>
              <a:rPr lang="en-US" altLang="zh-CN" sz="1400" dirty="0">
                <a:latin typeface="+mn-lt"/>
              </a:rPr>
              <a:t>(1);</a:t>
            </a:r>
            <a:endParaRPr lang="en-US" altLang="zh-CN" sz="1400" dirty="0">
              <a:latin typeface="+mn-lt"/>
            </a:endParaRPr>
          </a:p>
          <a:p>
            <a:pPr eaLnBrk="1" hangingPunct="1"/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%</a:t>
            </a:r>
            <a:r>
              <a:rPr lang="zh-CN" altLang="en-US" sz="1400" dirty="0">
                <a:latin typeface="+mn-lt"/>
              </a:rPr>
              <a:t>子图</a:t>
            </a:r>
            <a:r>
              <a:rPr lang="en-US" altLang="zh-CN" sz="1400" dirty="0">
                <a:latin typeface="+mn-lt"/>
              </a:rPr>
              <a:t>1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x = </a:t>
            </a:r>
            <a:r>
              <a:rPr lang="en-US" altLang="zh-CN" sz="1400" dirty="0" err="1">
                <a:solidFill>
                  <a:srgbClr val="0000FF"/>
                </a:solidFill>
                <a:latin typeface="+mn-lt"/>
              </a:rPr>
              <a:t>linspace</a:t>
            </a:r>
            <a:r>
              <a:rPr lang="en-US" altLang="zh-CN" sz="1400" dirty="0">
                <a:latin typeface="+mn-lt"/>
              </a:rPr>
              <a:t>(0, 2*pi, 30);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y1 = sin(x);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y2 = cos(x);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solidFill>
                  <a:srgbClr val="FF00FF"/>
                </a:solidFill>
                <a:latin typeface="+mn-lt"/>
              </a:rPr>
              <a:t>hf1_221_subp </a:t>
            </a:r>
            <a:r>
              <a:rPr lang="en-US" altLang="zh-CN" sz="1400" dirty="0">
                <a:latin typeface="+mn-lt"/>
              </a:rPr>
              <a:t>= </a:t>
            </a:r>
            <a:r>
              <a:rPr lang="en-US" altLang="zh-CN" sz="1400" dirty="0">
                <a:solidFill>
                  <a:srgbClr val="0000FF"/>
                </a:solidFill>
                <a:latin typeface="+mn-lt"/>
              </a:rPr>
              <a:t>subplot</a:t>
            </a:r>
            <a:r>
              <a:rPr lang="en-US" altLang="zh-CN" sz="1400" dirty="0">
                <a:latin typeface="+mn-lt"/>
              </a:rPr>
              <a:t>(2, 2, 1);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solidFill>
                  <a:srgbClr val="FF00FF"/>
                </a:solidFill>
                <a:latin typeface="+mn-lt"/>
              </a:rPr>
              <a:t>hf1_221_line </a:t>
            </a:r>
            <a:r>
              <a:rPr lang="en-US" altLang="zh-CN" sz="1400" dirty="0">
                <a:latin typeface="+mn-lt"/>
              </a:rPr>
              <a:t>= </a:t>
            </a:r>
            <a:r>
              <a:rPr lang="en-US" altLang="zh-CN" sz="1400" dirty="0">
                <a:solidFill>
                  <a:srgbClr val="0000FF"/>
                </a:solidFill>
                <a:latin typeface="+mn-lt"/>
              </a:rPr>
              <a:t>plot</a:t>
            </a:r>
            <a:r>
              <a:rPr lang="en-US" altLang="zh-CN" sz="1400" dirty="0">
                <a:latin typeface="+mn-lt"/>
              </a:rPr>
              <a:t>(x,y1,'--', x, y2, '*');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solidFill>
                  <a:srgbClr val="FF00FF"/>
                </a:solidFill>
                <a:latin typeface="+mn-lt"/>
              </a:rPr>
              <a:t>hf1_221_xlabel </a:t>
            </a:r>
            <a:r>
              <a:rPr lang="en-US" altLang="zh-CN" sz="1400" dirty="0">
                <a:latin typeface="+mn-lt"/>
              </a:rPr>
              <a:t>= </a:t>
            </a:r>
            <a:r>
              <a:rPr lang="en-US" altLang="zh-CN" sz="1400" dirty="0" err="1">
                <a:solidFill>
                  <a:srgbClr val="0000FF"/>
                </a:solidFill>
                <a:latin typeface="+mn-lt"/>
              </a:rPr>
              <a:t>xlabel</a:t>
            </a:r>
            <a:r>
              <a:rPr lang="en-US" altLang="zh-CN" sz="1400" dirty="0">
                <a:latin typeface="+mn-lt"/>
              </a:rPr>
              <a:t>('x');  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 err="1">
                <a:latin typeface="+mn-lt"/>
              </a:rPr>
              <a:t>ylabel</a:t>
            </a:r>
            <a:r>
              <a:rPr lang="en-US" altLang="zh-CN" sz="1400" dirty="0">
                <a:latin typeface="+mn-lt"/>
              </a:rPr>
              <a:t>('y');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solidFill>
                  <a:srgbClr val="FF00FF"/>
                </a:solidFill>
                <a:latin typeface="+mn-lt"/>
              </a:rPr>
              <a:t>hf1_221_title </a:t>
            </a:r>
            <a:r>
              <a:rPr lang="en-US" altLang="zh-CN" sz="1400" dirty="0">
                <a:latin typeface="+mn-lt"/>
              </a:rPr>
              <a:t>= </a:t>
            </a:r>
            <a:r>
              <a:rPr lang="en-US" altLang="zh-CN" sz="1400" dirty="0">
                <a:solidFill>
                  <a:srgbClr val="0000FF"/>
                </a:solidFill>
                <a:latin typeface="+mn-lt"/>
              </a:rPr>
              <a:t>title</a:t>
            </a:r>
            <a:r>
              <a:rPr lang="en-US" altLang="zh-CN" sz="1400" dirty="0">
                <a:latin typeface="+mn-lt"/>
              </a:rPr>
              <a:t>('</a:t>
            </a:r>
            <a:r>
              <a:rPr lang="zh-CN" altLang="en-US" sz="1400" dirty="0">
                <a:latin typeface="+mn-lt"/>
              </a:rPr>
              <a:t>二维曲线</a:t>
            </a:r>
            <a:r>
              <a:rPr lang="en-US" altLang="zh-CN" sz="1400" dirty="0">
                <a:latin typeface="+mn-lt"/>
              </a:rPr>
              <a:t>');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solidFill>
                  <a:srgbClr val="FF00FF"/>
                </a:solidFill>
                <a:latin typeface="+mn-lt"/>
              </a:rPr>
              <a:t>hf1_221_legend </a:t>
            </a:r>
            <a:r>
              <a:rPr lang="en-US" altLang="zh-CN" sz="1400" dirty="0">
                <a:latin typeface="+mn-lt"/>
              </a:rPr>
              <a:t>= </a:t>
            </a:r>
            <a:r>
              <a:rPr lang="en-US" altLang="zh-CN" sz="1400" dirty="0">
                <a:solidFill>
                  <a:srgbClr val="0000FF"/>
                </a:solidFill>
                <a:latin typeface="+mn-lt"/>
              </a:rPr>
              <a:t>legend</a:t>
            </a:r>
            <a:r>
              <a:rPr lang="en-US" altLang="zh-CN" sz="1400" dirty="0">
                <a:latin typeface="+mn-lt"/>
              </a:rPr>
              <a:t>('sin(x)', 'cos(x)'); %</a:t>
            </a:r>
            <a:r>
              <a:rPr lang="zh-CN" altLang="en-US" sz="1400" dirty="0">
                <a:latin typeface="+mn-lt"/>
              </a:rPr>
              <a:t>添加图例</a:t>
            </a:r>
            <a:endParaRPr lang="zh-CN" altLang="en-US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solidFill>
                  <a:srgbClr val="FF00FF"/>
                </a:solidFill>
                <a:latin typeface="+mn-lt"/>
              </a:rPr>
              <a:t>hf1_221_text </a:t>
            </a:r>
            <a:r>
              <a:rPr lang="en-US" altLang="zh-CN" sz="1400" dirty="0">
                <a:latin typeface="+mn-lt"/>
              </a:rPr>
              <a:t>= </a:t>
            </a:r>
            <a:r>
              <a:rPr lang="en-US" altLang="zh-CN" sz="1400" dirty="0">
                <a:solidFill>
                  <a:srgbClr val="0000FF"/>
                </a:solidFill>
                <a:latin typeface="+mn-lt"/>
              </a:rPr>
              <a:t>text</a:t>
            </a:r>
            <a:r>
              <a:rPr lang="en-US" altLang="zh-CN" sz="1400" dirty="0">
                <a:latin typeface="+mn-lt"/>
              </a:rPr>
              <a:t>(2, 0, 'test');</a:t>
            </a:r>
            <a:endParaRPr lang="en-US" altLang="zh-CN" sz="1400" dirty="0">
              <a:latin typeface="+mn-lt"/>
            </a:endParaRPr>
          </a:p>
          <a:p>
            <a:pPr eaLnBrk="1" hangingPunct="1"/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%</a:t>
            </a:r>
            <a:r>
              <a:rPr lang="zh-CN" altLang="en-US" sz="1400" dirty="0">
                <a:latin typeface="+mn-lt"/>
              </a:rPr>
              <a:t>子图</a:t>
            </a:r>
            <a:r>
              <a:rPr lang="en-US" altLang="zh-CN" sz="1400" dirty="0">
                <a:latin typeface="+mn-lt"/>
              </a:rPr>
              <a:t>2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Z = [1  2  3  4  5   6   7   8   9   10;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     2  4  6  8  10  12  14  16  18  20;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     3  4  5  6  7   8   9   10  11  12];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subplot(2, 2, 2);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solidFill>
                  <a:srgbClr val="FF00FF"/>
                </a:solidFill>
                <a:latin typeface="+mn-lt"/>
              </a:rPr>
              <a:t>hf1_222_surf </a:t>
            </a:r>
            <a:r>
              <a:rPr lang="en-US" altLang="zh-CN" sz="1400" dirty="0">
                <a:latin typeface="+mn-lt"/>
              </a:rPr>
              <a:t>= </a:t>
            </a:r>
            <a:r>
              <a:rPr lang="en-US" altLang="zh-CN" sz="1400" dirty="0">
                <a:solidFill>
                  <a:srgbClr val="0000FF"/>
                </a:solidFill>
                <a:latin typeface="+mn-lt"/>
              </a:rPr>
              <a:t>surf</a:t>
            </a:r>
            <a:r>
              <a:rPr lang="en-US" altLang="zh-CN" sz="1400" dirty="0">
                <a:latin typeface="+mn-lt"/>
              </a:rPr>
              <a:t>(Z);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 err="1">
                <a:latin typeface="+mn-lt"/>
              </a:rPr>
              <a:t>xlabel</a:t>
            </a:r>
            <a:r>
              <a:rPr lang="en-US" altLang="zh-CN" sz="1400" dirty="0">
                <a:latin typeface="+mn-lt"/>
              </a:rPr>
              <a:t>('x'), </a:t>
            </a:r>
            <a:r>
              <a:rPr lang="en-US" altLang="zh-CN" sz="1400" dirty="0" err="1">
                <a:latin typeface="+mn-lt"/>
              </a:rPr>
              <a:t>ylabel</a:t>
            </a:r>
            <a:r>
              <a:rPr lang="en-US" altLang="zh-CN" sz="1400" dirty="0">
                <a:latin typeface="+mn-lt"/>
              </a:rPr>
              <a:t>('y'), </a:t>
            </a:r>
            <a:r>
              <a:rPr lang="en-US" altLang="zh-CN" sz="1400" dirty="0" err="1">
                <a:latin typeface="+mn-lt"/>
              </a:rPr>
              <a:t>zlabel</a:t>
            </a:r>
            <a:r>
              <a:rPr lang="en-US" altLang="zh-CN" sz="1400" dirty="0">
                <a:latin typeface="+mn-lt"/>
              </a:rPr>
              <a:t>('z')</a:t>
            </a:r>
            <a:endParaRPr lang="en-US" altLang="zh-CN" sz="1400" dirty="0">
              <a:latin typeface="+mn-lt"/>
            </a:endParaRPr>
          </a:p>
          <a:p>
            <a:pPr eaLnBrk="1" hangingPunct="1"/>
            <a:r>
              <a:rPr lang="en-US" altLang="zh-CN" sz="1400" dirty="0">
                <a:latin typeface="+mn-lt"/>
              </a:rPr>
              <a:t>title('</a:t>
            </a:r>
            <a:r>
              <a:rPr lang="zh-CN" altLang="en-US" sz="1400" dirty="0">
                <a:latin typeface="+mn-lt"/>
              </a:rPr>
              <a:t>三维曲面</a:t>
            </a:r>
            <a:r>
              <a:rPr lang="en-US" altLang="zh-CN" sz="1400" dirty="0">
                <a:latin typeface="+mn-lt"/>
              </a:rPr>
              <a:t>')</a:t>
            </a:r>
            <a:endParaRPr lang="en-US" altLang="zh-CN" sz="1400" dirty="0">
              <a:latin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60032" y="908720"/>
            <a:ext cx="4072439" cy="4185761"/>
          </a:xfrm>
          <a:prstGeom prst="rect">
            <a:avLst/>
          </a:prstGeom>
          <a:solidFill>
            <a:srgbClr val="ECECFA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+mn-lt"/>
              </a:defRPr>
            </a:lvl1pPr>
          </a:lstStyle>
          <a:p>
            <a:pPr eaLnBrk="1" hangingPunct="1"/>
            <a:r>
              <a:rPr lang="en-US" altLang="zh-CN" dirty="0"/>
              <a:t>%</a:t>
            </a:r>
            <a:r>
              <a:rPr lang="zh-CN" altLang="en-US" dirty="0"/>
              <a:t>子图</a:t>
            </a:r>
            <a:r>
              <a:rPr lang="en-US" altLang="zh-CN" dirty="0"/>
              <a:t>3</a:t>
            </a:r>
            <a:endParaRPr lang="en-US" altLang="zh-CN" dirty="0"/>
          </a:p>
          <a:p>
            <a:pPr eaLnBrk="1" hangingPunct="1"/>
            <a:r>
              <a:rPr lang="en-US" altLang="zh-CN" dirty="0"/>
              <a:t>x = [1 2 5 4 8];   </a:t>
            </a:r>
            <a:endParaRPr lang="en-US" altLang="zh-CN" dirty="0"/>
          </a:p>
          <a:p>
            <a:pPr eaLnBrk="1" hangingPunct="1"/>
            <a:r>
              <a:rPr lang="en-US" altLang="zh-CN" dirty="0"/>
              <a:t>y = [x; 1:5]; </a:t>
            </a:r>
            <a:endParaRPr lang="en-US" altLang="zh-CN" dirty="0"/>
          </a:p>
          <a:p>
            <a:pPr eaLnBrk="1" hangingPunct="1"/>
            <a:r>
              <a:rPr lang="en-US" altLang="zh-CN" dirty="0"/>
              <a:t>subplot(2, 2, 3),  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FF"/>
                </a:solidFill>
              </a:rPr>
              <a:t>hf1_223_bar 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0000FF"/>
                </a:solidFill>
              </a:rPr>
              <a:t>bar</a:t>
            </a:r>
            <a:r>
              <a:rPr lang="en-US" altLang="zh-CN" dirty="0"/>
              <a:t>(x);  </a:t>
            </a:r>
            <a:endParaRPr lang="en-US" altLang="zh-CN" dirty="0"/>
          </a:p>
          <a:p>
            <a:pPr eaLnBrk="1" hangingPunct="1"/>
            <a:r>
              <a:rPr lang="en-US" altLang="zh-CN" dirty="0"/>
              <a:t>title('</a:t>
            </a:r>
            <a:r>
              <a:rPr lang="zh-CN" altLang="en-US" dirty="0"/>
              <a:t>矢量，绘制垂直条形图</a:t>
            </a:r>
            <a:r>
              <a:rPr lang="en-US" altLang="zh-CN" dirty="0"/>
              <a:t>')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%</a:t>
            </a:r>
            <a:r>
              <a:rPr lang="zh-CN" altLang="en-US" dirty="0"/>
              <a:t>子图</a:t>
            </a:r>
            <a:r>
              <a:rPr lang="en-US" altLang="zh-CN" dirty="0"/>
              <a:t>4</a:t>
            </a:r>
            <a:endParaRPr lang="en-US" altLang="zh-CN" dirty="0"/>
          </a:p>
          <a:p>
            <a:pPr eaLnBrk="1" hangingPunct="1"/>
            <a:r>
              <a:rPr lang="en-US" altLang="zh-CN" dirty="0" err="1"/>
              <a:t>I_rgb</a:t>
            </a:r>
            <a:r>
              <a:rPr lang="en-US" altLang="zh-CN" dirty="0"/>
              <a:t> = </a:t>
            </a:r>
            <a:r>
              <a:rPr lang="en-US" altLang="zh-CN" dirty="0" err="1"/>
              <a:t>imread</a:t>
            </a:r>
            <a:r>
              <a:rPr lang="en-US" altLang="zh-CN" dirty="0"/>
              <a:t>('.\SZTU.jpg'); </a:t>
            </a:r>
            <a:endParaRPr lang="en-US" altLang="zh-CN" dirty="0"/>
          </a:p>
          <a:p>
            <a:pPr eaLnBrk="1" hangingPunct="1"/>
            <a:r>
              <a:rPr lang="en-US" altLang="zh-CN" dirty="0"/>
              <a:t>subplot(2, 2, 4);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FF"/>
                </a:solidFill>
              </a:rPr>
              <a:t>hf1_224_imshow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0000FF"/>
                </a:solidFill>
              </a:rPr>
              <a:t>imshow</a:t>
            </a:r>
            <a:r>
              <a:rPr lang="en-US" altLang="zh-CN" dirty="0"/>
              <a:t>(</a:t>
            </a:r>
            <a:r>
              <a:rPr lang="en-US" altLang="zh-CN" dirty="0" err="1"/>
              <a:t>I_rgb</a:t>
            </a:r>
            <a:r>
              <a:rPr lang="en-US" altLang="zh-CN" dirty="0"/>
              <a:t>);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FF"/>
                </a:solidFill>
              </a:rPr>
              <a:t>hf1_224_colorbar </a:t>
            </a:r>
            <a:r>
              <a:rPr lang="en-US" altLang="zh-CN" dirty="0"/>
              <a:t>= </a:t>
            </a:r>
            <a:r>
              <a:rPr lang="en-US" altLang="zh-CN" dirty="0" err="1">
                <a:solidFill>
                  <a:srgbClr val="0000FF"/>
                </a:solidFill>
              </a:rPr>
              <a:t>colorbar</a:t>
            </a:r>
            <a:r>
              <a:rPr lang="en-US" altLang="zh-CN" dirty="0"/>
              <a:t>;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% </a:t>
            </a:r>
            <a:r>
              <a:rPr lang="zh-CN" altLang="en-US" dirty="0"/>
              <a:t>图</a:t>
            </a:r>
            <a:r>
              <a:rPr lang="en-US" altLang="zh-CN" dirty="0"/>
              <a:t>2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FF"/>
                </a:solidFill>
              </a:rPr>
              <a:t>hf2</a:t>
            </a:r>
            <a:r>
              <a:rPr lang="en-US" altLang="zh-CN" dirty="0"/>
              <a:t> = figure(2);</a:t>
            </a:r>
            <a:endParaRPr lang="en-US" altLang="zh-CN" dirty="0"/>
          </a:p>
          <a:p>
            <a:pPr eaLnBrk="1" hangingPunct="1"/>
            <a:r>
              <a:rPr lang="en-US" altLang="zh-CN" dirty="0"/>
              <a:t>plot(1:10)</a:t>
            </a:r>
            <a:endParaRPr lang="en-US" altLang="zh-CN" dirty="0"/>
          </a:p>
          <a:p>
            <a:pPr eaLnBrk="1" hangingPunct="1"/>
            <a:r>
              <a:rPr lang="en-US" altLang="zh-CN" dirty="0"/>
              <a:t>x = [0.3 0.5];</a:t>
            </a:r>
            <a:endParaRPr lang="en-US" altLang="zh-CN" dirty="0"/>
          </a:p>
          <a:p>
            <a:pPr eaLnBrk="1" hangingPunct="1"/>
            <a:r>
              <a:rPr lang="en-US" altLang="zh-CN" dirty="0"/>
              <a:t>y = [0.6 0.5];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FF"/>
                </a:solidFill>
              </a:rPr>
              <a:t>hf2_anno 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0000FF"/>
                </a:solidFill>
              </a:rPr>
              <a:t>annotation</a:t>
            </a:r>
            <a:r>
              <a:rPr lang="en-US" altLang="zh-CN" dirty="0"/>
              <a:t>('</a:t>
            </a:r>
            <a:r>
              <a:rPr lang="en-US" altLang="zh-CN" dirty="0" err="1"/>
              <a:t>textarrow</a:t>
            </a:r>
            <a:r>
              <a:rPr lang="en-US" altLang="zh-CN" dirty="0"/>
              <a:t>',</a:t>
            </a:r>
            <a:r>
              <a:rPr lang="en-US" altLang="zh-CN" dirty="0" err="1"/>
              <a:t>x,y,'String','y</a:t>
            </a:r>
            <a:r>
              <a:rPr lang="en-US" altLang="zh-CN" dirty="0"/>
              <a:t> = x ');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" y="0"/>
            <a:ext cx="5314286" cy="478095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334" y="3002762"/>
            <a:ext cx="4266666" cy="385523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137571"/>
            <a:ext cx="6045714" cy="658285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图形对象属性的设置和查询</a:t>
            </a:r>
            <a:endParaRPr lang="zh-CN" altLang="en-US" dirty="0"/>
          </a:p>
        </p:txBody>
      </p:sp>
      <p:sp>
        <p:nvSpPr>
          <p:cNvPr id="4" name="内容占位符 1"/>
          <p:cNvSpPr txBox="1"/>
          <p:nvPr/>
        </p:nvSpPr>
        <p:spPr>
          <a:xfrm>
            <a:off x="197564" y="1141804"/>
            <a:ext cx="8838932" cy="53835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</a:t>
            </a:r>
            <a:r>
              <a:rPr lang="zh-CN" altLang="en-US" sz="2400" dirty="0">
                <a:solidFill>
                  <a:srgbClr val="FF0000"/>
                </a:solidFill>
              </a:rPr>
              <a:t>图形对象的属性</a:t>
            </a:r>
            <a:r>
              <a:rPr lang="zh-CN" altLang="en-US" sz="2400" dirty="0"/>
              <a:t>控制</a:t>
            </a:r>
            <a:r>
              <a:rPr lang="zh-CN" altLang="en-US" sz="2400" dirty="0">
                <a:solidFill>
                  <a:srgbClr val="0000FF"/>
                </a:solidFill>
              </a:rPr>
              <a:t>图形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外观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显示</a:t>
            </a:r>
            <a:r>
              <a:rPr lang="zh-CN" altLang="en-US" sz="2400" dirty="0"/>
              <a:t>特点 </a:t>
            </a:r>
            <a:endParaRPr lang="zh-CN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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用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句柄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来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标识对象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，通过句柄来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访问相应对象的属性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黑体" panose="02010609060101010101" pitchFamily="49" charset="-122"/>
              <a:cs typeface="+mn-cs"/>
            </a:endParaRPr>
          </a:p>
          <a:p>
            <a:pPr marL="360045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get / set </a:t>
            </a:r>
            <a:r>
              <a:rPr lang="en-US" altLang="zh-CN" sz="2400" b="1" kern="0" dirty="0">
                <a:ea typeface="楷体" panose="02010609060101010101" pitchFamily="49" charset="-122"/>
                <a:sym typeface="Wingdings" panose="05000000000000000000" pitchFamily="2" charset="2"/>
              </a:rPr>
              <a:t>/</a:t>
            </a:r>
            <a:r>
              <a:rPr lang="zh-CN" altLang="en-US" sz="2400" b="1" kern="0" dirty="0"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delete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539750" indent="0">
              <a:buNone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查询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图形对象属性：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get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en-US" altLang="zh-CN" sz="2000" b="1" kern="0" dirty="0">
                <a:solidFill>
                  <a:srgbClr val="FF0000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                   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lang="zh-CN" altLang="en-US" sz="2000" kern="0" dirty="0">
                <a:solidFill>
                  <a:srgbClr val="FF0000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设置</a:t>
            </a:r>
            <a:r>
              <a:rPr lang="zh-CN" altLang="en-US" sz="2000" kern="0" dirty="0">
                <a:ea typeface="楷体" panose="02010609060101010101" pitchFamily="49" charset="-122"/>
                <a:sym typeface="Wingdings" panose="05000000000000000000" pitchFamily="2" charset="2"/>
              </a:rPr>
              <a:t>图形对象属性：</a:t>
            </a:r>
            <a:r>
              <a:rPr lang="en-US" altLang="zh-CN" sz="2000" b="1" kern="0" dirty="0">
                <a:solidFill>
                  <a:srgbClr val="0000FF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set</a:t>
            </a:r>
            <a:endParaRPr lang="en-US" altLang="zh-CN" sz="2000" b="1" kern="0" dirty="0">
              <a:solidFill>
                <a:srgbClr val="0000FF"/>
              </a:solidFill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539750" indent="0">
              <a:buNone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v =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get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v =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get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propertyName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set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propertyName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propertyValue)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539750" lvl="0" indent="0"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删除</a:t>
            </a:r>
            <a:r>
              <a:rPr lang="zh-CN" altLang="en-US" sz="2000" kern="0" dirty="0">
                <a:ea typeface="楷体" panose="02010609060101010101" pitchFamily="49" charset="-122"/>
                <a:sym typeface="Wingdings" panose="05000000000000000000" pitchFamily="2" charset="2"/>
              </a:rPr>
              <a:t>图形对象：</a:t>
            </a:r>
            <a:r>
              <a:rPr lang="en-US" altLang="zh-CN" sz="2000" b="1" kern="0" dirty="0">
                <a:solidFill>
                  <a:srgbClr val="0000FF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delete</a:t>
            </a:r>
            <a:r>
              <a:rPr lang="zh-CN" altLang="en-US" sz="2000" kern="0" dirty="0">
                <a:ea typeface="楷体" panose="02010609060101010101" pitchFamily="49" charset="-122"/>
                <a:sym typeface="Wingdings" panose="05000000000000000000" pitchFamily="2" charset="2"/>
              </a:rPr>
              <a:t>，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delete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360045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zh-CN" altLang="en-US" sz="2400" b="1" kern="0" dirty="0">
                <a:ea typeface="楷体" panose="02010609060101010101" pitchFamily="49" charset="-122"/>
                <a:sym typeface="Wingdings" panose="05000000000000000000" pitchFamily="2" charset="2"/>
              </a:rPr>
              <a:t>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对象句柄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属性名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539750" indent="0">
              <a:buNone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查询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图形对象属性：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v =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v =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.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propertyName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539750" indent="0">
              <a:buNone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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设置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图形对象属性</a:t>
            </a:r>
            <a:r>
              <a:rPr lang="zh-CN" altLang="en-US" sz="2000" kern="0" dirty="0"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 h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.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propertyName = propertyValue</a:t>
            </a:r>
            <a:endParaRPr lang="en-US" altLang="zh-CN" sz="2000" kern="0" dirty="0"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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当前图窗句柄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gcf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、当前坐标轴句柄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gca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黑体" panose="02010609060101010101" pitchFamily="49" charset="-122"/>
                <a:cs typeface="+mn-cs"/>
              </a:rPr>
              <a:t>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黑体" panose="02010609060101010101" pitchFamily="49" charset="-122"/>
              <a:cs typeface="+mn-cs"/>
            </a:endParaRPr>
          </a:p>
          <a:p>
            <a:pPr marL="539750" indent="0">
              <a:buNone/>
            </a:pPr>
            <a:r>
              <a:rPr lang="en-US" altLang="zh-CN" sz="2000" kern="0" dirty="0">
                <a:solidFill>
                  <a:srgbClr val="0000FF"/>
                </a:solidFill>
                <a:ea typeface="楷体" panose="02010609060101010101" pitchFamily="49" charset="-122"/>
              </a:rPr>
              <a:t>get</a:t>
            </a:r>
            <a:r>
              <a:rPr lang="en-US" altLang="zh-CN" sz="2000" kern="0" dirty="0">
                <a:ea typeface="楷体" panose="02010609060101010101" pitchFamily="49" charset="-122"/>
              </a:rPr>
              <a:t>(</a:t>
            </a:r>
            <a:r>
              <a:rPr lang="en-US" altLang="zh-CN" sz="2000" kern="0" dirty="0" err="1">
                <a:solidFill>
                  <a:srgbClr val="FF00FF"/>
                </a:solidFill>
                <a:ea typeface="楷体" panose="02010609060101010101" pitchFamily="49" charset="-122"/>
              </a:rPr>
              <a:t>gcf</a:t>
            </a:r>
            <a:r>
              <a:rPr lang="en-US" altLang="zh-CN" sz="2000" kern="0" dirty="0">
                <a:ea typeface="楷体" panose="02010609060101010101" pitchFamily="49" charset="-122"/>
              </a:rPr>
              <a:t>) </a:t>
            </a:r>
            <a:r>
              <a:rPr lang="zh-CN" altLang="en-US" sz="2000" kern="0" dirty="0">
                <a:ea typeface="楷体" panose="02010609060101010101" pitchFamily="49" charset="-122"/>
              </a:rPr>
              <a:t>、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get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gcf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propertyName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set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gcf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propertyName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propertyValue)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539750" indent="0">
              <a:buNone/>
            </a:pPr>
            <a:r>
              <a:rPr lang="en-US" altLang="zh-CN" sz="2000" kern="0" dirty="0">
                <a:solidFill>
                  <a:srgbClr val="0000FF"/>
                </a:solidFill>
                <a:ea typeface="楷体" panose="02010609060101010101" pitchFamily="49" charset="-122"/>
              </a:rPr>
              <a:t>get</a:t>
            </a:r>
            <a:r>
              <a:rPr lang="en-US" altLang="zh-CN" sz="2000" kern="0" dirty="0">
                <a:ea typeface="楷体" panose="02010609060101010101" pitchFamily="49" charset="-122"/>
              </a:rPr>
              <a:t>(</a:t>
            </a:r>
            <a:r>
              <a:rPr lang="en-US" altLang="zh-CN" sz="2000" kern="0" dirty="0" err="1">
                <a:solidFill>
                  <a:srgbClr val="FF00FF"/>
                </a:solidFill>
                <a:ea typeface="楷体" panose="02010609060101010101" pitchFamily="49" charset="-122"/>
              </a:rPr>
              <a:t>gca</a:t>
            </a:r>
            <a:r>
              <a:rPr lang="en-US" altLang="zh-CN" sz="2000" kern="0" dirty="0">
                <a:ea typeface="楷体" panose="02010609060101010101" pitchFamily="49" charset="-122"/>
              </a:rPr>
              <a:t>) </a:t>
            </a:r>
            <a:r>
              <a:rPr lang="zh-CN" altLang="en-US" sz="2000" kern="0" dirty="0">
                <a:ea typeface="楷体" panose="02010609060101010101" pitchFamily="49" charset="-122"/>
              </a:rPr>
              <a:t>、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get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gca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propertyName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set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gca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propertyName</a:t>
            </a:r>
            <a:r>
              <a:rPr lang="en-US" altLang="zh-CN" sz="2000" b="0" i="0" u="none" strike="noStrike" dirty="0">
                <a:effectLst/>
              </a:rPr>
              <a:t>'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楷体" panose="02010609060101010101" pitchFamily="49" charset="-122"/>
                <a:sym typeface="Wingdings" panose="05000000000000000000" pitchFamily="2" charset="2"/>
              </a:rPr>
              <a:t>, propertyValue)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 marL="539750" indent="0">
              <a:buNone/>
            </a:pPr>
            <a:r>
              <a:rPr lang="en-US" altLang="zh-CN" sz="2000" kern="0" dirty="0">
                <a:solidFill>
                  <a:srgbClr val="FF00FF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lang="en-US" altLang="zh-CN" sz="2000" kern="0" dirty="0">
                <a:ea typeface="楷体" panose="02010609060101010101" pitchFamily="49" charset="-122"/>
                <a:sym typeface="Wingdings" panose="05000000000000000000" pitchFamily="2" charset="2"/>
              </a:rPr>
              <a:t> = </a:t>
            </a:r>
            <a:r>
              <a:rPr lang="en-US" altLang="zh-CN" sz="2000" kern="0" dirty="0" err="1">
                <a:solidFill>
                  <a:srgbClr val="FF00FF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gcf</a:t>
            </a:r>
            <a:r>
              <a:rPr lang="zh-CN" altLang="en-US" sz="2000" kern="0" dirty="0">
                <a:ea typeface="楷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en-US" altLang="zh-CN" sz="2000" kern="0" dirty="0">
                <a:solidFill>
                  <a:srgbClr val="FF00FF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lang="en-US" altLang="zh-CN" sz="2000" kern="0" dirty="0">
                <a:ea typeface="楷体" panose="02010609060101010101" pitchFamily="49" charset="-122"/>
                <a:sym typeface="Wingdings" panose="05000000000000000000" pitchFamily="2" charset="2"/>
              </a:rPr>
              <a:t> = </a:t>
            </a:r>
            <a:r>
              <a:rPr lang="en-US" altLang="zh-CN" sz="2000" kern="0" dirty="0" err="1">
                <a:solidFill>
                  <a:srgbClr val="FF00FF"/>
                </a:solidFill>
                <a:ea typeface="楷体" panose="02010609060101010101" pitchFamily="49" charset="-122"/>
                <a:sym typeface="Wingdings" panose="05000000000000000000" pitchFamily="2" charset="2"/>
              </a:rPr>
              <a:t>gca</a:t>
            </a:r>
            <a:endParaRPr lang="en-US" altLang="zh-CN" sz="2000" kern="0" dirty="0">
              <a:solidFill>
                <a:srgbClr val="FF00FF"/>
              </a:solidFill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00192" y="3171854"/>
            <a:ext cx="2574032" cy="13234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b="1" kern="0" dirty="0">
                <a:latin typeface="+mn-lt"/>
                <a:ea typeface="楷体" panose="02010609060101010101" pitchFamily="49" charset="-122"/>
              </a:rPr>
              <a:t>父对象</a:t>
            </a:r>
            <a:r>
              <a:rPr lang="zh-CN" altLang="en-US" dirty="0">
                <a:latin typeface="+mn-lt"/>
              </a:rPr>
              <a:t>：</a:t>
            </a:r>
            <a:r>
              <a:rPr lang="en-US" altLang="zh-CN" sz="2000" kern="0" dirty="0" err="1">
                <a:solidFill>
                  <a:srgbClr val="FF00FF"/>
                </a:solidFill>
                <a:latin typeface="+mn-lt"/>
                <a:ea typeface="楷体" panose="02010609060101010101" pitchFamily="49" charset="-122"/>
              </a:rPr>
              <a:t>h</a:t>
            </a:r>
            <a:r>
              <a:rPr lang="en-US" altLang="zh-CN" dirty="0" err="1">
                <a:latin typeface="+mn-lt"/>
              </a:rPr>
              <a:t>.</a:t>
            </a:r>
            <a:r>
              <a:rPr lang="en-US" altLang="zh-CN" sz="2000" kern="0" dirty="0" err="1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Parent</a:t>
            </a:r>
            <a:endParaRPr lang="en-US" altLang="zh-CN" dirty="0">
              <a:latin typeface="+mn-lt"/>
            </a:endParaRPr>
          </a:p>
          <a:p>
            <a:r>
              <a:rPr lang="zh-CN" altLang="en-US" sz="2000" b="1" kern="0" dirty="0">
                <a:latin typeface="+mn-lt"/>
                <a:ea typeface="楷体" panose="02010609060101010101" pitchFamily="49" charset="-122"/>
              </a:rPr>
              <a:t>子对象</a:t>
            </a:r>
            <a:r>
              <a:rPr lang="zh-CN" altLang="en-US" dirty="0">
                <a:latin typeface="+mn-lt"/>
              </a:rPr>
              <a:t>：</a:t>
            </a:r>
            <a:r>
              <a:rPr lang="en-US" altLang="zh-CN" sz="2000" kern="0" dirty="0" err="1">
                <a:solidFill>
                  <a:srgbClr val="FF00FF"/>
                </a:solidFill>
                <a:latin typeface="+mn-lt"/>
                <a:ea typeface="楷体" panose="02010609060101010101" pitchFamily="49" charset="-122"/>
              </a:rPr>
              <a:t>h</a:t>
            </a:r>
            <a:r>
              <a:rPr lang="en-US" altLang="zh-CN" dirty="0" err="1">
                <a:latin typeface="+mn-lt"/>
              </a:rPr>
              <a:t>.</a:t>
            </a:r>
            <a:r>
              <a:rPr lang="en-US" altLang="zh-CN" sz="2000" kern="0" dirty="0" err="1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Children</a:t>
            </a:r>
            <a:endParaRPr lang="en-US" altLang="zh-CN" sz="2000" kern="0" dirty="0">
              <a:solidFill>
                <a:srgbClr val="0000FF"/>
              </a:solidFill>
              <a:latin typeface="+mn-lt"/>
              <a:ea typeface="楷体" panose="02010609060101010101" pitchFamily="49" charset="-122"/>
            </a:endParaRPr>
          </a:p>
          <a:p>
            <a:r>
              <a:rPr lang="en-US" altLang="zh-CN" sz="2000" kern="0" dirty="0" err="1">
                <a:solidFill>
                  <a:srgbClr val="FF00FF"/>
                </a:solidFill>
                <a:latin typeface="+mn-lt"/>
                <a:ea typeface="楷体" panose="02010609060101010101" pitchFamily="49" charset="-122"/>
              </a:rPr>
              <a:t>hP</a:t>
            </a:r>
            <a:r>
              <a:rPr lang="en-US" altLang="zh-CN" sz="2000" kern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2000" kern="0" dirty="0"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sz="2000" kern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 get</a:t>
            </a:r>
            <a:r>
              <a:rPr lang="en-US" altLang="zh-CN" sz="2000" kern="0" dirty="0">
                <a:latin typeface="+mn-lt"/>
                <a:ea typeface="楷体" panose="02010609060101010101" pitchFamily="49" charset="-122"/>
              </a:rPr>
              <a:t>(</a:t>
            </a:r>
            <a:r>
              <a:rPr lang="en-US" altLang="zh-CN" sz="2000" kern="0" dirty="0">
                <a:solidFill>
                  <a:srgbClr val="FF00FF"/>
                </a:solidFill>
                <a:latin typeface="+mn-lt"/>
                <a:ea typeface="楷体" panose="02010609060101010101" pitchFamily="49" charset="-122"/>
              </a:rPr>
              <a:t>h</a:t>
            </a:r>
            <a:r>
              <a:rPr lang="en-US" altLang="zh-CN" sz="2000" kern="0" dirty="0">
                <a:latin typeface="+mn-lt"/>
                <a:ea typeface="楷体" panose="02010609060101010101" pitchFamily="49" charset="-122"/>
              </a:rPr>
              <a:t>, '</a:t>
            </a:r>
            <a:r>
              <a:rPr lang="en-US" altLang="zh-CN" sz="2000" kern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Parent</a:t>
            </a:r>
            <a:r>
              <a:rPr lang="en-US" altLang="zh-CN" sz="2000" kern="0" dirty="0">
                <a:latin typeface="+mn-lt"/>
                <a:ea typeface="楷体" panose="02010609060101010101" pitchFamily="49" charset="-122"/>
              </a:rPr>
              <a:t>' )</a:t>
            </a:r>
            <a:endParaRPr lang="en-US" altLang="zh-CN" sz="2000" kern="0" dirty="0">
              <a:latin typeface="+mn-lt"/>
              <a:ea typeface="楷体" panose="02010609060101010101" pitchFamily="49" charset="-122"/>
            </a:endParaRPr>
          </a:p>
          <a:p>
            <a:r>
              <a:rPr lang="en-US" altLang="zh-CN" sz="2000" kern="0" dirty="0" err="1">
                <a:solidFill>
                  <a:srgbClr val="FF00FF"/>
                </a:solidFill>
                <a:latin typeface="+mn-lt"/>
                <a:ea typeface="楷体" panose="02010609060101010101" pitchFamily="49" charset="-122"/>
              </a:rPr>
              <a:t>hC</a:t>
            </a:r>
            <a:r>
              <a:rPr lang="en-US" altLang="zh-CN" sz="2000" kern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2000" kern="0" dirty="0"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sz="2000" kern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 get</a:t>
            </a:r>
            <a:r>
              <a:rPr lang="en-US" altLang="zh-CN" sz="2000" kern="0" dirty="0">
                <a:latin typeface="+mn-lt"/>
                <a:ea typeface="楷体" panose="02010609060101010101" pitchFamily="49" charset="-122"/>
              </a:rPr>
              <a:t>(</a:t>
            </a:r>
            <a:r>
              <a:rPr lang="en-US" altLang="zh-CN" sz="2000" kern="0" dirty="0">
                <a:solidFill>
                  <a:srgbClr val="FF00FF"/>
                </a:solidFill>
                <a:latin typeface="+mn-lt"/>
                <a:ea typeface="楷体" panose="02010609060101010101" pitchFamily="49" charset="-122"/>
              </a:rPr>
              <a:t>h</a:t>
            </a:r>
            <a:r>
              <a:rPr lang="en-US" altLang="zh-CN" sz="2000" kern="0" dirty="0">
                <a:latin typeface="+mn-lt"/>
                <a:ea typeface="楷体" panose="02010609060101010101" pitchFamily="49" charset="-122"/>
              </a:rPr>
              <a:t>, '</a:t>
            </a:r>
            <a:r>
              <a:rPr lang="en-US" altLang="zh-CN" sz="2000" kern="0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Children</a:t>
            </a:r>
            <a:r>
              <a:rPr lang="en-US" altLang="zh-CN" sz="2000" kern="0" dirty="0">
                <a:latin typeface="+mn-lt"/>
                <a:ea typeface="楷体" panose="02010609060101010101" pitchFamily="49" charset="-122"/>
              </a:rPr>
              <a:t>' )</a:t>
            </a:r>
            <a:endParaRPr lang="zh-CN" altLang="en-US" sz="2000" kern="0" dirty="0">
              <a:latin typeface="+mn-lt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637" y="980728"/>
            <a:ext cx="8312727" cy="2717475"/>
          </a:xfrm>
          <a:prstGeom prst="rect">
            <a:avLst/>
          </a:prstGeom>
          <a:ln w="9525">
            <a:solidFill>
              <a:schemeClr val="tx1"/>
            </a:solidFill>
            <a:prstDash val="solid"/>
          </a:ln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51520" y="43979"/>
            <a:ext cx="6192838" cy="720725"/>
          </a:xfrm>
        </p:spPr>
        <p:txBody>
          <a:bodyPr/>
          <a:lstStyle/>
          <a:p>
            <a:r>
              <a:rPr lang="zh-CN" altLang="en-US" dirty="0"/>
              <a:t>图形对象属性的设置和查询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355" y="1700808"/>
            <a:ext cx="2126469" cy="191187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69" y="4526809"/>
            <a:ext cx="2137143" cy="19276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63" y="4149080"/>
            <a:ext cx="3133333" cy="304762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 bwMode="auto">
          <a:xfrm>
            <a:off x="2051720" y="3159074"/>
            <a:ext cx="3024336" cy="288032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4427984" y="4005064"/>
            <a:ext cx="0" cy="2520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 flipH="1">
            <a:off x="1907704" y="5075553"/>
            <a:ext cx="2952328" cy="18965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FF"/>
            </a:solidFill>
            <a:prstDash val="dash"/>
            <a:round/>
            <a:headEnd type="none" w="med" len="med"/>
            <a:tailEnd type="triangle"/>
          </a:ln>
          <a:effectLst/>
        </p:spPr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7" y="4319914"/>
            <a:ext cx="4085714" cy="18380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图形对象属性的设置和查询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323850" y="1071547"/>
            <a:ext cx="4176142" cy="55725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ym typeface="Wingdings" panose="05000000000000000000" pitchFamily="2" charset="2"/>
              </a:rPr>
              <a:t></a:t>
            </a:r>
            <a:r>
              <a:rPr lang="zh-CN" altLang="en-US" dirty="0">
                <a:solidFill>
                  <a:srgbClr val="FF0000"/>
                </a:solidFill>
              </a:rPr>
              <a:t>图形窗口</a:t>
            </a:r>
            <a:r>
              <a:rPr lang="zh-CN" altLang="en-US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FF00FF"/>
                </a:solidFill>
              </a:rPr>
              <a:t>属性编辑器</a:t>
            </a:r>
            <a:endParaRPr lang="zh-CN" altLang="en-US" dirty="0">
              <a:solidFill>
                <a:srgbClr val="FF00FF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905" y="1574898"/>
            <a:ext cx="7116190" cy="518857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32040" y="892355"/>
            <a:ext cx="3348000" cy="646331"/>
          </a:xfrm>
          <a:prstGeom prst="rect">
            <a:avLst/>
          </a:prstGeom>
          <a:solidFill>
            <a:srgbClr val="EFEFFB"/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+mn-lt"/>
              </a:rPr>
              <a:t>inspect</a:t>
            </a:r>
            <a:r>
              <a:rPr lang="en-US" altLang="zh-CN" dirty="0">
                <a:latin typeface="+mn-lt"/>
              </a:rPr>
              <a:t> 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+mn-lt"/>
              </a:rPr>
              <a:t>%</a:t>
            </a:r>
            <a:r>
              <a:rPr lang="zh-CN" altLang="en-US" sz="1800" b="0" i="0" dirty="0">
                <a:solidFill>
                  <a:srgbClr val="028009"/>
                </a:solidFill>
                <a:effectLst/>
                <a:latin typeface="+mn-lt"/>
              </a:rPr>
              <a:t>打开属性检查器</a:t>
            </a:r>
            <a:endParaRPr lang="zh-CN" altLang="en-US" sz="1800" b="0" i="0" dirty="0">
              <a:effectLst/>
              <a:latin typeface="+mn-lt"/>
            </a:endParaRPr>
          </a:p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+mn-lt"/>
              </a:rPr>
              <a:t>plottools</a:t>
            </a:r>
            <a:r>
              <a:rPr lang="en-US" altLang="zh-CN" sz="1800" b="0" i="0" dirty="0">
                <a:effectLst/>
                <a:latin typeface="+mn-lt"/>
              </a:rPr>
              <a:t> </a:t>
            </a:r>
            <a:r>
              <a:rPr lang="en-US" altLang="zh-CN" sz="1800" b="0" i="0" dirty="0">
                <a:solidFill>
                  <a:srgbClr val="028009"/>
                </a:solidFill>
                <a:effectLst/>
                <a:latin typeface="+mn-lt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+mn-lt"/>
              </a:rPr>
              <a:t>显示或隐藏绘图工具</a:t>
            </a:r>
            <a:endParaRPr lang="en-US" altLang="zh-CN" dirty="0">
              <a:solidFill>
                <a:srgbClr val="028009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图形窗口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071547"/>
            <a:ext cx="5328270" cy="1116192"/>
          </a:xfrm>
        </p:spPr>
        <p:txBody>
          <a:bodyPr/>
          <a:lstStyle/>
          <a:p>
            <a:r>
              <a:rPr lang="zh-CN" altLang="en-US" dirty="0"/>
              <a:t>图形窗口的创建（</a:t>
            </a:r>
            <a:r>
              <a:rPr lang="en-US" altLang="zh-CN" dirty="0">
                <a:solidFill>
                  <a:srgbClr val="FF0000"/>
                </a:solidFill>
              </a:rPr>
              <a:t>figure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" lvl="1" indent="0"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en-US" altLang="zh-CN" b="1" dirty="0"/>
              <a:t>figure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C00000"/>
                </a:solidFill>
              </a:rPr>
              <a:t>自动编号</a:t>
            </a:r>
            <a:endParaRPr lang="zh-CN" altLang="en-US" b="1" dirty="0">
              <a:solidFill>
                <a:srgbClr val="C00000"/>
              </a:solidFill>
            </a:endParaRPr>
          </a:p>
          <a:p>
            <a:pPr lvl="1"/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r="33714"/>
          <a:stretch>
            <a:fillRect/>
          </a:stretch>
        </p:blipFill>
        <p:spPr>
          <a:xfrm>
            <a:off x="467544" y="3557150"/>
            <a:ext cx="1909240" cy="31122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261006"/>
            <a:ext cx="1909240" cy="115212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572853" y="1610813"/>
            <a:ext cx="43533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lt"/>
                <a:ea typeface="宋体" panose="02010600030101010101" pitchFamily="2" charset="-122"/>
                <a:sym typeface="Wingdings" panose="05000000000000000000" pitchFamily="2" charset="2"/>
              </a:rPr>
              <a:t>2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figure</a:t>
            </a:r>
            <a:r>
              <a:rPr lang="en-US" altLang="zh-CN" sz="2400" b="1" dirty="0">
                <a:latin typeface="+mn-lt"/>
              </a:rPr>
              <a:t>(n)</a:t>
            </a:r>
            <a:r>
              <a:rPr lang="zh-CN" altLang="en-US" sz="2400" dirty="0">
                <a:latin typeface="+mn-lt"/>
              </a:rPr>
              <a:t>：按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</a:rPr>
              <a:t>指定编号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创建</a:t>
            </a:r>
            <a:endParaRPr lang="zh-CN" altLang="en-US" sz="2400" b="1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97465" y="3302258"/>
            <a:ext cx="56923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lt"/>
                <a:ea typeface="宋体" panose="02010600030101010101" pitchFamily="2" charset="-122"/>
                <a:sym typeface="Wingdings" panose="05000000000000000000" pitchFamily="2" charset="2"/>
              </a:rPr>
              <a:t>3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figure(</a:t>
            </a:r>
            <a:r>
              <a:rPr lang="en-US" altLang="zh-CN" sz="2400" b="1" dirty="0" err="1">
                <a:latin typeface="+mn-lt"/>
                <a:ea typeface="宋体" panose="02010600030101010101" pitchFamily="2" charset="-122"/>
              </a:rPr>
              <a:t>Name,Value</a:t>
            </a:r>
            <a:r>
              <a:rPr lang="en-US" altLang="zh-CN" sz="2400" b="1" dirty="0">
                <a:latin typeface="+mn-lt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+mn-lt"/>
              </a:rPr>
              <a:t>：按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宋体" panose="02010600030101010101" pitchFamily="2" charset="-122"/>
              </a:rPr>
              <a:t>指定属性</a:t>
            </a:r>
            <a:r>
              <a:rPr lang="zh-CN" altLang="en-US" sz="2400" b="1" dirty="0">
                <a:latin typeface="+mn-lt"/>
                <a:ea typeface="宋体" panose="02010600030101010101" pitchFamily="2" charset="-122"/>
              </a:rPr>
              <a:t>创建</a:t>
            </a:r>
            <a:endParaRPr lang="zh-CN" altLang="en-US" sz="2400" b="1" dirty="0"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303" y="2141120"/>
            <a:ext cx="2816159" cy="4616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/>
          <a:srcRect r="27707" b="26083"/>
          <a:stretch>
            <a:fillRect/>
          </a:stretch>
        </p:blipFill>
        <p:spPr>
          <a:xfrm>
            <a:off x="7009867" y="2060848"/>
            <a:ext cx="1665821" cy="117723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/>
          <a:srcRect l="970" t="3338"/>
          <a:stretch>
            <a:fillRect/>
          </a:stretch>
        </p:blipFill>
        <p:spPr>
          <a:xfrm>
            <a:off x="2829462" y="3734306"/>
            <a:ext cx="5885196" cy="39493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/>
          <a:srcRect b="27522"/>
          <a:stretch>
            <a:fillRect/>
          </a:stretch>
        </p:blipFill>
        <p:spPr>
          <a:xfrm>
            <a:off x="2829462" y="4238362"/>
            <a:ext cx="2212787" cy="118733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840416" y="437473"/>
            <a:ext cx="3052064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44450" cmpd="thickThin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图窗占内存大，循环结构不建议自动编号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21" name="直接连接符 20"/>
          <p:cNvCxnSpPr/>
          <p:nvPr/>
        </p:nvCxnSpPr>
        <p:spPr bwMode="auto">
          <a:xfrm>
            <a:off x="2651152" y="3284984"/>
            <a:ext cx="6169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2627784" y="3284984"/>
            <a:ext cx="0" cy="33123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/>
          <p:cNvCxnSpPr/>
          <p:nvPr/>
        </p:nvCxnSpPr>
        <p:spPr bwMode="auto">
          <a:xfrm>
            <a:off x="3491880" y="1700808"/>
            <a:ext cx="0" cy="15372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/>
          <p:cNvCxnSpPr/>
          <p:nvPr/>
        </p:nvCxnSpPr>
        <p:spPr bwMode="auto">
          <a:xfrm>
            <a:off x="5220072" y="4338748"/>
            <a:ext cx="0" cy="12677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直接连接符 25"/>
          <p:cNvCxnSpPr/>
          <p:nvPr/>
        </p:nvCxnSpPr>
        <p:spPr bwMode="auto">
          <a:xfrm>
            <a:off x="5220072" y="4310370"/>
            <a:ext cx="3600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/>
          <p:cNvCxnSpPr/>
          <p:nvPr/>
        </p:nvCxnSpPr>
        <p:spPr bwMode="auto">
          <a:xfrm>
            <a:off x="2651152" y="5606514"/>
            <a:ext cx="25689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文本框 32"/>
          <p:cNvSpPr txBox="1"/>
          <p:nvPr/>
        </p:nvSpPr>
        <p:spPr>
          <a:xfrm>
            <a:off x="5397896" y="4365104"/>
            <a:ext cx="2952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</a:rPr>
              <a:t>）指定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</a:rPr>
              <a:t>句柄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</a:rPr>
              <a:t>对象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3661" y="4892845"/>
            <a:ext cx="2283809" cy="670476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8"/>
          <a:srcRect b="41974"/>
          <a:stretch>
            <a:fillRect/>
          </a:stretch>
        </p:blipFill>
        <p:spPr>
          <a:xfrm>
            <a:off x="4283968" y="5744137"/>
            <a:ext cx="4752381" cy="928413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4969" y="5693975"/>
            <a:ext cx="1440000" cy="91428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图形窗口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当前窗口设置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）鼠标选中</a:t>
            </a:r>
            <a:endParaRPr lang="en-US" altLang="zh-CN" b="1" dirty="0"/>
          </a:p>
          <a:p>
            <a:pPr marL="457200" lvl="1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）图窗编号操作：</a:t>
            </a:r>
            <a:endParaRPr lang="en-US" altLang="zh-CN" b="1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b="1" dirty="0"/>
              <a:t>         </a:t>
            </a:r>
            <a:r>
              <a:rPr lang="en-US" altLang="zh-CN" b="1" dirty="0">
                <a:sym typeface="Wingdings" panose="05000000000000000000" pitchFamily="2" charset="2"/>
              </a:rPr>
              <a:t> </a:t>
            </a:r>
            <a:r>
              <a:rPr lang="en-US" altLang="zh-CN" b="1" dirty="0"/>
              <a:t>figure(n)</a:t>
            </a:r>
            <a:endParaRPr lang="en-US" altLang="zh-CN" b="1" dirty="0"/>
          </a:p>
          <a:p>
            <a:pPr marL="457200" lvl="1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CN" b="1" dirty="0"/>
              <a:t>3</a:t>
            </a:r>
            <a:r>
              <a:rPr lang="zh-CN" altLang="en-US" b="1" dirty="0"/>
              <a:t>）句柄操作：</a:t>
            </a:r>
            <a:endParaRPr lang="en-US" altLang="zh-CN" b="1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zh-CN" b="1" dirty="0"/>
              <a:t>	   </a:t>
            </a:r>
            <a:r>
              <a:rPr lang="en-US" altLang="zh-CN" b="1" dirty="0">
                <a:sym typeface="Wingdings" panose="05000000000000000000" pitchFamily="2" charset="2"/>
              </a:rPr>
              <a:t> </a:t>
            </a:r>
            <a:r>
              <a:rPr lang="en-US" altLang="zh-CN" b="1" dirty="0"/>
              <a:t>figure(h)</a:t>
            </a:r>
            <a:endParaRPr lang="en-US" altLang="zh-CN" b="1" dirty="0"/>
          </a:p>
          <a:p>
            <a:pPr marL="457200" lvl="1" indent="0">
              <a:buNone/>
            </a:pPr>
            <a:endParaRPr lang="en-US" altLang="zh-CN" b="1" dirty="0"/>
          </a:p>
          <a:p>
            <a:pPr marL="457200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048328" y="187666"/>
            <a:ext cx="2954655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44450" cmpd="thickThin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默认在当前窗口画图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258567" y="980728"/>
            <a:ext cx="4495239" cy="2285714"/>
            <a:chOff x="4258567" y="980728"/>
            <a:chExt cx="4495239" cy="2285714"/>
          </a:xfrm>
        </p:grpSpPr>
        <p:grpSp>
          <p:nvGrpSpPr>
            <p:cNvPr id="2" name="组合 1"/>
            <p:cNvGrpSpPr/>
            <p:nvPr/>
          </p:nvGrpSpPr>
          <p:grpSpPr>
            <a:xfrm>
              <a:off x="4258568" y="980728"/>
              <a:ext cx="4495238" cy="2285714"/>
              <a:chOff x="4258568" y="980728"/>
              <a:chExt cx="4495238" cy="2285714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 rotWithShape="1">
              <a:blip r:embed="rId1"/>
              <a:srcRect r="1461"/>
              <a:stretch>
                <a:fillRect/>
              </a:stretch>
            </p:blipFill>
            <p:spPr>
              <a:xfrm>
                <a:off x="4258568" y="980728"/>
                <a:ext cx="4495238" cy="2285714"/>
              </a:xfrm>
              <a:prstGeom prst="rect">
                <a:avLst/>
              </a:prstGeom>
            </p:spPr>
          </p:pic>
          <p:sp>
            <p:nvSpPr>
              <p:cNvPr id="12" name="矩形 11"/>
              <p:cNvSpPr/>
              <p:nvPr/>
            </p:nvSpPr>
            <p:spPr>
              <a:xfrm>
                <a:off x="6678963" y="2864848"/>
                <a:ext cx="121700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0000FF"/>
                    </a:solidFill>
                  </a:rPr>
                  <a:t>当前窗口</a:t>
                </a:r>
                <a:endParaRPr lang="zh-CN" altLang="en-US" sz="2000" b="1" dirty="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22" name="矩形 21"/>
            <p:cNvSpPr/>
            <p:nvPr/>
          </p:nvSpPr>
          <p:spPr bwMode="auto">
            <a:xfrm>
              <a:off x="4258567" y="980728"/>
              <a:ext cx="4495238" cy="2284230"/>
            </a:xfrm>
            <a:prstGeom prst="rect">
              <a:avLst/>
            </a:prstGeom>
            <a:noFill/>
            <a:ln w="12700" cap="flat" cmpd="sng" algn="ctr">
              <a:solidFill>
                <a:srgbClr val="F321F3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258567" y="3582692"/>
            <a:ext cx="4495238" cy="2871992"/>
            <a:chOff x="4258567" y="3582692"/>
            <a:chExt cx="4495238" cy="2871992"/>
          </a:xfrm>
        </p:grpSpPr>
        <p:grpSp>
          <p:nvGrpSpPr>
            <p:cNvPr id="21" name="组合 20"/>
            <p:cNvGrpSpPr/>
            <p:nvPr/>
          </p:nvGrpSpPr>
          <p:grpSpPr>
            <a:xfrm>
              <a:off x="4258567" y="3582692"/>
              <a:ext cx="4495238" cy="2871992"/>
              <a:chOff x="4258567" y="3582692"/>
              <a:chExt cx="4495238" cy="2871992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60699" y="3582692"/>
                <a:ext cx="2194286" cy="411429"/>
              </a:xfrm>
              <a:prstGeom prst="rect">
                <a:avLst/>
              </a:prstGeom>
            </p:spPr>
          </p:pic>
          <p:grpSp>
            <p:nvGrpSpPr>
              <p:cNvPr id="9" name="组合 8"/>
              <p:cNvGrpSpPr/>
              <p:nvPr/>
            </p:nvGrpSpPr>
            <p:grpSpPr>
              <a:xfrm>
                <a:off x="4258567" y="4159446"/>
                <a:ext cx="4495238" cy="2295238"/>
                <a:chOff x="4258567" y="4159446"/>
                <a:chExt cx="4495238" cy="2295238"/>
              </a:xfrm>
            </p:grpSpPr>
            <p:pic>
              <p:nvPicPr>
                <p:cNvPr id="6" name="图片 5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58567" y="4159446"/>
                  <a:ext cx="4495238" cy="2295238"/>
                </a:xfrm>
                <a:prstGeom prst="rect">
                  <a:avLst/>
                </a:prstGeom>
              </p:spPr>
            </p:pic>
            <p:sp>
              <p:nvSpPr>
                <p:cNvPr id="13" name="矩形 12"/>
                <p:cNvSpPr/>
                <p:nvPr/>
              </p:nvSpPr>
              <p:spPr>
                <a:xfrm>
                  <a:off x="6678963" y="4846301"/>
                  <a:ext cx="121700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000" b="1" dirty="0">
                      <a:solidFill>
                        <a:srgbClr val="0000FF"/>
                      </a:solidFill>
                    </a:rPr>
                    <a:t>当前窗口</a:t>
                  </a:r>
                  <a:endParaRPr lang="zh-CN" altLang="en-US" sz="2000" b="1" dirty="0">
                    <a:solidFill>
                      <a:srgbClr val="0000FF"/>
                    </a:solidFill>
                  </a:endParaRPr>
                </a:p>
              </p:txBody>
            </p:sp>
          </p:grpSp>
        </p:grpSp>
        <p:sp>
          <p:nvSpPr>
            <p:cNvPr id="23" name="矩形 22"/>
            <p:cNvSpPr/>
            <p:nvPr/>
          </p:nvSpPr>
          <p:spPr bwMode="auto">
            <a:xfrm>
              <a:off x="4258567" y="3593042"/>
              <a:ext cx="4495238" cy="2861642"/>
            </a:xfrm>
            <a:prstGeom prst="rect">
              <a:avLst/>
            </a:prstGeom>
            <a:noFill/>
            <a:ln w="12700" cap="flat" cmpd="sng" algn="ctr">
              <a:solidFill>
                <a:srgbClr val="F321F3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99592" y="4240221"/>
            <a:ext cx="2556000" cy="2232000"/>
            <a:chOff x="438040" y="4289380"/>
            <a:chExt cx="2556000" cy="2232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520127" y="4289381"/>
              <a:ext cx="2380159" cy="2201650"/>
              <a:chOff x="459582" y="4361389"/>
              <a:chExt cx="2380159" cy="2201650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312" y="4953515"/>
                <a:ext cx="2371429" cy="1609524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582" y="4361389"/>
                <a:ext cx="2377142" cy="472381"/>
              </a:xfrm>
              <a:prstGeom prst="rect">
                <a:avLst/>
              </a:prstGeom>
            </p:spPr>
          </p:pic>
          <p:sp>
            <p:nvSpPr>
              <p:cNvPr id="14" name="矩形 13"/>
              <p:cNvSpPr/>
              <p:nvPr/>
            </p:nvSpPr>
            <p:spPr>
              <a:xfrm>
                <a:off x="1045526" y="5786454"/>
                <a:ext cx="121700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0000FF"/>
                    </a:solidFill>
                  </a:rPr>
                  <a:t>当前窗口</a:t>
                </a:r>
                <a:endParaRPr lang="zh-CN" altLang="en-US" sz="2000" b="1" dirty="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26" name="矩形 25"/>
            <p:cNvSpPr/>
            <p:nvPr/>
          </p:nvSpPr>
          <p:spPr bwMode="auto">
            <a:xfrm>
              <a:off x="438040" y="4289380"/>
              <a:ext cx="2556000" cy="2232000"/>
            </a:xfrm>
            <a:prstGeom prst="rect">
              <a:avLst/>
            </a:prstGeom>
            <a:noFill/>
            <a:ln w="12700" cap="flat" cmpd="sng" algn="ctr">
              <a:solidFill>
                <a:srgbClr val="F321F3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15" name="直接箭头连接符 14"/>
          <p:cNvCxnSpPr/>
          <p:nvPr/>
        </p:nvCxnSpPr>
        <p:spPr bwMode="auto">
          <a:xfrm>
            <a:off x="2627784" y="1858464"/>
            <a:ext cx="151216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321F3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>
            <a:off x="3079054" y="2925912"/>
            <a:ext cx="1080120" cy="10081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321F3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29" name="直接箭头连接符 28"/>
          <p:cNvCxnSpPr/>
          <p:nvPr/>
        </p:nvCxnSpPr>
        <p:spPr bwMode="auto">
          <a:xfrm>
            <a:off x="2508310" y="3950734"/>
            <a:ext cx="0" cy="2411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321F3"/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MATLAB</a:t>
            </a:r>
            <a:r>
              <a:rPr lang="zh-CN" altLang="en-US" dirty="0"/>
              <a:t>图形窗口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图形保存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307" y="1772816"/>
            <a:ext cx="2027461" cy="38001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091341"/>
            <a:ext cx="2215608" cy="52916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20072" y="1765598"/>
            <a:ext cx="3335296" cy="35548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pPr eaLnBrk="1" hangingPunct="1">
              <a:spcAft>
                <a:spcPts val="600"/>
              </a:spcAft>
            </a:pPr>
            <a:r>
              <a:rPr lang="zh-CN" altLang="en-US" sz="2000" dirty="0">
                <a:sym typeface="Wingdings" panose="05000000000000000000" pitchFamily="2" charset="2"/>
              </a:rPr>
              <a:t></a:t>
            </a:r>
            <a:r>
              <a:rPr lang="zh-CN" altLang="en-US" sz="2000" b="1" dirty="0">
                <a:solidFill>
                  <a:srgbClr val="FF0000"/>
                </a:solidFill>
              </a:rPr>
              <a:t>“文件 </a:t>
            </a:r>
            <a:r>
              <a:rPr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000" b="1" dirty="0">
                <a:solidFill>
                  <a:srgbClr val="FF0000"/>
                </a:solidFill>
              </a:rPr>
              <a:t> 生成代码”命令：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spcAft>
                <a:spcPts val="1800"/>
              </a:spcAft>
            </a:pPr>
            <a:r>
              <a:rPr lang="zh-CN" altLang="en-US" sz="2000" dirty="0"/>
              <a:t>将实施在图形上的操作命令输出成脚本，执行脚本可绘制图形</a:t>
            </a:r>
            <a:endParaRPr lang="en-US" altLang="zh-CN" sz="2000" dirty="0"/>
          </a:p>
          <a:p>
            <a:pPr eaLnBrk="1" hangingPunct="1">
              <a:spcAft>
                <a:spcPts val="600"/>
              </a:spcAft>
            </a:pPr>
            <a:r>
              <a:rPr lang="zh-CN" altLang="en-US" sz="2000" dirty="0">
                <a:sym typeface="Wingdings" panose="05000000000000000000" pitchFamily="2" charset="2"/>
              </a:rPr>
              <a:t></a:t>
            </a:r>
            <a:r>
              <a:rPr lang="zh-CN" altLang="en-US" sz="2000" b="1" dirty="0">
                <a:solidFill>
                  <a:srgbClr val="FF0000"/>
                </a:solidFill>
              </a:rPr>
              <a:t>“文件 </a:t>
            </a:r>
            <a:r>
              <a:rPr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000" b="1" dirty="0">
                <a:solidFill>
                  <a:srgbClr val="FF0000"/>
                </a:solidFill>
              </a:rPr>
              <a:t> 另存为”命令：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spcAft>
                <a:spcPts val="1800"/>
              </a:spcAft>
            </a:pPr>
            <a:r>
              <a:rPr lang="zh-CN" altLang="en-US" sz="2000" dirty="0"/>
              <a:t>将图形保存为</a:t>
            </a:r>
            <a:r>
              <a:rPr lang="en-US" altLang="zh-CN" sz="2000" dirty="0"/>
              <a:t>.fig</a:t>
            </a:r>
            <a:r>
              <a:rPr lang="zh-CN" altLang="en-US" sz="2000" dirty="0"/>
              <a:t>文件或标准图片格式</a:t>
            </a:r>
            <a:endParaRPr lang="en-US" altLang="zh-CN" sz="2000" dirty="0"/>
          </a:p>
          <a:p>
            <a:pPr eaLnBrk="1" hangingPunct="1">
              <a:spcAft>
                <a:spcPts val="600"/>
              </a:spcAft>
            </a:pPr>
            <a:r>
              <a:rPr lang="zh-CN" altLang="en-US" sz="2000" dirty="0">
                <a:sym typeface="Wingdings" panose="05000000000000000000" pitchFamily="2" charset="2"/>
              </a:rPr>
              <a:t></a:t>
            </a:r>
            <a:r>
              <a:rPr lang="zh-CN" altLang="en-US" sz="2000" b="1" dirty="0">
                <a:solidFill>
                  <a:srgbClr val="FF0000"/>
                </a:solidFill>
              </a:rPr>
              <a:t>“编辑 </a:t>
            </a:r>
            <a:r>
              <a:rPr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000" b="1" dirty="0">
                <a:solidFill>
                  <a:srgbClr val="FF0000"/>
                </a:solidFill>
              </a:rPr>
              <a:t> 复制图窗”命令：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000" dirty="0"/>
              <a:t>可将图形粘贴到其他文件中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850" y="1071546"/>
            <a:ext cx="8712646" cy="5400675"/>
          </a:xfrm>
        </p:spPr>
        <p:txBody>
          <a:bodyPr/>
          <a:lstStyle/>
          <a:p>
            <a:r>
              <a:rPr lang="zh-CN" altLang="en-US" b="1" dirty="0"/>
              <a:t>知识点总结</a:t>
            </a:r>
            <a:endParaRPr lang="zh-CN" altLang="en-US" b="1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图窗：</a:t>
            </a:r>
            <a:r>
              <a:rPr lang="en-US" altLang="zh-CN" dirty="0">
                <a:solidFill>
                  <a:srgbClr val="FF0000"/>
                </a:solidFill>
              </a:rPr>
              <a:t>figure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close all</a:t>
            </a:r>
            <a:r>
              <a:rPr lang="zh-CN" altLang="en-US" dirty="0"/>
              <a:t>、</a:t>
            </a:r>
            <a:r>
              <a:rPr lang="en-US" altLang="zh-CN" dirty="0" err="1"/>
              <a:t>clf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hold on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subplot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曲线曲面：</a:t>
            </a:r>
            <a:r>
              <a:rPr lang="en-US" altLang="zh-CN" dirty="0">
                <a:solidFill>
                  <a:srgbClr val="FF0000"/>
                </a:solidFill>
              </a:rPr>
              <a:t>plot</a:t>
            </a:r>
            <a:r>
              <a:rPr lang="en-US" altLang="zh-CN" dirty="0"/>
              <a:t>(</a:t>
            </a:r>
            <a:r>
              <a:rPr lang="zh-CN" altLang="en-US" dirty="0"/>
              <a:t>线条样式</a:t>
            </a:r>
            <a:r>
              <a:rPr lang="en-US" altLang="zh-CN" dirty="0"/>
              <a:t>)</a:t>
            </a:r>
            <a:r>
              <a:rPr lang="zh-CN" altLang="en-US" dirty="0"/>
              <a:t>、 </a:t>
            </a:r>
            <a:r>
              <a:rPr lang="en-US" altLang="zh-CN" dirty="0">
                <a:solidFill>
                  <a:srgbClr val="FF0000"/>
                </a:solidFill>
              </a:rPr>
              <a:t>plot3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meshgrid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mesh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surf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标注：</a:t>
            </a:r>
            <a:r>
              <a:rPr lang="en-US" altLang="zh-CN" dirty="0" err="1">
                <a:solidFill>
                  <a:srgbClr val="FF0000"/>
                </a:solidFill>
              </a:rPr>
              <a:t>xlabel</a:t>
            </a:r>
            <a:r>
              <a:rPr lang="en-US" altLang="zh-CN" dirty="0"/>
              <a:t>/</a:t>
            </a:r>
            <a:r>
              <a:rPr lang="en-US" altLang="zh-CN" dirty="0" err="1">
                <a:solidFill>
                  <a:srgbClr val="FF0000"/>
                </a:solidFill>
              </a:rPr>
              <a:t>ylabel</a:t>
            </a:r>
            <a:r>
              <a:rPr lang="en-US" altLang="zh-CN" dirty="0"/>
              <a:t>/</a:t>
            </a:r>
            <a:r>
              <a:rPr lang="en-US" altLang="zh-CN" dirty="0" err="1">
                <a:solidFill>
                  <a:srgbClr val="FF0000"/>
                </a:solidFill>
              </a:rPr>
              <a:t>zlabel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legend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title</a:t>
            </a:r>
            <a:r>
              <a:rPr lang="en-US" altLang="zh-CN" dirty="0"/>
              <a:t>/text(</a:t>
            </a:r>
            <a:r>
              <a:rPr lang="zh-CN" altLang="en-US" dirty="0"/>
              <a:t>希腊字母转义字符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坐标轴调整：</a:t>
            </a:r>
            <a:r>
              <a:rPr lang="en-US" altLang="zh-CN" dirty="0">
                <a:solidFill>
                  <a:srgbClr val="FF0000"/>
                </a:solidFill>
              </a:rPr>
              <a:t>axis</a:t>
            </a:r>
            <a:r>
              <a:rPr lang="en-US" altLang="zh-CN" dirty="0"/>
              <a:t>/</a:t>
            </a:r>
            <a:r>
              <a:rPr lang="en-US" altLang="zh-CN" dirty="0" err="1">
                <a:solidFill>
                  <a:srgbClr val="FF0000"/>
                </a:solidFill>
              </a:rPr>
              <a:t>xlim</a:t>
            </a:r>
            <a:r>
              <a:rPr lang="en-US" altLang="zh-CN" dirty="0"/>
              <a:t>/</a:t>
            </a:r>
            <a:r>
              <a:rPr lang="en-US" altLang="zh-CN" dirty="0" err="1">
                <a:solidFill>
                  <a:srgbClr val="FF0000"/>
                </a:solidFill>
              </a:rPr>
              <a:t>ylim</a:t>
            </a:r>
            <a:r>
              <a:rPr lang="en-US" altLang="zh-CN" dirty="0"/>
              <a:t>/</a:t>
            </a:r>
            <a:r>
              <a:rPr lang="en-US" altLang="zh-CN" dirty="0" err="1">
                <a:solidFill>
                  <a:srgbClr val="FF0000"/>
                </a:solidFill>
              </a:rPr>
              <a:t>zlim</a:t>
            </a:r>
            <a:r>
              <a:rPr lang="zh-CN" altLang="en-US" dirty="0"/>
              <a:t>、</a:t>
            </a:r>
            <a:r>
              <a:rPr lang="en-US" altLang="zh-CN" dirty="0"/>
              <a:t>grid/box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着色：</a:t>
            </a:r>
            <a:r>
              <a:rPr lang="en-US" altLang="zh-CN" dirty="0"/>
              <a:t>shading </a:t>
            </a:r>
            <a:r>
              <a:rPr lang="en-US" altLang="zh-CN" dirty="0" err="1"/>
              <a:t>interp</a:t>
            </a:r>
            <a:r>
              <a:rPr lang="en-US" altLang="zh-CN" dirty="0"/>
              <a:t>/flat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colormap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colorbar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RGB</a:t>
            </a:r>
            <a:r>
              <a:rPr lang="zh-CN" altLang="en-US" dirty="0">
                <a:solidFill>
                  <a:srgbClr val="FF0000"/>
                </a:solidFill>
              </a:rPr>
              <a:t>三元组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特殊坐标轴：</a:t>
            </a:r>
            <a:r>
              <a:rPr lang="en-US" altLang="zh-CN" dirty="0"/>
              <a:t>polar/</a:t>
            </a:r>
            <a:r>
              <a:rPr lang="en-US" altLang="zh-CN" dirty="0" err="1"/>
              <a:t>semilogx</a:t>
            </a:r>
            <a:r>
              <a:rPr lang="en-US" altLang="zh-CN" dirty="0"/>
              <a:t>/</a:t>
            </a:r>
            <a:r>
              <a:rPr lang="en-US" altLang="zh-CN" dirty="0" err="1"/>
              <a:t>semilogy</a:t>
            </a:r>
            <a:r>
              <a:rPr lang="en-US" altLang="zh-CN" dirty="0"/>
              <a:t>/</a:t>
            </a:r>
            <a:r>
              <a:rPr lang="en-US" altLang="zh-CN" dirty="0" err="1"/>
              <a:t>loglog</a:t>
            </a:r>
            <a:r>
              <a:rPr lang="en-US" altLang="zh-CN" dirty="0"/>
              <a:t>/</a:t>
            </a:r>
            <a:r>
              <a:rPr lang="en-US" altLang="zh-CN" dirty="0" err="1"/>
              <a:t>plotyy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特殊图形：</a:t>
            </a:r>
            <a:r>
              <a:rPr lang="en-US" altLang="zh-CN" dirty="0"/>
              <a:t>bar/pie/</a:t>
            </a:r>
            <a:r>
              <a:rPr lang="en-US" altLang="zh-CN" dirty="0" err="1"/>
              <a:t>hist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00FF"/>
                </a:solidFill>
              </a:rPr>
              <a:t>图像对象操作：</a:t>
            </a:r>
            <a:r>
              <a:rPr lang="zh-CN" altLang="en-US" dirty="0">
                <a:solidFill>
                  <a:srgbClr val="FF0000"/>
                </a:solidFill>
              </a:rPr>
              <a:t>句柄变量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get</a:t>
            </a:r>
            <a:r>
              <a:rPr lang="en-US" altLang="zh-CN" dirty="0"/>
              <a:t>/</a:t>
            </a:r>
            <a:r>
              <a:rPr lang="en-US" altLang="zh-CN" dirty="0">
                <a:solidFill>
                  <a:srgbClr val="FF0000"/>
                </a:solidFill>
              </a:rPr>
              <a:t>set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FF0000"/>
                </a:solidFill>
              </a:rPr>
              <a:t>gcf</a:t>
            </a:r>
            <a:r>
              <a:rPr lang="en-US" altLang="zh-CN" dirty="0"/>
              <a:t>/</a:t>
            </a:r>
            <a:r>
              <a:rPr lang="en-US" altLang="zh-CN" dirty="0" err="1">
                <a:solidFill>
                  <a:srgbClr val="FF0000"/>
                </a:solidFill>
              </a:rPr>
              <a:t>gca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1520" y="44624"/>
            <a:ext cx="6192838" cy="720725"/>
          </a:xfrm>
        </p:spPr>
        <p:txBody>
          <a:bodyPr/>
          <a:lstStyle/>
          <a:p>
            <a:r>
              <a:rPr lang="en-US" altLang="zh-CN" dirty="0"/>
              <a:t>Ch06  MATLAB</a:t>
            </a:r>
            <a:r>
              <a:rPr lang="zh-CN" altLang="en-US" dirty="0"/>
              <a:t>绘图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626" y="4653136"/>
            <a:ext cx="2737186" cy="205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88640"/>
            <a:ext cx="8351838" cy="5760640"/>
          </a:xfrm>
        </p:spPr>
        <p:txBody>
          <a:bodyPr/>
          <a:lstStyle/>
          <a:p>
            <a:r>
              <a:rPr lang="zh-CN" altLang="en-US" dirty="0"/>
              <a:t>二维曲线：</a:t>
            </a:r>
            <a:r>
              <a:rPr lang="en-US" altLang="zh-CN" dirty="0">
                <a:solidFill>
                  <a:srgbClr val="FF0000"/>
                </a:solidFill>
              </a:rPr>
              <a:t> plot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000" dirty="0"/>
              <a:t>曲线形成： 多个数据点连成一条线， </a:t>
            </a:r>
            <a:r>
              <a:rPr lang="en-US" altLang="zh-CN" sz="2000" dirty="0"/>
              <a:t>y = f(x)</a:t>
            </a:r>
            <a:r>
              <a:rPr lang="zh-CN" altLang="en-US" sz="2000" dirty="0"/>
              <a:t>，数学问题求解一般</a:t>
            </a:r>
            <a:r>
              <a:rPr lang="en-US" altLang="zh-CN" sz="2000" dirty="0"/>
              <a:t>x</a:t>
            </a:r>
            <a:r>
              <a:rPr lang="zh-CN" altLang="en-US" sz="2000" dirty="0"/>
              <a:t>是自变量，</a:t>
            </a:r>
            <a:r>
              <a:rPr lang="en-US" altLang="zh-CN" sz="2000" dirty="0"/>
              <a:t>y</a:t>
            </a:r>
            <a:r>
              <a:rPr lang="zh-CN" altLang="en-US" sz="2000" dirty="0"/>
              <a:t>是因变量， 一组</a:t>
            </a:r>
            <a:r>
              <a:rPr lang="en-US" altLang="zh-CN" sz="2000" dirty="0"/>
              <a:t>x</a:t>
            </a:r>
            <a:r>
              <a:rPr lang="zh-CN" altLang="en-US" sz="2000" dirty="0"/>
              <a:t>、</a:t>
            </a:r>
            <a:r>
              <a:rPr lang="en-US" altLang="zh-CN" sz="2000" dirty="0"/>
              <a:t>y</a:t>
            </a:r>
            <a:r>
              <a:rPr lang="zh-CN" altLang="en-US" sz="2000" dirty="0"/>
              <a:t>向量构建一条曲线的数据， 如果是矩阵，</a:t>
            </a:r>
            <a:r>
              <a:rPr lang="en-US" altLang="zh-CN" sz="2000" dirty="0"/>
              <a:t>X</a:t>
            </a:r>
            <a:r>
              <a:rPr lang="zh-CN" altLang="en-US" sz="2000" dirty="0"/>
              <a:t>、</a:t>
            </a:r>
            <a:r>
              <a:rPr lang="en-US" altLang="zh-CN" sz="2000" dirty="0"/>
              <a:t>Y</a:t>
            </a:r>
            <a:r>
              <a:rPr lang="zh-CN" altLang="en-US" sz="2000" dirty="0"/>
              <a:t>同尺寸，每一列对应一条曲线。。。</a:t>
            </a:r>
            <a:endParaRPr lang="en-US" altLang="zh-CN" sz="2000" dirty="0"/>
          </a:p>
          <a:p>
            <a:r>
              <a:rPr lang="zh-CN" altLang="en-US" dirty="0"/>
              <a:t>三维曲线：</a:t>
            </a:r>
            <a:r>
              <a:rPr lang="en-US" altLang="zh-CN" dirty="0">
                <a:solidFill>
                  <a:srgbClr val="FF0000"/>
                </a:solidFill>
              </a:rPr>
              <a:t>plot3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000" dirty="0"/>
              <a:t>曲线形成：</a:t>
            </a:r>
            <a:r>
              <a:rPr lang="en-US" altLang="zh-CN" sz="2000" dirty="0"/>
              <a:t>z = f(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en-US" altLang="zh-CN" sz="2000" dirty="0"/>
              <a:t> x</a:t>
            </a:r>
            <a:r>
              <a:rPr lang="zh-CN" altLang="en-US" sz="2000" dirty="0"/>
              <a:t>，</a:t>
            </a:r>
            <a:r>
              <a:rPr lang="en-US" altLang="zh-CN" sz="2000" dirty="0"/>
              <a:t>y</a:t>
            </a:r>
            <a:r>
              <a:rPr lang="zh-CN" altLang="en-US" sz="2000" dirty="0"/>
              <a:t>是自变量，</a:t>
            </a:r>
            <a:r>
              <a:rPr lang="en-US" altLang="zh-CN" sz="2000" dirty="0"/>
              <a:t>z</a:t>
            </a:r>
            <a:r>
              <a:rPr lang="zh-CN" altLang="en-US" sz="2000" dirty="0"/>
              <a:t>是因变量</a:t>
            </a:r>
            <a:r>
              <a:rPr lang="en-US" altLang="zh-CN" sz="2000" dirty="0"/>
              <a:t>,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多个数据点连成一条线。用法同</a:t>
            </a:r>
            <a:r>
              <a:rPr lang="en-US" altLang="zh-CN" sz="2000" dirty="0"/>
              <a:t>plot</a:t>
            </a:r>
            <a:r>
              <a:rPr lang="zh-CN" altLang="en-US" sz="2000" dirty="0"/>
              <a:t>，只是多了</a:t>
            </a:r>
            <a:r>
              <a:rPr lang="en-US" altLang="zh-CN" sz="2000" dirty="0"/>
              <a:t>z</a:t>
            </a:r>
            <a:r>
              <a:rPr lang="zh-CN" altLang="en-US" sz="2000" dirty="0"/>
              <a:t>坐标</a:t>
            </a:r>
            <a:endParaRPr lang="en-US" altLang="zh-CN" sz="2000" dirty="0"/>
          </a:p>
          <a:p>
            <a:r>
              <a:rPr lang="zh-CN" altLang="en-US" dirty="0"/>
              <a:t>三维曲面：</a:t>
            </a:r>
            <a:r>
              <a:rPr lang="en-US" altLang="zh-CN" dirty="0">
                <a:solidFill>
                  <a:srgbClr val="FF0000"/>
                </a:solidFill>
              </a:rPr>
              <a:t>mesh</a:t>
            </a:r>
            <a:r>
              <a:rPr lang="en-US" altLang="zh-CN" dirty="0"/>
              <a:t>(</a:t>
            </a:r>
            <a:r>
              <a:rPr lang="zh-CN" altLang="en-US" dirty="0"/>
              <a:t>网格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surf</a:t>
            </a:r>
            <a:r>
              <a:rPr lang="en-US" altLang="zh-CN" dirty="0"/>
              <a:t>(</a:t>
            </a:r>
            <a:r>
              <a:rPr lang="zh-CN" altLang="en-US" dirty="0"/>
              <a:t>网格着色</a:t>
            </a:r>
            <a:r>
              <a:rPr lang="en-US" altLang="zh-CN" dirty="0"/>
              <a:t>)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曲面形成：</a:t>
            </a:r>
            <a:r>
              <a:rPr lang="en-US" altLang="zh-CN" sz="2000" dirty="0"/>
              <a:t>z = f(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en-US" altLang="zh-CN" sz="2000" dirty="0"/>
              <a:t> x</a:t>
            </a:r>
            <a:r>
              <a:rPr lang="zh-CN" altLang="en-US" sz="2000" dirty="0"/>
              <a:t>，</a:t>
            </a:r>
            <a:r>
              <a:rPr lang="en-US" altLang="zh-CN" sz="2000" dirty="0"/>
              <a:t>y</a:t>
            </a:r>
            <a:r>
              <a:rPr lang="zh-CN" altLang="en-US" sz="2000" dirty="0"/>
              <a:t>是自变量，</a:t>
            </a:r>
            <a:r>
              <a:rPr lang="en-US" altLang="zh-CN" sz="2000" dirty="0"/>
              <a:t>z</a:t>
            </a:r>
            <a:r>
              <a:rPr lang="zh-CN" altLang="en-US" sz="2000" dirty="0"/>
              <a:t>是因变量</a:t>
            </a:r>
            <a:r>
              <a:rPr lang="en-US" altLang="zh-CN" sz="2000" dirty="0"/>
              <a:t>,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X</a:t>
            </a:r>
            <a:r>
              <a:rPr lang="zh-CN" altLang="en-US" sz="2000" dirty="0"/>
              <a:t>、</a:t>
            </a:r>
            <a:r>
              <a:rPr lang="en-US" altLang="zh-CN" sz="2000" dirty="0"/>
              <a:t>Y</a:t>
            </a:r>
            <a:r>
              <a:rPr lang="zh-CN" altLang="en-US" sz="2000" dirty="0"/>
              <a:t>、</a:t>
            </a:r>
            <a:r>
              <a:rPr lang="en-US" altLang="zh-CN" sz="2000" dirty="0"/>
              <a:t>Z</a:t>
            </a:r>
            <a:r>
              <a:rPr lang="zh-CN" altLang="en-US" sz="2000" dirty="0"/>
              <a:t>矩阵同尺寸， 每一列连成一条线后， 再对矩阵同一行位置的点进行连线， 形成曲面。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曲面着色：</a:t>
            </a:r>
            <a:r>
              <a:rPr lang="en-US" altLang="zh-CN" sz="2000" dirty="0"/>
              <a:t>z</a:t>
            </a:r>
            <a:r>
              <a:rPr lang="zh-CN" altLang="en-US" sz="2000" dirty="0"/>
              <a:t>的取值范围，对应颜色图的范围。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比如 </a:t>
            </a:r>
            <a:r>
              <a:rPr lang="en-US" altLang="zh-CN" sz="2000" dirty="0"/>
              <a:t>z = 65~128;  </a:t>
            </a:r>
            <a:r>
              <a:rPr lang="zh-CN" altLang="en-US" sz="2000" dirty="0"/>
              <a:t>用</a:t>
            </a:r>
            <a:r>
              <a:rPr lang="en-US" altLang="zh-CN" sz="2000" dirty="0" err="1"/>
              <a:t>colormap</a:t>
            </a:r>
            <a:r>
              <a:rPr lang="en-US" altLang="zh-CN" sz="2000" dirty="0"/>
              <a:t> jet </a:t>
            </a:r>
            <a:r>
              <a:rPr lang="zh-CN" altLang="en-US" sz="2000" dirty="0"/>
              <a:t>着色，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系统默认</a:t>
            </a:r>
            <a:r>
              <a:rPr lang="en-US" altLang="zh-CN" sz="2000" dirty="0"/>
              <a:t>jet</a:t>
            </a:r>
            <a:r>
              <a:rPr lang="zh-CN" altLang="en-US" sz="2000" dirty="0"/>
              <a:t>为</a:t>
            </a:r>
            <a:r>
              <a:rPr lang="en-US" altLang="zh-CN" sz="2000" dirty="0"/>
              <a:t>256</a:t>
            </a:r>
            <a:r>
              <a:rPr lang="zh-CN" altLang="en-US" sz="2000" dirty="0"/>
              <a:t>种颜色，也可以</a:t>
            </a:r>
            <a:r>
              <a:rPr lang="en-US" altLang="zh-CN" sz="2000" dirty="0"/>
              <a:t>jet(64)</a:t>
            </a:r>
            <a:r>
              <a:rPr lang="zh-CN" altLang="en-US" sz="2000" dirty="0"/>
              <a:t>生成</a:t>
            </a:r>
            <a:r>
              <a:rPr lang="en-US" altLang="zh-CN" sz="2000" dirty="0"/>
              <a:t>64</a:t>
            </a:r>
            <a:r>
              <a:rPr lang="zh-CN" altLang="en-US" sz="2000"/>
              <a:t>种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/>
              <a:t>z</a:t>
            </a:r>
            <a:r>
              <a:rPr lang="zh-CN" altLang="en-US" sz="2000" dirty="0"/>
              <a:t>的取值范围和色图线性映射：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/>
              <a:t>z=65</a:t>
            </a:r>
            <a:r>
              <a:rPr lang="zh-CN" altLang="en-US" sz="2000" dirty="0"/>
              <a:t>时，取第</a:t>
            </a:r>
            <a:r>
              <a:rPr lang="en-US" altLang="zh-CN" sz="2000" dirty="0"/>
              <a:t>1</a:t>
            </a:r>
            <a:r>
              <a:rPr lang="zh-CN" altLang="en-US" sz="2000" dirty="0"/>
              <a:t>种颜色，</a:t>
            </a:r>
            <a:r>
              <a:rPr lang="en-US" altLang="zh-CN" sz="2000" dirty="0"/>
              <a:t>z = 128</a:t>
            </a:r>
            <a:r>
              <a:rPr lang="zh-CN" altLang="en-US" sz="2000" dirty="0"/>
              <a:t>时，取第</a:t>
            </a:r>
            <a:r>
              <a:rPr lang="en-US" altLang="zh-CN" sz="2000" dirty="0"/>
              <a:t>64</a:t>
            </a:r>
            <a:r>
              <a:rPr lang="zh-CN" altLang="en-US" sz="2000" dirty="0"/>
              <a:t>种颜色</a:t>
            </a:r>
            <a:endParaRPr lang="en-US" altLang="zh-CN" sz="2000" dirty="0"/>
          </a:p>
        </p:txBody>
      </p:sp>
      <p:sp>
        <p:nvSpPr>
          <p:cNvPr id="5" name="矩形 4"/>
          <p:cNvSpPr/>
          <p:nvPr/>
        </p:nvSpPr>
        <p:spPr>
          <a:xfrm>
            <a:off x="6300192" y="2060848"/>
            <a:ext cx="283083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&gt;&gt; z = </a:t>
            </a:r>
            <a:r>
              <a:rPr lang="en-US" altLang="zh-CN" sz="1600" dirty="0" err="1"/>
              <a:t>repmat</a:t>
            </a:r>
            <a:r>
              <a:rPr lang="en-US" altLang="zh-CN" sz="1600" dirty="0"/>
              <a:t>(65:128, 64, 1);</a:t>
            </a:r>
            <a:endParaRPr lang="en-US" altLang="zh-CN" sz="1600" dirty="0"/>
          </a:p>
          <a:p>
            <a:r>
              <a:rPr lang="en-US" altLang="zh-CN" sz="1600" dirty="0"/>
              <a:t>&gt;&gt; mesh(z)</a:t>
            </a:r>
            <a:endParaRPr lang="en-US" altLang="zh-CN" sz="1600" dirty="0"/>
          </a:p>
          <a:p>
            <a:r>
              <a:rPr lang="en-US" altLang="zh-CN" sz="1600" dirty="0"/>
              <a:t>&gt;&gt; </a:t>
            </a:r>
            <a:r>
              <a:rPr lang="en-US" altLang="zh-CN" sz="1600" dirty="0" err="1"/>
              <a:t>colormap</a:t>
            </a:r>
            <a:r>
              <a:rPr lang="en-US" altLang="zh-CN" sz="1600" dirty="0"/>
              <a:t> jet</a:t>
            </a:r>
            <a:endParaRPr lang="en-US" altLang="zh-CN" sz="1600" dirty="0"/>
          </a:p>
          <a:p>
            <a:r>
              <a:rPr lang="en-US" altLang="zh-CN" sz="1600" dirty="0"/>
              <a:t>&gt;&gt; </a:t>
            </a:r>
            <a:r>
              <a:rPr lang="en-US" altLang="zh-CN" sz="1600" dirty="0" err="1"/>
              <a:t>colorbar</a:t>
            </a:r>
            <a:endParaRPr lang="zh-CN" alt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Profile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zzg">
  <a:themeElements>
    <a:clrScheme name="zzg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0000"/>
      </a:hlink>
      <a:folHlink>
        <a:srgbClr val="000000"/>
      </a:folHlink>
    </a:clrScheme>
    <a:fontScheme name="zzg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zz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z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zzg">
  <a:themeElements>
    <a:clrScheme name="zzg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0000"/>
      </a:hlink>
      <a:folHlink>
        <a:srgbClr val="000000"/>
      </a:folHlink>
    </a:clrScheme>
    <a:fontScheme name="zzg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zz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z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zg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CDESIGNJ</Template>
  <TotalTime>0</TotalTime>
  <Words>12487</Words>
  <Application>WPS 演示</Application>
  <PresentationFormat>全屏显示(4:3)</PresentationFormat>
  <Paragraphs>806</Paragraphs>
  <Slides>44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60" baseType="lpstr">
      <vt:lpstr>Arial</vt:lpstr>
      <vt:lpstr>宋体</vt:lpstr>
      <vt:lpstr>Wingdings</vt:lpstr>
      <vt:lpstr>Times New Roman</vt:lpstr>
      <vt:lpstr>Verdana</vt:lpstr>
      <vt:lpstr>黑体</vt:lpstr>
      <vt:lpstr>楷体</vt:lpstr>
      <vt:lpstr>华文楷体</vt:lpstr>
      <vt:lpstr>微软雅黑</vt:lpstr>
      <vt:lpstr>Times New Roman</vt:lpstr>
      <vt:lpstr>Arial Unicode MS</vt:lpstr>
      <vt:lpstr>Calibri</vt:lpstr>
      <vt:lpstr>仿宋</vt:lpstr>
      <vt:lpstr>4_Profile</vt:lpstr>
      <vt:lpstr>2_zzg</vt:lpstr>
      <vt:lpstr>3_zzg</vt:lpstr>
      <vt:lpstr>Ch06  MATLAB绘图</vt:lpstr>
      <vt:lpstr>Ch05  MATLAB编程</vt:lpstr>
      <vt:lpstr>Ch05  MATLAB编程</vt:lpstr>
      <vt:lpstr>Ch06  MATLAB绘图</vt:lpstr>
      <vt:lpstr>绘图一般步骤</vt:lpstr>
      <vt:lpstr>二维绘图 —— 二维曲线</vt:lpstr>
      <vt:lpstr>二维绘图 —— 二维曲线</vt:lpstr>
      <vt:lpstr>二维绘图 —— 二维曲线</vt:lpstr>
      <vt:lpstr>二维绘图 —— 二维曲线</vt:lpstr>
      <vt:lpstr>二维绘图 —— 二维曲线</vt:lpstr>
      <vt:lpstr>二维绘图 —— 二维曲线</vt:lpstr>
      <vt:lpstr>图形标注</vt:lpstr>
      <vt:lpstr>坐标控制</vt:lpstr>
      <vt:lpstr>子图</vt:lpstr>
      <vt:lpstr>二维绘图 —— 极坐标图</vt:lpstr>
      <vt:lpstr>二维绘图 —— 对数图</vt:lpstr>
      <vt:lpstr>二维绘图 —— 双y轴图</vt:lpstr>
      <vt:lpstr>Ch06  MATLAB绘图</vt:lpstr>
      <vt:lpstr>三维绘图 —— 三维曲线 / 三维曲面</vt:lpstr>
      <vt:lpstr>三维绘图 —— 三维曲线 / 三维曲面</vt:lpstr>
      <vt:lpstr>三维绘图 —— 三维曲线 / 三维曲面</vt:lpstr>
      <vt:lpstr>三维绘图 —— 三维曲面</vt:lpstr>
      <vt:lpstr>三维绘图 —— 三维曲面</vt:lpstr>
      <vt:lpstr>三维绘图 —— 三维曲面</vt:lpstr>
      <vt:lpstr>三维绘图 ——色彩处理</vt:lpstr>
      <vt:lpstr>三维绘图 ——色彩处理</vt:lpstr>
      <vt:lpstr>三维绘图 —— 等高图</vt:lpstr>
      <vt:lpstr>Ch06  MATLAB绘图</vt:lpstr>
      <vt:lpstr>特殊图形的绘制 </vt:lpstr>
      <vt:lpstr>特殊图形的绘制 </vt:lpstr>
      <vt:lpstr>特殊图形的绘制 </vt:lpstr>
      <vt:lpstr>Ch06  MATLAB绘图</vt:lpstr>
      <vt:lpstr>MATLAB绘图的体系化结构</vt:lpstr>
      <vt:lpstr>图形句柄</vt:lpstr>
      <vt:lpstr>PowerPoint 演示文稿</vt:lpstr>
      <vt:lpstr>PowerPoint 演示文稿</vt:lpstr>
      <vt:lpstr>图形对象属性的设置和查询</vt:lpstr>
      <vt:lpstr>图形对象属性的设置和查询</vt:lpstr>
      <vt:lpstr>图形对象属性的设置和查询</vt:lpstr>
      <vt:lpstr>图形窗口</vt:lpstr>
      <vt:lpstr>图形窗口</vt:lpstr>
      <vt:lpstr>MATLAB图形窗口</vt:lpstr>
      <vt:lpstr>Ch06  MATLAB绘图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甜甜</cp:lastModifiedBy>
  <cp:revision>3154</cp:revision>
  <dcterms:created xsi:type="dcterms:W3CDTF">2113-01-01T00:00:00Z</dcterms:created>
  <dcterms:modified xsi:type="dcterms:W3CDTF">2025-11-20T09:40:48Z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04F359EB487D4C2AAEEF081BDAF42406_12</vt:lpwstr>
  </property>
  <property fmtid="{D5CDD505-2E9C-101B-9397-08002B2CF9AE}" pid="3" name="KSOProductBuildVer">
    <vt:lpwstr>2052-12.1.0.23542</vt:lpwstr>
  </property>
</Properties>
</file>